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55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291" r:id="rId12"/>
    <p:sldId id="342" r:id="rId13"/>
    <p:sldId id="345" r:id="rId14"/>
    <p:sldId id="349" r:id="rId15"/>
    <p:sldId id="346" r:id="rId16"/>
    <p:sldId id="347" r:id="rId17"/>
    <p:sldId id="288" r:id="rId18"/>
    <p:sldId id="330" r:id="rId19"/>
    <p:sldId id="365" r:id="rId20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n_drain" TargetMode="External"/><Relationship Id="rId2" Type="http://schemas.openxmlformats.org/officeDocument/2006/relationships/hyperlink" Target="https://en.wikipedia.org/wiki/Open_collecto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Resistor" TargetMode="External"/><Relationship Id="rId4" Type="http://schemas.openxmlformats.org/officeDocument/2006/relationships/hyperlink" Target="https://en.wikipedia.org/wiki/Pull-up_resisto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11 - I2C Operations - Discovery</a:t>
            </a:r>
          </a:p>
        </p:txBody>
      </p:sp>
    </p:spTree>
    <p:extLst>
      <p:ext uri="{BB962C8B-B14F-4D97-AF65-F5344CB8AC3E}">
        <p14:creationId xmlns:p14="http://schemas.microsoft.com/office/powerpoint/2010/main" val="288061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11 - I2C Operations - Discovery</a:t>
            </a:r>
          </a:p>
        </p:txBody>
      </p:sp>
    </p:spTree>
    <p:extLst>
      <p:ext uri="{BB962C8B-B14F-4D97-AF65-F5344CB8AC3E}">
        <p14:creationId xmlns:p14="http://schemas.microsoft.com/office/powerpoint/2010/main" val="424352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7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064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77190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17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I2C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04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12160" y="2787774"/>
            <a:ext cx="1440160" cy="8640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786960" y="924222"/>
            <a:ext cx="1440160" cy="8640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491880" y="1788318"/>
            <a:ext cx="1512167" cy="711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076056" y="3363838"/>
            <a:ext cx="792088" cy="486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99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539" y="555526"/>
            <a:ext cx="1634307" cy="139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24" y="3363838"/>
            <a:ext cx="1998590" cy="1252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24" y="1995686"/>
            <a:ext cx="1861121" cy="104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13263"/>
            <a:ext cx="3822998" cy="1563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2774" y="1554113"/>
            <a:ext cx="1571625" cy="1585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403648" y="3363838"/>
            <a:ext cx="250551" cy="144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400473" y="3045073"/>
            <a:ext cx="250551" cy="144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1525748" y="2067694"/>
            <a:ext cx="1678100" cy="1584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37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076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18F46xxQ35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  <a:p>
            <a:pPr marL="778521" lvl="1" indent="-478483"/>
            <a:r>
              <a:rPr lang="en-GB" b="1" dirty="0" smtClean="0"/>
              <a:t>One or more i2C devices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 uses two bidirectional </a:t>
            </a:r>
            <a:r>
              <a:rPr lang="en-GB" dirty="0" smtClean="0">
                <a:hlinkClick r:id="rId2" tooltip="Open collector"/>
              </a:rPr>
              <a:t>open collector</a:t>
            </a:r>
            <a:r>
              <a:rPr lang="en-GB" dirty="0" smtClean="0"/>
              <a:t> or </a:t>
            </a:r>
            <a:r>
              <a:rPr lang="en-GB" dirty="0" smtClean="0">
                <a:hlinkClick r:id="rId3" tooltip="Open drain"/>
              </a:rPr>
              <a:t>open drain</a:t>
            </a:r>
            <a:r>
              <a:rPr lang="en-GB" dirty="0" smtClean="0"/>
              <a:t> lines </a:t>
            </a:r>
            <a:r>
              <a:rPr lang="en-GB" dirty="0" smtClean="0">
                <a:hlinkClick r:id="rId4" tooltip="Pull-up resistor"/>
              </a:rPr>
              <a:t>pulled up</a:t>
            </a:r>
            <a:r>
              <a:rPr lang="en-GB" dirty="0" smtClean="0"/>
              <a:t> with </a:t>
            </a:r>
            <a:r>
              <a:rPr lang="en-GB" dirty="0" smtClean="0">
                <a:hlinkClick r:id="rId5" tooltip="Resistor"/>
              </a:rPr>
              <a:t>resistors</a:t>
            </a:r>
            <a:endParaRPr lang="en-GB" dirty="0" smtClean="0"/>
          </a:p>
          <a:p>
            <a:pPr lvl="1"/>
            <a:r>
              <a:rPr lang="en-GB" dirty="0" smtClean="0"/>
              <a:t>Serial Data Line (SDA) </a:t>
            </a:r>
          </a:p>
          <a:p>
            <a:pPr lvl="1"/>
            <a:r>
              <a:rPr lang="en-GB" dirty="0" smtClean="0"/>
              <a:t>Serial Clock Line (SCL)</a:t>
            </a:r>
          </a:p>
          <a:p>
            <a:endParaRPr lang="en-GB" dirty="0" smtClean="0"/>
          </a:p>
          <a:p>
            <a:r>
              <a:rPr lang="en-GB" dirty="0" smtClean="0"/>
              <a:t>Typical voltages used are +5 V or +3.3 V, although systems with other voltages are permitted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707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I2C Bus Setup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555526"/>
            <a:ext cx="1910822" cy="2160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Connector 15"/>
          <p:cNvCxnSpPr/>
          <p:nvPr/>
        </p:nvCxnSpPr>
        <p:spPr>
          <a:xfrm flipV="1">
            <a:off x="4893568" y="651922"/>
            <a:ext cx="0" cy="43204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900816" y="662206"/>
            <a:ext cx="126529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6158488" y="669826"/>
            <a:ext cx="52144" cy="324953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015488" y="906046"/>
            <a:ext cx="11440" cy="16761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5940152" y="895028"/>
            <a:ext cx="35476" cy="297933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004048" y="895028"/>
            <a:ext cx="9361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28184" y="1903140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CLOCK</a:t>
            </a:r>
          </a:p>
          <a:p>
            <a:pPr algn="ctr"/>
            <a:r>
              <a:rPr lang="en-GB" i="1" dirty="0" smtClean="0"/>
              <a:t>---------</a:t>
            </a:r>
          </a:p>
          <a:p>
            <a:pPr algn="ctr"/>
            <a:r>
              <a:rPr lang="en-GB" i="1" dirty="0" smtClean="0"/>
              <a:t>SCL</a:t>
            </a:r>
            <a:endParaRPr lang="en-GB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5148064" y="2640742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</a:t>
            </a:r>
          </a:p>
          <a:p>
            <a:r>
              <a:rPr lang="en-GB" i="1" dirty="0" smtClean="0"/>
              <a:t>---------</a:t>
            </a:r>
            <a:endParaRPr lang="en-GB" dirty="0" smtClean="0"/>
          </a:p>
          <a:p>
            <a:pPr algn="ctr"/>
            <a:r>
              <a:rPr lang="en-GB" i="1" dirty="0" smtClean="0"/>
              <a:t>SDA</a:t>
            </a:r>
            <a:endParaRPr lang="en-GB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t="12335"/>
          <a:stretch>
            <a:fillRect/>
          </a:stretch>
        </p:blipFill>
        <p:spPr bwMode="auto">
          <a:xfrm>
            <a:off x="827584" y="1997561"/>
            <a:ext cx="2047875" cy="129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" name="TextBox 40"/>
          <p:cNvSpPr txBox="1"/>
          <p:nvPr/>
        </p:nvSpPr>
        <p:spPr>
          <a:xfrm>
            <a:off x="1244352" y="1691987"/>
            <a:ext cx="5402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VCC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280840" y="3024723"/>
            <a:ext cx="16561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123728" y="2848957"/>
            <a:ext cx="0" cy="16306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395413" y="2552095"/>
            <a:ext cx="0" cy="481012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585912" y="2544952"/>
            <a:ext cx="2382" cy="63579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271712" y="2835465"/>
            <a:ext cx="0" cy="34528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259632" y="3175982"/>
            <a:ext cx="1626443" cy="14288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PIC18F46Q35-NHX-Regula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922" y="3723878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5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79512" y="1131590"/>
            <a:ext cx="6048672" cy="792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I2C sequence</a:t>
            </a:r>
            <a:endParaRPr lang="en-GB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3528" y="1275606"/>
            <a:ext cx="5760640" cy="456216"/>
            <a:chOff x="179512" y="2643758"/>
            <a:chExt cx="5760640" cy="456216"/>
          </a:xfrm>
        </p:grpSpPr>
        <p:sp>
          <p:nvSpPr>
            <p:cNvPr id="6" name="Rectangle 5"/>
            <p:cNvSpPr/>
            <p:nvPr/>
          </p:nvSpPr>
          <p:spPr>
            <a:xfrm>
              <a:off x="179512" y="2667926"/>
              <a:ext cx="1224136" cy="4320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i2cStart</a:t>
              </a:r>
              <a:endParaRPr lang="en-GB" sz="16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1680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 Address</a:t>
              </a:r>
              <a:endParaRPr lang="en-GB" sz="16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03848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</a:t>
              </a:r>
            </a:p>
            <a:p>
              <a:pPr algn="ctr"/>
              <a:r>
                <a:rPr lang="en-GB" sz="1600" dirty="0" smtClean="0"/>
                <a:t>Data</a:t>
              </a:r>
              <a:endParaRPr lang="en-GB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716016" y="2643758"/>
              <a:ext cx="1224136" cy="43204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i2cStop</a:t>
              </a:r>
              <a:endParaRPr lang="en-GB" sz="16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971600" y="1995686"/>
            <a:ext cx="5040560" cy="3096344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Start </a:t>
            </a: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high-to-low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beginning of communication.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(Address):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the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address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slave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device including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the Read/Write bit.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Slave responds with an Acknowledgment (ACK) bit.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(Data):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or receives data bytes.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byte is followed by an Acknowledgment (ACK) from the receiver.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Stop 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low-to-high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end of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7513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699542"/>
            <a:ext cx="4953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059582"/>
            <a:ext cx="4169073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2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Examine the sample code</a:t>
            </a:r>
          </a:p>
          <a:p>
            <a:pPr lvl="1"/>
            <a:r>
              <a:rPr lang="en-GB" dirty="0" smtClean="0"/>
              <a:t>Hardware I2c</a:t>
            </a:r>
          </a:p>
          <a:p>
            <a:pPr lvl="2"/>
            <a:r>
              <a:rPr lang="en-GB" dirty="0" smtClean="0"/>
              <a:t>Using PPS select the I</a:t>
            </a:r>
            <a:r>
              <a:rPr lang="en-GB" baseline="30000" dirty="0" smtClean="0"/>
              <a:t>2</a:t>
            </a:r>
            <a:r>
              <a:rPr lang="en-GB" dirty="0" smtClean="0"/>
              <a:t>C ports</a:t>
            </a:r>
          </a:p>
          <a:p>
            <a:pPr lvl="2"/>
            <a:r>
              <a:rPr lang="en-GB" dirty="0" smtClean="0"/>
              <a:t>Using PPS select the serial USART port</a:t>
            </a:r>
          </a:p>
          <a:p>
            <a:pPr lvl="2"/>
            <a:r>
              <a:rPr lang="en-GB" dirty="0" smtClean="0"/>
              <a:t>Set up the I</a:t>
            </a:r>
            <a:r>
              <a:rPr lang="en-GB" baseline="30000" dirty="0" smtClean="0"/>
              <a:t>2</a:t>
            </a:r>
            <a:r>
              <a:rPr lang="en-GB" dirty="0" smtClean="0"/>
              <a:t>C  parameters</a:t>
            </a:r>
          </a:p>
          <a:p>
            <a:pPr lvl="2"/>
            <a:r>
              <a:rPr lang="en-GB" dirty="0" smtClean="0"/>
              <a:t>Review demonstration(s) and see the results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422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987574"/>
            <a:ext cx="6447501" cy="4111476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timer0:  16bit timer, 8bit timer and overflow 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 err="1" smtClean="0"/>
              <a:t>EEProm</a:t>
            </a:r>
            <a:r>
              <a:rPr lang="en-GB" sz="1100" dirty="0" smtClean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PWM, many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storage within the chip – </a:t>
            </a:r>
            <a:r>
              <a:rPr lang="en-GB" sz="1100" dirty="0" err="1" smtClean="0"/>
              <a:t>Progmem</a:t>
            </a:r>
            <a:r>
              <a:rPr lang="en-GB" sz="1100" dirty="0" smtClean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Font typeface="Wingdings 3" charset="2"/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03487" y="1083320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23928" y="257175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11 - I2C Operations - Discovery</a:t>
            </a:r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3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5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174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14791</TotalTime>
  <Words>902</Words>
  <Application>Microsoft Office PowerPoint</Application>
  <PresentationFormat>On-screen Show (16:9)</PresentationFormat>
  <Paragraphs>159</Paragraphs>
  <Slides>19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VDDIO2 Domain Power</vt:lpstr>
      <vt:lpstr>Prerequisites </vt:lpstr>
      <vt:lpstr>I2C</vt:lpstr>
      <vt:lpstr>I2C Bus Setup</vt:lpstr>
      <vt:lpstr>I2C sequence</vt:lpstr>
      <vt:lpstr>I2C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764</cp:revision>
  <dcterms:created xsi:type="dcterms:W3CDTF">2019-01-08T20:03:06Z</dcterms:created>
  <dcterms:modified xsi:type="dcterms:W3CDTF">2026-08-14T09:19:50Z</dcterms:modified>
</cp:coreProperties>
</file>