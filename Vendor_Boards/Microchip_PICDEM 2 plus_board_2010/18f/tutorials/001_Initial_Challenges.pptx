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7" r:id="rId1"/>
  </p:sldMasterIdLst>
  <p:handoutMasterIdLst>
    <p:handoutMasterId r:id="rId13"/>
  </p:handout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0" d="100"/>
          <a:sy n="100" d="100"/>
        </p:scale>
        <p:origin x="-360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FC15A-1777-44CB-8C54-1AF0255F236D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0EA99-5026-4F52-984A-1DCB69C98D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02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6534150" cy="381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26156" y="1874815"/>
            <a:ext cx="4457147" cy="1826581"/>
          </a:xfrm>
        </p:spPr>
        <p:txBody>
          <a:bodyPr anchor="b">
            <a:normAutofit/>
          </a:bodyPr>
          <a:lstStyle>
            <a:lvl1pPr algn="l">
              <a:defRPr sz="54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526156" y="3701396"/>
            <a:ext cx="445714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66070" y="211894"/>
            <a:ext cx="2236945" cy="431718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764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177552"/>
            <a:ext cx="7650914" cy="58715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82473"/>
            <a:ext cx="8596668" cy="36588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76" y="-8467"/>
            <a:ext cx="12279106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0659" y="2404534"/>
            <a:ext cx="549960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0658" y="4050833"/>
            <a:ext cx="549960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AutoShape 2" descr="PIC16F17556 | Microchip Technology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8" name="Picture 4" descr="PIC16F17556 | Microchip Technology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69" y="5679742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16F19175 | Microchip Technology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417" y="5656930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0657" y="2404534"/>
            <a:ext cx="8179612" cy="164630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0656" y="4050833"/>
            <a:ext cx="8179612" cy="1096899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85379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66526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862" y="660400"/>
            <a:ext cx="4513541" cy="538096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942622"/>
            <a:ext cx="8596668" cy="38579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7203292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1245704"/>
            <a:ext cx="1304743" cy="4615346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16F175xx </a:t>
            </a:r>
            <a:r>
              <a:rPr lang="en-GB" dirty="0" smtClean="0"/>
              <a:t>CHIPFAMILY</a:t>
            </a:r>
          </a:p>
          <a:p>
            <a:endParaRPr lang="en-GB" dirty="0"/>
          </a:p>
          <a:p>
            <a:r>
              <a:rPr lang="en-GB" dirty="0" smtClean="0"/>
              <a:t>Getting Started and </a:t>
            </a:r>
            <a:r>
              <a:rPr lang="en-GB" smtClean="0"/>
              <a:t>Hello World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5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GCBASIC </a:t>
            </a:r>
            <a:r>
              <a:rPr lang="en-GB" dirty="0"/>
              <a:t/>
            </a:r>
            <a:br>
              <a:rPr lang="en-GB" dirty="0"/>
            </a:br>
            <a:r>
              <a:rPr lang="en-GB" sz="3600" dirty="0" smtClean="0"/>
              <a:t>16F175xx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November 2025  release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9955213" y="211138"/>
            <a:ext cx="2236787" cy="431800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202453" y="4953362"/>
            <a:ext cx="1029510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New chip family – the initial challenges</a:t>
            </a:r>
          </a:p>
        </p:txBody>
      </p:sp>
    </p:spTree>
    <p:extLst>
      <p:ext uri="{BB962C8B-B14F-4D97-AF65-F5344CB8AC3E}">
        <p14:creationId xmlns:p14="http://schemas.microsoft.com/office/powerpoint/2010/main" val="153710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177552"/>
            <a:ext cx="3600400" cy="58715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3391" y="918732"/>
            <a:ext cx="8352929" cy="5606612"/>
          </a:xfrm>
          <a:prstGeom prst="rect">
            <a:avLst/>
          </a:prstGeom>
          <a:solidFill>
            <a:schemeClr val="bg1"/>
          </a:solidFill>
        </p:spPr>
        <p:txBody>
          <a:bodyPr vert="horz" lIns="113416" tIns="56707" rIns="113416" bIns="56707" rtlCol="0">
            <a:noAutofit/>
          </a:bodyPr>
          <a:lstStyle>
            <a:lvl1pPr marL="318988" indent="-318988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1142" indent="-265824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329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8614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3932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250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64568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89887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520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7961" indent="-637961">
              <a:buFont typeface="+mj-lt"/>
              <a:buAutoNum type="arabicPeriod"/>
            </a:pPr>
            <a:r>
              <a:rPr lang="en-GB" sz="1500" dirty="0"/>
              <a:t>Install the hardware and make the board work – three LED programs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Make  four LEDs flash in a sequence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Set the LEDs to represent the value of ADC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Sequence the LEDs with a delay using the value of ADC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input to set the state of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reset switch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switch, ADC – make the LEDs flash in a sequence with reverse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serial to display values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timer0 overflow, 8bit timer, 16bit timer to flash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</a:t>
            </a:r>
            <a:r>
              <a:rPr lang="en-GB" sz="1500" dirty="0" err="1"/>
              <a:t>EEProm</a:t>
            </a:r>
            <a:r>
              <a:rPr lang="en-GB" sz="1500" dirty="0"/>
              <a:t> – showing values on the serial terminal, and more constants insights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I2C with serial to discover I2C devices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I2C GCLD display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 SPI GCLD display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PWM, 7  ways,  to dim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external interrupt to control an LED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storage within the chip – </a:t>
            </a:r>
            <a:r>
              <a:rPr lang="en-GB" sz="1500" dirty="0" err="1"/>
              <a:t>Progmem</a:t>
            </a:r>
            <a:r>
              <a:rPr lang="en-GB" sz="1500" dirty="0"/>
              <a:t>, SAF memory, EEPROM and DATA blocks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CLC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The GCBASIC tool chain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Assembly , alternatives assemblers and MPLAB-X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Summary</a:t>
            </a:r>
          </a:p>
          <a:p>
            <a:pPr marL="637961" indent="-637961">
              <a:buFont typeface="+mj-lt"/>
              <a:buAutoNum type="arabicPeriod"/>
            </a:pP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  <a:p>
            <a:pPr marL="637961" indent="-637961">
              <a:buNone/>
            </a:pPr>
            <a:endParaRPr lang="en-GB" sz="1500" dirty="0"/>
          </a:p>
          <a:p>
            <a:pPr marL="637961" indent="-637961">
              <a:buFont typeface="+mj-lt"/>
              <a:buAutoNum type="arabicPeriod"/>
            </a:pPr>
            <a:endParaRPr lang="en-GB" sz="15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261798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47600" y="2276877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500" dirty="0"/>
              <a:t>GCBASIC </a:t>
            </a:r>
            <a:r>
              <a:rPr lang="en-GB" sz="2000" dirty="0"/>
              <a:t>Compiler</a:t>
            </a:r>
            <a:endParaRPr lang="en-GB" sz="15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863752" y="4149080"/>
            <a:ext cx="5280587" cy="2053514"/>
          </a:xfrm>
          <a:prstGeom prst="rect">
            <a:avLst/>
          </a:prstGeom>
          <a:noFill/>
        </p:spPr>
        <p:txBody>
          <a:bodyPr wrap="square" lIns="113416" tIns="56707" rIns="113416" bIns="56707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87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0338" y="1058992"/>
            <a:ext cx="11930318" cy="4962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lowchart: Process 43"/>
          <p:cNvSpPr/>
          <p:nvPr/>
        </p:nvSpPr>
        <p:spPr>
          <a:xfrm>
            <a:off x="2735627" y="2881584"/>
            <a:ext cx="8640960" cy="1536171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43340" y="2881584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GCBASIC </a:t>
            </a:r>
            <a:r>
              <a:rPr lang="en-GB" sz="2100" dirty="0"/>
              <a:t>Compiler</a:t>
            </a:r>
            <a:endParaRPr lang="en-GB" sz="1600" dirty="0"/>
          </a:p>
        </p:txBody>
      </p:sp>
      <p:sp>
        <p:nvSpPr>
          <p:cNvPr id="15" name="Flowchart: Document 14"/>
          <p:cNvSpPr/>
          <p:nvPr/>
        </p:nvSpPr>
        <p:spPr>
          <a:xfrm>
            <a:off x="3268153" y="1729456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Source Code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3028127" y="3265627"/>
            <a:ext cx="2016224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err="1"/>
              <a:t>Preprocessor</a:t>
            </a:r>
            <a:endParaRPr lang="en-GB" sz="2100" dirty="0"/>
          </a:p>
        </p:txBody>
      </p:sp>
      <p:sp>
        <p:nvSpPr>
          <p:cNvPr id="17" name="Flowchart: Document 16"/>
          <p:cNvSpPr/>
          <p:nvPr/>
        </p:nvSpPr>
        <p:spPr>
          <a:xfrm>
            <a:off x="3268153" y="4801797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Libraries</a:t>
            </a:r>
          </a:p>
        </p:txBody>
      </p:sp>
      <p:sp>
        <p:nvSpPr>
          <p:cNvPr id="18" name="Flowchart: Process 17"/>
          <p:cNvSpPr/>
          <p:nvPr/>
        </p:nvSpPr>
        <p:spPr>
          <a:xfrm>
            <a:off x="5327915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Code Translator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7248128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Assembler</a:t>
            </a:r>
          </a:p>
        </p:txBody>
      </p:sp>
      <p:sp>
        <p:nvSpPr>
          <p:cNvPr id="20" name="Flowchart: Process 19"/>
          <p:cNvSpPr/>
          <p:nvPr/>
        </p:nvSpPr>
        <p:spPr>
          <a:xfrm>
            <a:off x="9264352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4909" y="1227012"/>
            <a:ext cx="2582047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High Level Language</a:t>
            </a:r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6960096" y="3649669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8880309" y="3649669"/>
            <a:ext cx="3840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36239" y="2626090"/>
            <a:ext cx="0" cy="6395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036239" y="4033712"/>
            <a:ext cx="0" cy="768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5044351" y="3649669"/>
            <a:ext cx="2835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8208235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Assembly Language</a:t>
            </a:r>
          </a:p>
          <a:p>
            <a:pPr algn="ctr"/>
            <a:r>
              <a:rPr lang="en-GB" sz="2100" dirty="0"/>
              <a:t>ASM file</a:t>
            </a:r>
          </a:p>
          <a:p>
            <a:pPr algn="ctr"/>
            <a:endParaRPr lang="en-GB" sz="2100" dirty="0"/>
          </a:p>
        </p:txBody>
      </p:sp>
      <p:sp>
        <p:nvSpPr>
          <p:cNvPr id="38" name="Flowchart: Document 37"/>
          <p:cNvSpPr/>
          <p:nvPr/>
        </p:nvSpPr>
        <p:spPr>
          <a:xfrm>
            <a:off x="10224459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Absolute Machine Code</a:t>
            </a:r>
          </a:p>
          <a:p>
            <a:pPr algn="ctr"/>
            <a:r>
              <a:rPr lang="en-GB" sz="2100" dirty="0"/>
              <a:t>HEX file</a:t>
            </a:r>
          </a:p>
          <a:p>
            <a:pPr algn="ctr"/>
            <a:endParaRPr lang="en-GB" sz="21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8880310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10896534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23398" y="6213310"/>
            <a:ext cx="3763653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8 bit PIC, AVR, AVR-DX and LGT</a:t>
            </a: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7344139" y="1124744"/>
            <a:ext cx="1728192" cy="960107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Reports:</a:t>
            </a:r>
          </a:p>
          <a:p>
            <a:pPr algn="ctr"/>
            <a:r>
              <a:rPr lang="en-GB" sz="2100" dirty="0"/>
              <a:t>TXT and HTML</a:t>
            </a:r>
          </a:p>
          <a:p>
            <a:pPr algn="ctr"/>
            <a:endParaRPr lang="en-GB" sz="21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8400256" y="1988840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11383" y="2598613"/>
            <a:ext cx="2045362" cy="400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121917" tIns="60958" rIns="121917" bIns="60958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48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0338" y="1058992"/>
            <a:ext cx="11930318" cy="4962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lowchart: Process 43"/>
          <p:cNvSpPr/>
          <p:nvPr/>
        </p:nvSpPr>
        <p:spPr>
          <a:xfrm>
            <a:off x="2735627" y="2881584"/>
            <a:ext cx="8640960" cy="1536171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43340" y="2881584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GCBASIC </a:t>
            </a:r>
            <a:r>
              <a:rPr lang="en-GB" sz="2100" dirty="0"/>
              <a:t>Compiler</a:t>
            </a:r>
            <a:endParaRPr lang="en-GB" sz="1600" dirty="0"/>
          </a:p>
        </p:txBody>
      </p:sp>
      <p:sp>
        <p:nvSpPr>
          <p:cNvPr id="15" name="Flowchart: Document 14"/>
          <p:cNvSpPr/>
          <p:nvPr/>
        </p:nvSpPr>
        <p:spPr>
          <a:xfrm>
            <a:off x="3508180" y="1673284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Source Code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3028127" y="3265627"/>
            <a:ext cx="2016224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err="1"/>
              <a:t>Preprocessor</a:t>
            </a:r>
            <a:endParaRPr lang="en-GB" sz="2100" dirty="0"/>
          </a:p>
        </p:txBody>
      </p:sp>
      <p:sp>
        <p:nvSpPr>
          <p:cNvPr id="17" name="Flowchart: Document 16"/>
          <p:cNvSpPr/>
          <p:nvPr/>
        </p:nvSpPr>
        <p:spPr>
          <a:xfrm>
            <a:off x="4127781" y="4801797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Libraries</a:t>
            </a:r>
          </a:p>
        </p:txBody>
      </p:sp>
      <p:sp>
        <p:nvSpPr>
          <p:cNvPr id="18" name="Flowchart: Process 17"/>
          <p:cNvSpPr/>
          <p:nvPr/>
        </p:nvSpPr>
        <p:spPr>
          <a:xfrm>
            <a:off x="5327915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Code Translator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7248128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Assembler</a:t>
            </a:r>
          </a:p>
        </p:txBody>
      </p:sp>
      <p:sp>
        <p:nvSpPr>
          <p:cNvPr id="20" name="Flowchart: Process 19"/>
          <p:cNvSpPr/>
          <p:nvPr/>
        </p:nvSpPr>
        <p:spPr>
          <a:xfrm>
            <a:off x="9264352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4909" y="1227012"/>
            <a:ext cx="2582047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High Level Language</a:t>
            </a:r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6960096" y="3649669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8880309" y="3649669"/>
            <a:ext cx="3840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152518" y="2598613"/>
            <a:ext cx="0" cy="6978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036238" y="4033713"/>
            <a:ext cx="1" cy="576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5044351" y="3649669"/>
            <a:ext cx="2835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8208235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Assembly Language</a:t>
            </a:r>
          </a:p>
          <a:p>
            <a:pPr algn="ctr"/>
            <a:r>
              <a:rPr lang="en-GB" sz="2100" dirty="0"/>
              <a:t>ASM file</a:t>
            </a:r>
          </a:p>
          <a:p>
            <a:pPr algn="ctr"/>
            <a:endParaRPr lang="en-GB" sz="2100" dirty="0"/>
          </a:p>
        </p:txBody>
      </p:sp>
      <p:sp>
        <p:nvSpPr>
          <p:cNvPr id="38" name="Flowchart: Document 37"/>
          <p:cNvSpPr/>
          <p:nvPr/>
        </p:nvSpPr>
        <p:spPr>
          <a:xfrm>
            <a:off x="10224459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Absolute Machine Code</a:t>
            </a:r>
          </a:p>
          <a:p>
            <a:pPr algn="ctr"/>
            <a:r>
              <a:rPr lang="en-GB" sz="2100" dirty="0"/>
              <a:t>HEX file</a:t>
            </a:r>
          </a:p>
          <a:p>
            <a:pPr algn="ctr"/>
            <a:endParaRPr lang="en-GB" sz="21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8880310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10896534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23398" y="6213310"/>
            <a:ext cx="3763653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8 bit PIC, AVR, AVR-DX and LGT</a:t>
            </a: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7344139" y="1124744"/>
            <a:ext cx="1728192" cy="960107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Reports:</a:t>
            </a:r>
          </a:p>
          <a:p>
            <a:pPr algn="ctr"/>
            <a:r>
              <a:rPr lang="en-GB" sz="2100" dirty="0"/>
              <a:t>TXT and HTML</a:t>
            </a:r>
          </a:p>
          <a:p>
            <a:pPr algn="ctr"/>
            <a:endParaRPr lang="en-GB" sz="21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8400256" y="1988840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11383" y="2598613"/>
            <a:ext cx="2045362" cy="400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121917" tIns="60958" rIns="121917" bIns="60958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Flowchart: Document 25"/>
          <p:cNvSpPr/>
          <p:nvPr/>
        </p:nvSpPr>
        <p:spPr>
          <a:xfrm>
            <a:off x="2203100" y="4801797"/>
            <a:ext cx="1752195" cy="960107"/>
          </a:xfrm>
          <a:prstGeom prst="flowChartDocumen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smtClean="0"/>
              <a:t>Chip Specific DAT file</a:t>
            </a:r>
            <a:endParaRPr lang="en-GB" sz="2100" dirty="0"/>
          </a:p>
        </p:txBody>
      </p:sp>
      <p:cxnSp>
        <p:nvCxnSpPr>
          <p:cNvPr id="7" name="Straight Connector 6"/>
          <p:cNvCxnSpPr>
            <a:stCxn id="26" idx="0"/>
          </p:cNvCxnSpPr>
          <p:nvPr/>
        </p:nvCxnSpPr>
        <p:spPr>
          <a:xfrm flipV="1">
            <a:off x="3079198" y="4609776"/>
            <a:ext cx="957040" cy="19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7" idx="0"/>
          </p:cNvCxnSpPr>
          <p:nvPr/>
        </p:nvCxnSpPr>
        <p:spPr>
          <a:xfrm flipH="1" flipV="1">
            <a:off x="4045932" y="4609776"/>
            <a:ext cx="849935" cy="19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2711624" y="2084851"/>
            <a:ext cx="799201" cy="18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ocument 38"/>
          <p:cNvSpPr/>
          <p:nvPr/>
        </p:nvSpPr>
        <p:spPr>
          <a:xfrm>
            <a:off x="1559496" y="1716079"/>
            <a:ext cx="1752195" cy="960107"/>
          </a:xfrm>
          <a:prstGeom prst="flowChartDocumen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Chip Specific Constraints</a:t>
            </a:r>
          </a:p>
        </p:txBody>
      </p:sp>
    </p:spTree>
    <p:extLst>
      <p:ext uri="{BB962C8B-B14F-4D97-AF65-F5344CB8AC3E}">
        <p14:creationId xmlns:p14="http://schemas.microsoft.com/office/powerpoint/2010/main" val="94494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GCBASIC prototype board</a:t>
            </a:r>
          </a:p>
          <a:p>
            <a:pPr lvl="1"/>
            <a:r>
              <a:rPr lang="en-GB" dirty="0" smtClean="0"/>
              <a:t>14, 18, 28, 40 and 44 pin devices</a:t>
            </a:r>
          </a:p>
          <a:p>
            <a:pPr lvl="1"/>
            <a:r>
              <a:rPr lang="en-GB" dirty="0" smtClean="0"/>
              <a:t>LEDs</a:t>
            </a:r>
          </a:p>
          <a:p>
            <a:pPr lvl="1"/>
            <a:r>
              <a:rPr lang="en-GB" dirty="0" smtClean="0"/>
              <a:t>Switches</a:t>
            </a:r>
          </a:p>
          <a:p>
            <a:pPr lvl="1"/>
            <a:r>
              <a:rPr lang="en-GB" dirty="0" smtClean="0"/>
              <a:t>POTs</a:t>
            </a:r>
          </a:p>
          <a:p>
            <a:pPr lvl="1"/>
            <a:r>
              <a:rPr lang="en-GB" dirty="0" smtClean="0"/>
              <a:t>Connections</a:t>
            </a:r>
          </a:p>
          <a:p>
            <a:pPr lvl="2"/>
            <a:r>
              <a:rPr lang="en-GB" dirty="0" smtClean="0"/>
              <a:t>USB, GLCD, LCD</a:t>
            </a:r>
          </a:p>
          <a:p>
            <a:pPr lvl="2"/>
            <a:r>
              <a:rPr lang="en-GB" dirty="0" smtClean="0"/>
              <a:t>Sensors</a:t>
            </a:r>
          </a:p>
          <a:p>
            <a:r>
              <a:rPr lang="en-GB" dirty="0" smtClean="0"/>
              <a:t>PICKit2 using </a:t>
            </a:r>
            <a:r>
              <a:rPr lang="en-GB" dirty="0" err="1" smtClean="0"/>
              <a:t>PICKitPlus</a:t>
            </a:r>
            <a:endParaRPr lang="en-GB" dirty="0" smtClean="0"/>
          </a:p>
          <a:p>
            <a:r>
              <a:rPr lang="en-GB" dirty="0" smtClean="0"/>
              <a:t>External power supply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94891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Try to get an LED to flash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81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Summary findings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Just works out of the box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502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GCBASIC </a:t>
            </a:r>
            <a:r>
              <a:rPr lang="en-GB" dirty="0"/>
              <a:t/>
            </a:r>
            <a:br>
              <a:rPr lang="en-GB" dirty="0"/>
            </a:br>
            <a:r>
              <a:rPr lang="en-GB" sz="3600" dirty="0" smtClean="0"/>
              <a:t>16F175xx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November 2025  release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9955213" y="211138"/>
            <a:ext cx="2236787" cy="431800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570802" y="1341517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1464" y="4867491"/>
            <a:ext cx="1029510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New chip family – getting the basics operating</a:t>
            </a:r>
          </a:p>
        </p:txBody>
      </p:sp>
    </p:spTree>
    <p:extLst>
      <p:ext uri="{BB962C8B-B14F-4D97-AF65-F5344CB8AC3E}">
        <p14:creationId xmlns:p14="http://schemas.microsoft.com/office/powerpoint/2010/main" val="6705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OneDrive\Desktop\SPDIP28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43"/>
          <a:stretch/>
        </p:blipFill>
        <p:spPr bwMode="auto">
          <a:xfrm>
            <a:off x="2351584" y="1124744"/>
            <a:ext cx="5842022" cy="4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2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GCstudioThemeLight</Template>
  <TotalTime>2838</TotalTime>
  <Words>374</Words>
  <Application>Microsoft Office PowerPoint</Application>
  <PresentationFormat>Custom</PresentationFormat>
  <Paragraphs>97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GCstudioThemeLight</vt:lpstr>
      <vt:lpstr>GCBASIC</vt:lpstr>
      <vt:lpstr>GCBASIC  16F175xx</vt:lpstr>
      <vt:lpstr>Videos...</vt:lpstr>
      <vt:lpstr>GCBASIC Compiler</vt:lpstr>
      <vt:lpstr>The core compiler</vt:lpstr>
      <vt:lpstr>The core compiler</vt:lpstr>
      <vt:lpstr>Hardware</vt:lpstr>
      <vt:lpstr>LAB</vt:lpstr>
      <vt:lpstr>Summary findings</vt:lpstr>
      <vt:lpstr>GCBASIC  16F175xx</vt:lpstr>
      <vt:lpstr>PowerPoint Presentation</vt:lpstr>
    </vt:vector>
  </TitlesOfParts>
  <Company>ABA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AVRDx Support</dc:title>
  <dc:creator>admin</dc:creator>
  <cp:lastModifiedBy>admin</cp:lastModifiedBy>
  <cp:revision>30</cp:revision>
  <dcterms:created xsi:type="dcterms:W3CDTF">2024-08-11T08:11:38Z</dcterms:created>
  <dcterms:modified xsi:type="dcterms:W3CDTF">2026-08-04T16:01:41Z</dcterms:modified>
</cp:coreProperties>
</file>