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336" r:id="rId2"/>
    <p:sldId id="348" r:id="rId3"/>
    <p:sldId id="337" r:id="rId4"/>
    <p:sldId id="338" r:id="rId5"/>
    <p:sldId id="339" r:id="rId6"/>
    <p:sldId id="340" r:id="rId7"/>
    <p:sldId id="341" r:id="rId8"/>
    <p:sldId id="342" r:id="rId9"/>
    <p:sldId id="343" r:id="rId10"/>
    <p:sldId id="344" r:id="rId11"/>
    <p:sldId id="347" r:id="rId12"/>
    <p:sldId id="331" r:id="rId13"/>
    <p:sldId id="334" r:id="rId14"/>
    <p:sldId id="335" r:id="rId15"/>
    <p:sldId id="288" r:id="rId16"/>
    <p:sldId id="330" r:id="rId17"/>
    <p:sldId id="345" r:id="rId18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>
      <p:cViewPr varScale="1">
        <p:scale>
          <a:sx n="164" d="100"/>
          <a:sy n="164" d="100"/>
        </p:scale>
        <p:origin x="-120" y="-21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11/08/2026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GB" sz="1400" dirty="0" smtClean="0"/>
              <a:t>PIC18FxxQ35chip Family</a:t>
            </a:r>
          </a:p>
          <a:p>
            <a:r>
              <a:rPr lang="en-GB" sz="1400" dirty="0" smtClean="0"/>
              <a:t>Part </a:t>
            </a:r>
            <a:r>
              <a:rPr lang="en-GB" sz="1400" dirty="0" smtClean="0"/>
              <a:t>8 - BONUS </a:t>
            </a:r>
            <a:r>
              <a:rPr lang="en-GB" sz="1400" dirty="0"/>
              <a:t>– Show </a:t>
            </a:r>
            <a:r>
              <a:rPr lang="en-GB" sz="1400" dirty="0" smtClean="0"/>
              <a:t>Data on LCD</a:t>
            </a:r>
            <a:endParaRPr lang="en-GB" sz="1400" dirty="0"/>
          </a:p>
        </p:txBody>
      </p:sp>
      <p:sp>
        <p:nvSpPr>
          <p:cNvPr id="2" name="TextBox 1"/>
          <p:cNvSpPr txBox="1"/>
          <p:nvPr/>
        </p:nvSpPr>
        <p:spPr>
          <a:xfrm rot="20345750">
            <a:off x="2195736" y="1347614"/>
            <a:ext cx="514275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500" b="1" dirty="0" smtClean="0">
                <a:solidFill>
                  <a:srgbClr val="FF0000"/>
                </a:solidFill>
              </a:rPr>
              <a:t>BONUS</a:t>
            </a:r>
            <a:endParaRPr lang="en-GB" sz="115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551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GB" sz="1400" dirty="0" smtClean="0"/>
              <a:t>PIC18FxxQ35chip Family</a:t>
            </a:r>
          </a:p>
          <a:p>
            <a:r>
              <a:rPr lang="en-GB" sz="1400" dirty="0" smtClean="0"/>
              <a:t>Part </a:t>
            </a:r>
            <a:r>
              <a:rPr lang="en-GB" sz="1400" dirty="0" smtClean="0"/>
              <a:t>8 - BONUS </a:t>
            </a:r>
            <a:r>
              <a:rPr lang="en-GB" sz="1400" dirty="0"/>
              <a:t>– Show </a:t>
            </a:r>
            <a:r>
              <a:rPr lang="en-GB" sz="1400" dirty="0" smtClean="0"/>
              <a:t>Data on LCD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594016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3995936" y="329183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PIC18FxxQ35chip Family</a:t>
            </a:r>
          </a:p>
          <a:p>
            <a:r>
              <a:rPr lang="en-GB" dirty="0"/>
              <a:t>Part 8 - BONUS – Show Data on LCD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832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141" y="79363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subscribe!</a:t>
            </a:r>
          </a:p>
        </p:txBody>
      </p:sp>
      <p:pic>
        <p:nvPicPr>
          <p:cNvPr id="2050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PIC18F46Q35-S2X-Regular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6" descr="PIC18F46Q35-S2X-Regular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56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742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PIC18FxxQ35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PIC18FxxQ35  is a high performance PIC18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PIC18FxxQ35 offers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9674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</a:t>
            </a:r>
            <a:r>
              <a:rPr lang="en-GB" sz="1100" dirty="0" smtClean="0"/>
              <a:t>– make LEDs work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</a:t>
            </a:r>
            <a:r>
              <a:rPr lang="en-GB" sz="1100" dirty="0" err="1"/>
              <a:t>EEProm</a:t>
            </a:r>
            <a:r>
              <a:rPr lang="en-GB" sz="1100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</a:t>
            </a:r>
            <a:r>
              <a:rPr lang="en-GB" sz="1100" dirty="0" err="1"/>
              <a:t>Progmem</a:t>
            </a:r>
            <a:r>
              <a:rPr lang="en-GB" sz="1100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  <p:sp>
        <p:nvSpPr>
          <p:cNvPr id="4" name="Rectangle 3"/>
          <p:cNvSpPr/>
          <p:nvPr/>
        </p:nvSpPr>
        <p:spPr>
          <a:xfrm>
            <a:off x="2411760" y="2427734"/>
            <a:ext cx="3334311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GB" sz="2000" b="1" dirty="0" smtClean="0">
                <a:solidFill>
                  <a:srgbClr val="FF0000"/>
                </a:solidFill>
              </a:rPr>
              <a:t>BONUS </a:t>
            </a:r>
            <a:r>
              <a:rPr lang="en-GB" sz="2000" b="1" dirty="0">
                <a:solidFill>
                  <a:srgbClr val="FF0000"/>
                </a:solidFill>
              </a:rPr>
              <a:t>– Show Data on LCD</a:t>
            </a:r>
            <a:endParaRPr lang="en-GB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7802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4176464" cy="217877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PIC, AVR and LGT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18FxxQ35 chip family </a:t>
            </a:r>
          </a:p>
          <a:p>
            <a:endParaRPr lang="en-GB" dirty="0"/>
          </a:p>
          <a:p>
            <a:r>
              <a:rPr lang="en-GB" dirty="0"/>
              <a:t>GCBASIC now </a:t>
            </a:r>
            <a:r>
              <a:rPr lang="en-GB" dirty="0" smtClean="0"/>
              <a:t>supports 1400+ microcontrollers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5523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8" t="6534" r="2270" b="5416"/>
          <a:stretch/>
        </p:blipFill>
        <p:spPr bwMode="auto">
          <a:xfrm>
            <a:off x="251518" y="1026170"/>
            <a:ext cx="4635501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103003"/>
            <a:ext cx="6367321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04048" y="75944"/>
            <a:ext cx="3995936" cy="470898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000" dirty="0" smtClean="0"/>
              <a:t>1</a:t>
            </a:r>
            <a:r>
              <a:rPr lang="en-GB" sz="1000" dirty="0"/>
              <a:t>. 18-, 28- and 40-pin DIP sockets</a:t>
            </a:r>
          </a:p>
          <a:p>
            <a:r>
              <a:rPr lang="en-GB" sz="1000" dirty="0"/>
              <a:t>(although three sockets are provided, only one device may be used at a time)</a:t>
            </a:r>
          </a:p>
          <a:p>
            <a:r>
              <a:rPr lang="en-GB" sz="1000" dirty="0"/>
              <a:t>2. On-board, +5V regulator for direct input from 9V, 100 mA AC/DC wall adapter </a:t>
            </a:r>
            <a:r>
              <a:rPr lang="en-GB" sz="1000" dirty="0" smtClean="0"/>
              <a:t>or 9V </a:t>
            </a:r>
            <a:r>
              <a:rPr lang="en-GB" sz="1000" dirty="0"/>
              <a:t>battery, or hooks for a +5V, 100 mA regulated DC supply</a:t>
            </a:r>
          </a:p>
          <a:p>
            <a:r>
              <a:rPr lang="en-GB" sz="1000" b="1" u="sng" dirty="0">
                <a:solidFill>
                  <a:srgbClr val="FF0000"/>
                </a:solidFill>
              </a:rPr>
              <a:t>3. RS-232 socket and associated hardware for direct connection to an </a:t>
            </a:r>
            <a:r>
              <a:rPr lang="en-GB" sz="1000" b="1" u="sng" dirty="0" smtClean="0">
                <a:solidFill>
                  <a:srgbClr val="FF0000"/>
                </a:solidFill>
              </a:rPr>
              <a:t>RS-232 interface</a:t>
            </a:r>
            <a:endParaRPr lang="en-GB" sz="1000" b="1" u="sng" dirty="0">
              <a:solidFill>
                <a:srgbClr val="FF0000"/>
              </a:solidFill>
            </a:endParaRPr>
          </a:p>
          <a:p>
            <a:r>
              <a:rPr lang="en-GB" sz="1000" dirty="0"/>
              <a:t>4. Programmer/debugger connectivity supporting MPLAB® ICD 3, MPLAB REAL</a:t>
            </a:r>
          </a:p>
          <a:p>
            <a:r>
              <a:rPr lang="en-GB" sz="1000" dirty="0"/>
              <a:t>ICE and </a:t>
            </a:r>
            <a:r>
              <a:rPr lang="en-GB" sz="1000" dirty="0" err="1"/>
              <a:t>PICkit</a:t>
            </a:r>
            <a:r>
              <a:rPr lang="en-GB" sz="1000" dirty="0"/>
              <a:t> 3</a:t>
            </a:r>
          </a:p>
          <a:p>
            <a:r>
              <a:rPr lang="en-GB" sz="1000" dirty="0"/>
              <a:t>5. </a:t>
            </a:r>
            <a:r>
              <a:rPr lang="en-GB" sz="1000" dirty="0" err="1"/>
              <a:t>PICkit</a:t>
            </a:r>
            <a:r>
              <a:rPr lang="en-GB" sz="1000" dirty="0"/>
              <a:t> Serial Connector for analysis of serial communications peripherals </a:t>
            </a:r>
            <a:r>
              <a:rPr lang="en-GB" sz="1000" dirty="0" smtClean="0"/>
              <a:t>such as </a:t>
            </a:r>
            <a:r>
              <a:rPr lang="en-GB" sz="1000" dirty="0"/>
              <a:t>SPI or I2C™</a:t>
            </a:r>
          </a:p>
          <a:p>
            <a:r>
              <a:rPr lang="en-GB" sz="1000" b="1" u="sng" dirty="0">
                <a:solidFill>
                  <a:srgbClr val="FF0000"/>
                </a:solidFill>
              </a:rPr>
              <a:t>6. 5 </a:t>
            </a:r>
            <a:r>
              <a:rPr lang="en-GB" sz="1000" b="1" u="sng" dirty="0" smtClean="0">
                <a:solidFill>
                  <a:srgbClr val="FF0000"/>
                </a:solidFill>
              </a:rPr>
              <a:t>k </a:t>
            </a:r>
            <a:r>
              <a:rPr lang="en-GB" sz="1000" b="1" u="sng" dirty="0">
                <a:solidFill>
                  <a:srgbClr val="FF0000"/>
                </a:solidFill>
              </a:rPr>
              <a:t>pot for devices with </a:t>
            </a:r>
            <a:r>
              <a:rPr lang="en-GB" sz="1000" b="1" u="sng" dirty="0" err="1">
                <a:solidFill>
                  <a:srgbClr val="FF0000"/>
                </a:solidFill>
              </a:rPr>
              <a:t>analog</a:t>
            </a:r>
            <a:r>
              <a:rPr lang="en-GB" sz="1000" b="1" u="sng" dirty="0">
                <a:solidFill>
                  <a:srgbClr val="FF0000"/>
                </a:solidFill>
              </a:rPr>
              <a:t> inputs</a:t>
            </a:r>
          </a:p>
          <a:p>
            <a:r>
              <a:rPr lang="en-GB" sz="1000" b="1" u="sng" dirty="0">
                <a:solidFill>
                  <a:srgbClr val="FF0000"/>
                </a:solidFill>
              </a:rPr>
              <a:t>7. Three push button switches for external stimulus and Reset</a:t>
            </a:r>
          </a:p>
          <a:p>
            <a:r>
              <a:rPr lang="en-GB" sz="1000" dirty="0"/>
              <a:t>8. Power-on indicator LED</a:t>
            </a:r>
          </a:p>
          <a:p>
            <a:r>
              <a:rPr lang="en-GB" sz="1000" dirty="0">
                <a:solidFill>
                  <a:srgbClr val="FF0000"/>
                </a:solidFill>
              </a:rPr>
              <a:t>9. </a:t>
            </a:r>
            <a:r>
              <a:rPr lang="en-GB" sz="1000" b="1" u="sng" dirty="0">
                <a:solidFill>
                  <a:srgbClr val="FF0000"/>
                </a:solidFill>
              </a:rPr>
              <a:t>Four LEDs connected to PORTB</a:t>
            </a:r>
          </a:p>
          <a:p>
            <a:r>
              <a:rPr lang="en-GB" sz="1000" dirty="0"/>
              <a:t>10. On-board external oscillators including:</a:t>
            </a:r>
          </a:p>
          <a:p>
            <a:r>
              <a:rPr lang="en-GB" sz="1000" dirty="0"/>
              <a:t>a) Unpopulated DIP socket for canned crystal oscillator (Y2)</a:t>
            </a:r>
          </a:p>
          <a:p>
            <a:r>
              <a:rPr lang="en-GB" sz="1000" dirty="0"/>
              <a:t>b) RC oscillator circuit (R4, C3)</a:t>
            </a:r>
          </a:p>
          <a:p>
            <a:r>
              <a:rPr lang="en-GB" sz="1000" dirty="0"/>
              <a:t>c) Unpopulated holes for crystal connection (Y1)</a:t>
            </a:r>
          </a:p>
          <a:p>
            <a:r>
              <a:rPr lang="en-GB" sz="1000" dirty="0"/>
              <a:t>d) 32.768 kHz crystal for Timer1 clock operation (Y3)</a:t>
            </a:r>
            <a:br>
              <a:rPr lang="en-GB" sz="1000" dirty="0"/>
            </a:br>
            <a:r>
              <a:rPr lang="en-GB" sz="1000" dirty="0"/>
              <a:t>11. 32K x 8 Serial EEPROM</a:t>
            </a:r>
          </a:p>
          <a:p>
            <a:r>
              <a:rPr lang="en-GB" sz="1000" b="1" dirty="0">
                <a:solidFill>
                  <a:srgbClr val="FF0000"/>
                </a:solidFill>
              </a:rPr>
              <a:t>12. LCD display</a:t>
            </a:r>
          </a:p>
          <a:p>
            <a:r>
              <a:rPr lang="en-GB" sz="1000" dirty="0"/>
              <a:t>13. </a:t>
            </a:r>
            <a:r>
              <a:rPr lang="en-GB" sz="1000" dirty="0" err="1"/>
              <a:t>Piezo</a:t>
            </a:r>
            <a:r>
              <a:rPr lang="en-GB" sz="1000" dirty="0"/>
              <a:t> buzzer</a:t>
            </a:r>
          </a:p>
          <a:p>
            <a:r>
              <a:rPr lang="en-GB" sz="1000" dirty="0"/>
              <a:t>14. Prototype area for user hardware</a:t>
            </a:r>
          </a:p>
          <a:p>
            <a:r>
              <a:rPr lang="en-GB" sz="1000" dirty="0"/>
              <a:t>15. Expansion Header for </a:t>
            </a:r>
            <a:r>
              <a:rPr lang="en-GB" sz="1000" dirty="0" err="1"/>
              <a:t>PICtail</a:t>
            </a:r>
            <a:r>
              <a:rPr lang="en-GB" sz="1000" dirty="0"/>
              <a:t>™ daughter card connectivity or user access to</a:t>
            </a:r>
          </a:p>
          <a:p>
            <a:r>
              <a:rPr lang="en-GB" sz="1000" dirty="0"/>
              <a:t>MCU pins</a:t>
            </a:r>
          </a:p>
          <a:p>
            <a:r>
              <a:rPr lang="en-GB" sz="1000" dirty="0"/>
              <a:t>16. Microchip TC74 thermal sensor</a:t>
            </a:r>
          </a:p>
        </p:txBody>
      </p:sp>
      <p:sp>
        <p:nvSpPr>
          <p:cNvPr id="2" name="Oval 1"/>
          <p:cNvSpPr/>
          <p:nvPr/>
        </p:nvSpPr>
        <p:spPr>
          <a:xfrm>
            <a:off x="1441760" y="2445270"/>
            <a:ext cx="21602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23528" y="2565676"/>
            <a:ext cx="21602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50" b="1" dirty="0" smtClean="0">
                <a:solidFill>
                  <a:srgbClr val="FF0000"/>
                </a:solidFill>
              </a:rPr>
              <a:t>3A</a:t>
            </a:r>
            <a:endParaRPr lang="en-GB" sz="1050" b="1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539552" y="2589286"/>
            <a:ext cx="902208" cy="12040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2483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03003"/>
            <a:ext cx="9144000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853187"/>
            <a:ext cx="6480719" cy="43926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382635" y="1321402"/>
            <a:ext cx="1152128" cy="7975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2123728" y="1788318"/>
            <a:ext cx="963101" cy="7834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6012160" y="2787774"/>
            <a:ext cx="1440160" cy="864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4716016" y="1131590"/>
            <a:ext cx="1440160" cy="6567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8857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57014"/>
            <a:ext cx="5400600" cy="990600"/>
          </a:xfrm>
        </p:spPr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Schematic</a:t>
            </a:r>
            <a:endParaRPr lang="en-GB" dirty="0"/>
          </a:p>
        </p:txBody>
      </p:sp>
      <p:sp>
        <p:nvSpPr>
          <p:cNvPr id="5" name="AutoShape 4" descr="Upload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Uploaded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8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389392"/>
            <a:ext cx="2227213" cy="1894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2547490"/>
            <a:ext cx="2948491" cy="1847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275606"/>
            <a:ext cx="5410994" cy="191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1" t="13636" r="-1" b="-2"/>
          <a:stretch/>
        </p:blipFill>
        <p:spPr bwMode="auto">
          <a:xfrm>
            <a:off x="546080" y="2063179"/>
            <a:ext cx="333378" cy="135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2573249" y="2476441"/>
            <a:ext cx="576064" cy="8265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56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VDDIO2 Domain Power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3995936" y="2100649"/>
            <a:ext cx="3372590" cy="8771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 smtClean="0"/>
              <a:t>Think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No VDDIO2 power – no domain I/O!</a:t>
            </a:r>
            <a:endParaRPr lang="en-GB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268" y="987574"/>
            <a:ext cx="3213668" cy="3988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779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r>
              <a:rPr lang="en-GB" dirty="0" smtClean="0"/>
              <a:t>LCD output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563638"/>
            <a:ext cx="6447501" cy="3312368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328612" indent="-285750"/>
            <a:r>
              <a:rPr lang="en-GB" sz="1200" dirty="0" smtClean="0"/>
              <a:t>GCBASIC </a:t>
            </a:r>
            <a:r>
              <a:rPr lang="en-GB" sz="1200" dirty="0"/>
              <a:t>LCD Setup (4-bit / OCULAR OM1614</a:t>
            </a:r>
            <a:r>
              <a:rPr lang="en-GB" sz="1200" dirty="0" smtClean="0"/>
              <a:t>)</a:t>
            </a:r>
            <a:endParaRPr lang="en-GB" sz="1200" dirty="0"/>
          </a:p>
          <a:p>
            <a:pPr marL="628650" lvl="1" indent="-285750"/>
            <a:r>
              <a:rPr lang="en-GB" sz="1050" dirty="0" smtClean="0"/>
              <a:t>Mode </a:t>
            </a:r>
            <a:r>
              <a:rPr lang="en-GB" sz="1050" dirty="0"/>
              <a:t>&amp; Special </a:t>
            </a:r>
            <a:r>
              <a:rPr lang="en-GB" sz="1050" dirty="0" smtClean="0"/>
              <a:t>Support</a:t>
            </a:r>
            <a:endParaRPr lang="en-GB" sz="1050" dirty="0"/>
          </a:p>
          <a:p>
            <a:pPr marL="628650" lvl="1" indent="-285750"/>
            <a:r>
              <a:rPr lang="en-GB" sz="1050" dirty="0"/>
              <a:t>- `LCD_IO 4` → 4-bit parallel mode</a:t>
            </a:r>
          </a:p>
          <a:p>
            <a:pPr marL="628650" lvl="1" indent="-285750"/>
            <a:r>
              <a:rPr lang="en-GB" sz="1050" dirty="0"/>
              <a:t>- `LCD_OCULAR_OM1614` → Special </a:t>
            </a:r>
            <a:r>
              <a:rPr lang="en-GB" sz="1050" dirty="0" err="1"/>
              <a:t>init</a:t>
            </a:r>
            <a:r>
              <a:rPr lang="en-GB" sz="1050" dirty="0"/>
              <a:t> for OCULAR controller</a:t>
            </a:r>
          </a:p>
          <a:p>
            <a:pPr marL="628650" lvl="1" indent="-285750"/>
            <a:r>
              <a:rPr lang="en-GB" sz="1050" dirty="0"/>
              <a:t>- `LCD_POWER` → PORTD.7</a:t>
            </a:r>
          </a:p>
          <a:p>
            <a:pPr marL="628650" lvl="1" indent="-285750"/>
            <a:endParaRPr lang="en-GB" sz="1050" dirty="0"/>
          </a:p>
          <a:p>
            <a:pPr marL="328612" indent="-285750"/>
            <a:r>
              <a:rPr lang="en-GB" sz="1200" dirty="0" smtClean="0"/>
              <a:t>Control </a:t>
            </a:r>
            <a:r>
              <a:rPr lang="en-GB" sz="1200" dirty="0"/>
              <a:t>Pins (PORTD</a:t>
            </a:r>
            <a:r>
              <a:rPr lang="en-GB" sz="1200" dirty="0" smtClean="0"/>
              <a:t>)</a:t>
            </a:r>
            <a:endParaRPr lang="en-GB" sz="1200" dirty="0"/>
          </a:p>
          <a:p>
            <a:pPr marL="328612" indent="-285750"/>
            <a:r>
              <a:rPr lang="en-GB" sz="1200" dirty="0" smtClean="0"/>
              <a:t>Data </a:t>
            </a:r>
            <a:r>
              <a:rPr lang="en-GB" sz="1200" dirty="0"/>
              <a:t>Pins (4-bit</a:t>
            </a:r>
            <a:r>
              <a:rPr lang="en-GB" sz="1200" dirty="0" smtClean="0"/>
              <a:t>)</a:t>
            </a:r>
            <a:endParaRPr lang="en-GB" sz="1200" dirty="0"/>
          </a:p>
          <a:p>
            <a:pPr marL="328612" indent="-285750"/>
            <a:endParaRPr lang="en-GB" sz="1200" dirty="0"/>
          </a:p>
          <a:p>
            <a:pPr marL="328612" indent="-285750"/>
            <a:r>
              <a:rPr lang="en-GB" sz="1200" dirty="0" smtClean="0"/>
              <a:t>`#</a:t>
            </a:r>
            <a:r>
              <a:rPr lang="en-GB" sz="1200" dirty="0"/>
              <a:t>DEFINE`s map the pins so GCBASIC’s LCD library (Print, CLS, Locate…) works automatically.</a:t>
            </a:r>
            <a:endParaRPr lang="en-GB" sz="1200" dirty="0" smtClean="0"/>
          </a:p>
          <a:p>
            <a:endParaRPr lang="en-GB" sz="1200" dirty="0" smtClean="0"/>
          </a:p>
          <a:p>
            <a:endParaRPr lang="en-GB" sz="1200" dirty="0" smtClean="0"/>
          </a:p>
          <a:p>
            <a:pPr lvl="2">
              <a:buNone/>
            </a:pPr>
            <a:endParaRPr lang="en-GB" sz="900" i="1" dirty="0" smtClean="0"/>
          </a:p>
          <a:p>
            <a:pPr lvl="2">
              <a:buNone/>
            </a:pP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3302652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076056" y="-20538"/>
            <a:ext cx="3168352" cy="5164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6379110" y="1491630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r>
              <a:rPr lang="en-GB" dirty="0"/>
              <a:t>Tutorial overview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Initialise </a:t>
            </a:r>
            <a:endParaRPr lang="en-GB" dirty="0" smtClean="0"/>
          </a:p>
          <a:p>
            <a:pPr lvl="1"/>
            <a:endParaRPr lang="en-GB" dirty="0" smtClean="0"/>
          </a:p>
          <a:p>
            <a:r>
              <a:rPr lang="en-GB" dirty="0" smtClean="0"/>
              <a:t>Do forever</a:t>
            </a:r>
          </a:p>
          <a:p>
            <a:pPr lvl="1"/>
            <a:r>
              <a:rPr lang="en-GB" dirty="0" smtClean="0"/>
              <a:t>Read ADC</a:t>
            </a:r>
          </a:p>
          <a:p>
            <a:pPr lvl="1"/>
            <a:r>
              <a:rPr lang="en-GB" b="1" i="1" dirty="0" smtClean="0"/>
              <a:t>Send values to </a:t>
            </a:r>
            <a:r>
              <a:rPr lang="en-GB" b="1" i="1" dirty="0" smtClean="0"/>
              <a:t>LCD</a:t>
            </a:r>
            <a:endParaRPr lang="en-GB" b="1" i="1" dirty="0" smtClean="0"/>
          </a:p>
          <a:p>
            <a:pPr lvl="1"/>
            <a:r>
              <a:rPr lang="en-GB" dirty="0" smtClean="0"/>
              <a:t>Determine if switch state changed</a:t>
            </a:r>
          </a:p>
          <a:p>
            <a:pPr lvl="1"/>
            <a:r>
              <a:rPr lang="en-GB" dirty="0" smtClean="0"/>
              <a:t>Set state of LEDs</a:t>
            </a:r>
          </a:p>
          <a:p>
            <a:pPr lvl="1"/>
            <a:r>
              <a:rPr lang="en-GB" dirty="0" smtClean="0"/>
              <a:t>Wait</a:t>
            </a:r>
          </a:p>
          <a:p>
            <a:r>
              <a:rPr lang="en-GB" dirty="0" smtClean="0"/>
              <a:t>Loop</a:t>
            </a:r>
          </a:p>
          <a:p>
            <a:pPr lvl="1">
              <a:buNone/>
            </a:pPr>
            <a:endParaRPr lang="en-GB" dirty="0" smtClean="0"/>
          </a:p>
          <a:p>
            <a:pPr lvl="1">
              <a:buNone/>
            </a:pPr>
            <a:endParaRPr lang="en-GB" dirty="0" smtClean="0"/>
          </a:p>
        </p:txBody>
      </p:sp>
      <p:sp>
        <p:nvSpPr>
          <p:cNvPr id="4" name="Flowchart: Alternate Process 3"/>
          <p:cNvSpPr/>
          <p:nvPr/>
        </p:nvSpPr>
        <p:spPr>
          <a:xfrm>
            <a:off x="5573202" y="51470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 smtClean="0">
                <a:solidFill>
                  <a:schemeClr val="tx1"/>
                </a:solidFill>
              </a:rPr>
              <a:t>Initialise</a:t>
            </a:r>
            <a:endParaRPr lang="en-GB" sz="900" dirty="0">
              <a:solidFill>
                <a:schemeClr val="tx1"/>
              </a:solidFill>
            </a:endParaRPr>
          </a:p>
        </p:txBody>
      </p:sp>
      <p:sp>
        <p:nvSpPr>
          <p:cNvPr id="5" name="Flowchart: Alternate Process 4"/>
          <p:cNvSpPr/>
          <p:nvPr/>
        </p:nvSpPr>
        <p:spPr>
          <a:xfrm>
            <a:off x="5573202" y="627534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b="1" dirty="0" smtClean="0">
                <a:solidFill>
                  <a:schemeClr val="tx1"/>
                </a:solidFill>
              </a:rPr>
              <a:t>Setup </a:t>
            </a:r>
            <a:r>
              <a:rPr lang="en-GB" sz="900" b="1" dirty="0" smtClean="0">
                <a:solidFill>
                  <a:schemeClr val="tx1"/>
                </a:solidFill>
              </a:rPr>
              <a:t>the </a:t>
            </a:r>
            <a:r>
              <a:rPr lang="en-GB" sz="900" b="1" dirty="0" smtClean="0">
                <a:solidFill>
                  <a:schemeClr val="tx1"/>
                </a:solidFill>
              </a:rPr>
              <a:t>LCD</a:t>
            </a:r>
            <a:endParaRPr lang="en-GB" sz="900" b="1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endCxn id="5" idx="0"/>
          </p:cNvCxnSpPr>
          <p:nvPr/>
        </p:nvCxnSpPr>
        <p:spPr>
          <a:xfrm>
            <a:off x="6365290" y="411510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endCxn id="8" idx="0"/>
          </p:cNvCxnSpPr>
          <p:nvPr/>
        </p:nvCxnSpPr>
        <p:spPr>
          <a:xfrm>
            <a:off x="6360820" y="2451224"/>
            <a:ext cx="4471" cy="2645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lowchart: Alternate Process 21"/>
          <p:cNvSpPr/>
          <p:nvPr/>
        </p:nvSpPr>
        <p:spPr>
          <a:xfrm>
            <a:off x="5573202" y="4659982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 smtClean="0">
                <a:solidFill>
                  <a:schemeClr val="tx1"/>
                </a:solidFill>
              </a:rPr>
              <a:t>Wait </a:t>
            </a:r>
            <a:endParaRPr lang="en-GB" sz="900" dirty="0">
              <a:solidFill>
                <a:schemeClr val="tx1"/>
              </a:solidFill>
            </a:endParaRPr>
          </a:p>
        </p:txBody>
      </p:sp>
      <p:sp>
        <p:nvSpPr>
          <p:cNvPr id="33" name="Flowchart: Alternate Process 32"/>
          <p:cNvSpPr/>
          <p:nvPr/>
        </p:nvSpPr>
        <p:spPr>
          <a:xfrm>
            <a:off x="7164288" y="4011910"/>
            <a:ext cx="1008112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 smtClean="0">
                <a:solidFill>
                  <a:schemeClr val="tx1"/>
                </a:solidFill>
              </a:rPr>
              <a:t>Set State of LEDS</a:t>
            </a:r>
            <a:endParaRPr lang="en-GB" sz="900" dirty="0">
              <a:solidFill>
                <a:schemeClr val="tx1"/>
              </a:solidFill>
            </a:endParaRP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6360236" y="2866380"/>
            <a:ext cx="10109" cy="17882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>
            <a:stCxn id="8" idx="3"/>
            <a:endCxn id="33" idx="0"/>
          </p:cNvCxnSpPr>
          <p:nvPr/>
        </p:nvCxnSpPr>
        <p:spPr>
          <a:xfrm>
            <a:off x="7044223" y="3003798"/>
            <a:ext cx="624121" cy="100811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hape 38"/>
          <p:cNvCxnSpPr>
            <a:stCxn id="33" idx="2"/>
            <a:endCxn id="22" idx="3"/>
          </p:cNvCxnSpPr>
          <p:nvPr/>
        </p:nvCxnSpPr>
        <p:spPr>
          <a:xfrm rot="5400000">
            <a:off x="7178835" y="4350493"/>
            <a:ext cx="468052" cy="51096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170921" y="3435846"/>
            <a:ext cx="378630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900" dirty="0" smtClean="0"/>
              <a:t>Left</a:t>
            </a:r>
            <a:endParaRPr lang="en-GB" sz="900" dirty="0"/>
          </a:p>
        </p:txBody>
      </p:sp>
      <p:sp>
        <p:nvSpPr>
          <p:cNvPr id="50" name="TextBox 49"/>
          <p:cNvSpPr txBox="1"/>
          <p:nvPr/>
        </p:nvSpPr>
        <p:spPr>
          <a:xfrm>
            <a:off x="7438058" y="2616572"/>
            <a:ext cx="442750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900" dirty="0" smtClean="0"/>
              <a:t>Right</a:t>
            </a:r>
            <a:endParaRPr lang="en-GB" sz="900" dirty="0"/>
          </a:p>
        </p:txBody>
      </p:sp>
      <p:sp>
        <p:nvSpPr>
          <p:cNvPr id="32" name="Flowchart: Alternate Process 31"/>
          <p:cNvSpPr/>
          <p:nvPr/>
        </p:nvSpPr>
        <p:spPr>
          <a:xfrm>
            <a:off x="5573202" y="1212478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 smtClean="0">
                <a:solidFill>
                  <a:schemeClr val="tx1"/>
                </a:solidFill>
              </a:rPr>
              <a:t>Do Forever</a:t>
            </a:r>
            <a:endParaRPr lang="en-GB" sz="900" dirty="0">
              <a:solidFill>
                <a:schemeClr val="tx1"/>
              </a:solidFill>
            </a:endParaRPr>
          </a:p>
        </p:txBody>
      </p:sp>
      <p:cxnSp>
        <p:nvCxnSpPr>
          <p:cNvPr id="36" name="Elbow Connector 35"/>
          <p:cNvCxnSpPr>
            <a:stCxn id="22" idx="1"/>
            <a:endCxn id="32" idx="1"/>
          </p:cNvCxnSpPr>
          <p:nvPr/>
        </p:nvCxnSpPr>
        <p:spPr>
          <a:xfrm rot="10800000">
            <a:off x="5573202" y="1392498"/>
            <a:ext cx="12700" cy="3447504"/>
          </a:xfrm>
          <a:prstGeom prst="bentConnector3">
            <a:avLst>
              <a:gd name="adj1" fmla="val 180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6372200" y="987574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owchart: Alternate Process 19"/>
          <p:cNvSpPr/>
          <p:nvPr/>
        </p:nvSpPr>
        <p:spPr>
          <a:xfrm>
            <a:off x="5868144" y="4011910"/>
            <a:ext cx="1008112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 smtClean="0">
                <a:solidFill>
                  <a:schemeClr val="tx1"/>
                </a:solidFill>
              </a:rPr>
              <a:t>Set State of LEDs</a:t>
            </a:r>
            <a:endParaRPr lang="en-GB" sz="900" dirty="0">
              <a:solidFill>
                <a:schemeClr val="tx1"/>
              </a:solidFill>
            </a:endParaRPr>
          </a:p>
        </p:txBody>
      </p:sp>
      <p:sp>
        <p:nvSpPr>
          <p:cNvPr id="8" name="Flowchart: Decision 7"/>
          <p:cNvSpPr/>
          <p:nvPr/>
        </p:nvSpPr>
        <p:spPr>
          <a:xfrm>
            <a:off x="5686358" y="2715766"/>
            <a:ext cx="1357865" cy="576064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900" dirty="0" smtClean="0">
                <a:solidFill>
                  <a:schemeClr val="tx1"/>
                </a:solidFill>
              </a:rPr>
              <a:t>Switch state changed</a:t>
            </a:r>
            <a:endParaRPr lang="en-GB" sz="900" dirty="0">
              <a:solidFill>
                <a:schemeClr val="tx1"/>
              </a:solidFill>
            </a:endParaRPr>
          </a:p>
        </p:txBody>
      </p:sp>
      <p:sp>
        <p:nvSpPr>
          <p:cNvPr id="27" name="Flowchart: Alternate Process 26"/>
          <p:cNvSpPr/>
          <p:nvPr/>
        </p:nvSpPr>
        <p:spPr>
          <a:xfrm>
            <a:off x="5580112" y="2211710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b="1" dirty="0" smtClean="0">
                <a:solidFill>
                  <a:schemeClr val="tx1"/>
                </a:solidFill>
              </a:rPr>
              <a:t>Send Values to </a:t>
            </a:r>
            <a:r>
              <a:rPr lang="en-GB" sz="900" b="1" dirty="0" smtClean="0">
                <a:solidFill>
                  <a:schemeClr val="tx1"/>
                </a:solidFill>
              </a:rPr>
              <a:t>LCD</a:t>
            </a:r>
            <a:endParaRPr lang="en-GB" sz="9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6372200" y="1995686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lowchart: Alternate Process 20"/>
          <p:cNvSpPr/>
          <p:nvPr/>
        </p:nvSpPr>
        <p:spPr>
          <a:xfrm>
            <a:off x="5580112" y="1716534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 err="1" smtClean="0">
                <a:solidFill>
                  <a:schemeClr val="tx1"/>
                </a:solidFill>
              </a:rPr>
              <a:t>ReadADC</a:t>
            </a:r>
            <a:endParaRPr lang="en-GB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462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r>
              <a:rPr lang="en-GB" dirty="0"/>
              <a:t>Lab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Examine the sample code</a:t>
            </a:r>
          </a:p>
          <a:p>
            <a:pPr lvl="1"/>
            <a:r>
              <a:rPr lang="en-GB" dirty="0" smtClean="0"/>
              <a:t>Review the results</a:t>
            </a:r>
          </a:p>
          <a:p>
            <a:pPr marL="342900" lvl="1" indent="0">
              <a:buNone/>
            </a:pP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22828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the </a:t>
            </a:r>
            <a:r>
              <a:rPr lang="en-GB" sz="1100" b="1" dirty="0" smtClean="0"/>
              <a:t>timer0 </a:t>
            </a:r>
            <a:r>
              <a:rPr lang="en-GB" sz="1100" b="1" dirty="0"/>
              <a:t>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many  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Progmem,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07497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275606"/>
            <a:ext cx="4124707" cy="1234727"/>
          </a:xfrm>
        </p:spPr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3995936" y="2764036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PIC18FxxQ35chip Family</a:t>
            </a:r>
          </a:p>
          <a:p>
            <a:r>
              <a:rPr lang="en-GB" dirty="0"/>
              <a:t>Part 8 - BONUS – Show Data on LCD</a:t>
            </a:r>
            <a:endParaRPr lang="en-GB" dirty="0"/>
          </a:p>
        </p:txBody>
      </p:sp>
      <p:pic>
        <p:nvPicPr>
          <p:cNvPr id="6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3556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13619</TotalTime>
  <Words>850</Words>
  <Application>Microsoft Office PowerPoint</Application>
  <PresentationFormat>On-screen Show (16:9)</PresentationFormat>
  <Paragraphs>152</Paragraphs>
  <Slides>17</Slides>
  <Notes>0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GCstudioThemeLight</vt:lpstr>
      <vt:lpstr>GCBASIC</vt:lpstr>
      <vt:lpstr>GCBASIC</vt:lpstr>
      <vt:lpstr>GCBASIC</vt:lpstr>
      <vt:lpstr>GCBASIC</vt:lpstr>
      <vt:lpstr>PIC18FxxQ35</vt:lpstr>
      <vt:lpstr>Videos...</vt:lpstr>
      <vt:lpstr>GCBASIC Compiler</vt:lpstr>
      <vt:lpstr>PowerPoint Presentation</vt:lpstr>
      <vt:lpstr>PowerPoint Presentation</vt:lpstr>
      <vt:lpstr>Schematic</vt:lpstr>
      <vt:lpstr>VDDIO2 Domain Power</vt:lpstr>
      <vt:lpstr>LCD output </vt:lpstr>
      <vt:lpstr>Tutorial overview</vt:lpstr>
      <vt:lpstr>Lab</vt:lpstr>
      <vt:lpstr>PowerPoint Presentation</vt:lpstr>
      <vt:lpstr>Videos...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admin</cp:lastModifiedBy>
  <cp:revision>757</cp:revision>
  <dcterms:created xsi:type="dcterms:W3CDTF">2019-01-08T20:03:06Z</dcterms:created>
  <dcterms:modified xsi:type="dcterms:W3CDTF">2026-08-11T07:03:10Z</dcterms:modified>
</cp:coreProperties>
</file>