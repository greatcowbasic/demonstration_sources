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handoutMasterIdLst>
    <p:handoutMasterId r:id="rId18"/>
  </p:handoutMasterIdLst>
  <p:sldIdLst>
    <p:sldId id="305" r:id="rId2"/>
    <p:sldId id="306" r:id="rId3"/>
    <p:sldId id="307" r:id="rId4"/>
    <p:sldId id="308" r:id="rId5"/>
    <p:sldId id="309" r:id="rId6"/>
    <p:sldId id="301" r:id="rId7"/>
    <p:sldId id="291" r:id="rId8"/>
    <p:sldId id="310" r:id="rId9"/>
    <p:sldId id="311" r:id="rId10"/>
    <p:sldId id="312" r:id="rId11"/>
    <p:sldId id="298" r:id="rId12"/>
    <p:sldId id="287" r:id="rId13"/>
    <p:sldId id="288" r:id="rId14"/>
    <p:sldId id="297" r:id="rId15"/>
    <p:sldId id="299" r:id="rId16"/>
  </p:sldIdLst>
  <p:sldSz cx="9144000" cy="5143500" type="screen16x9"/>
  <p:notesSz cx="6858000" cy="9144000"/>
  <p:defaultTextStyle>
    <a:defPPr>
      <a:defRPr lang="en-US"/>
    </a:defPPr>
    <a:lvl1pPr marL="0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4C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7" autoAdjust="0"/>
    <p:restoredTop sz="94660"/>
  </p:normalViewPr>
  <p:slideViewPr>
    <p:cSldViewPr>
      <p:cViewPr>
        <p:scale>
          <a:sx n="150" d="100"/>
          <a:sy n="150" d="100"/>
        </p:scale>
        <p:origin x="-510" y="-36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7" d="100"/>
          <a:sy n="97" d="100"/>
        </p:scale>
        <p:origin x="-3582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E545A-AB39-44F0-B5A6-04A90C6C9399}" type="datetimeFigureOut">
              <a:rPr lang="en-GB" smtClean="0"/>
              <a:pPr/>
              <a:t>06/08/2026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131C5-F37A-4CF6-BFE3-A572240BD62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0428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00B3C-2E11-428B-8555-A77018253716}" type="datetimeFigureOut">
              <a:rPr lang="en-GB" smtClean="0"/>
              <a:pPr/>
              <a:t>06/08/2026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3471A-AA0F-4CD3-BA89-C1C7FB68C6DB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86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9C757326-0232-4CDF-81FF-302CA676961B}"/>
              </a:ext>
            </a:extLst>
          </p:cNvPr>
          <p:cNvSpPr/>
          <p:nvPr/>
        </p:nvSpPr>
        <p:spPr>
          <a:xfrm>
            <a:off x="1" y="0"/>
            <a:ext cx="9143999" cy="5143500"/>
          </a:xfrm>
          <a:prstGeom prst="rect">
            <a:avLst/>
          </a:prstGeom>
          <a:solidFill>
            <a:srgbClr val="0A0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4987E008-68E6-4A43-85BC-1A6ACDF91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1F8C892-C868-4DF6-91AB-B18CE632B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0"/>
            <a:ext cx="4900613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44618" y="1406112"/>
            <a:ext cx="3342860" cy="1369936"/>
          </a:xfrm>
        </p:spPr>
        <p:txBody>
          <a:bodyPr anchor="b">
            <a:normAutofit/>
          </a:bodyPr>
          <a:lstStyle>
            <a:lvl1pPr algn="l">
              <a:defRPr sz="4100" b="0" cap="none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App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144617" y="2776047"/>
            <a:ext cx="334286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="" xmlns:a16="http://schemas.microsoft.com/office/drawing/2014/main" id="{D547E580-E6D6-4D97-BB04-05795A83014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374553" y="158920"/>
            <a:ext cx="1677709" cy="323789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web page</a:t>
            </a:r>
          </a:p>
        </p:txBody>
      </p:sp>
    </p:spTree>
    <p:extLst>
      <p:ext uri="{BB962C8B-B14F-4D97-AF65-F5344CB8AC3E}">
        <p14:creationId xmlns:p14="http://schemas.microsoft.com/office/powerpoint/2010/main" val="365668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5B5B8CA2-02D4-408C-B548-182D4F5F5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5400600" cy="990600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86855"/>
            <a:ext cx="6447501" cy="274416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06/08/2026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920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2" y="-6350"/>
            <a:ext cx="9209330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803400"/>
            <a:ext cx="4124707" cy="1234727"/>
          </a:xfrm>
        </p:spPr>
        <p:txBody>
          <a:bodyPr anchor="b">
            <a:noAutofit/>
          </a:bodyPr>
          <a:lstStyle>
            <a:lvl1pPr algn="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5494" y="3038125"/>
            <a:ext cx="4124707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06/08/2026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049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493" y="1803400"/>
            <a:ext cx="6134709" cy="1234727"/>
          </a:xfrm>
        </p:spPr>
        <p:txBody>
          <a:bodyPr anchor="b">
            <a:noAutofit/>
          </a:bodyPr>
          <a:lstStyle>
            <a:lvl1pPr algn="ct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492" y="3038125"/>
            <a:ext cx="6134709" cy="822674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06/08/2026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1776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06/08/2026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6331EFED-43C1-4CBA-8BE3-308E3AA13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1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06/08/2026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1034EA63-4BE3-4A73-A7E6-4A75BE4C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204DC1E6-B5F4-4160-90F3-351FB3242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4639034" cy="990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06/08/2026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516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E7897C67-3827-4595-8E3A-71E9F2EA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57200"/>
            <a:ext cx="4624895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06/08/2026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8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06/08/2026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F1825398-026A-4668-BB48-C16AD1C9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7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7CE2C968-D10A-4226-8FDC-CBC4C7ED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8897" y="495300"/>
            <a:ext cx="3385156" cy="40357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100"/>
            </a:lvl1pPr>
            <a:lvl2pPr marL="342797" indent="0">
              <a:buNone/>
              <a:defRPr sz="1100"/>
            </a:lvl2pPr>
            <a:lvl3pPr marL="685595" indent="0">
              <a:buNone/>
              <a:defRPr sz="900"/>
            </a:lvl3pPr>
            <a:lvl4pPr marL="1028392" indent="0">
              <a:buNone/>
              <a:defRPr sz="800"/>
            </a:lvl4pPr>
            <a:lvl5pPr marL="1371188" indent="0">
              <a:buNone/>
              <a:defRPr sz="800"/>
            </a:lvl5pPr>
            <a:lvl6pPr marL="1713986" indent="0">
              <a:buNone/>
              <a:defRPr sz="800"/>
            </a:lvl6pPr>
            <a:lvl7pPr marL="2056783" indent="0">
              <a:buNone/>
              <a:defRPr sz="800"/>
            </a:lvl7pPr>
            <a:lvl8pPr marL="2399580" indent="0">
              <a:buNone/>
              <a:defRPr sz="800"/>
            </a:lvl8pPr>
            <a:lvl9pPr marL="2742377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06/08/2026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986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6AB5D66D-00C1-40EA-BFC8-305566F1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706966"/>
            <a:ext cx="6447501" cy="2893484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06/08/2026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502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06/08/2026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AD4D4CB4-D965-4BB6-B218-086244C13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25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06/08/2026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A3B58C4E-0EF0-466C-9740-EC9F485C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87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06/08/2026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="" xmlns:a16="http://schemas.microsoft.com/office/drawing/2014/main" id="{2D0B9223-1250-44AA-A6C3-F2013B85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94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06/08/2026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D49E1C7C-7E53-49A2-B2C9-52307876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29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06/08/2026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="" xmlns:a16="http://schemas.microsoft.com/office/drawing/2014/main" id="{23082AB0-2BB5-46FE-9A17-15E1ACC0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26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1862E859-E5AF-4D76-9FC9-2355B24F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5402469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06/08/2026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670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91908D0E-7544-4687-965B-72EF64AA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934278"/>
            <a:ext cx="978557" cy="3461510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06/08/2026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668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3AACB-D821-4991-9D88-46EB8D29E619}" type="datetimeFigureOut">
              <a:rPr lang="en-GB" smtClean="0"/>
              <a:pPr/>
              <a:t>06/08/2026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4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PIC18FxxQ35chip Family</a:t>
            </a:r>
          </a:p>
          <a:p>
            <a:r>
              <a:rPr lang="en-GB" dirty="0"/>
              <a:t>Part 2 – sequence the LEDs </a:t>
            </a:r>
          </a:p>
        </p:txBody>
      </p:sp>
    </p:spTree>
    <p:extLst>
      <p:ext uri="{BB962C8B-B14F-4D97-AF65-F5344CB8AC3E}">
        <p14:creationId xmlns:p14="http://schemas.microsoft.com/office/powerpoint/2010/main" val="2712643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513" y="2914650"/>
            <a:ext cx="6552727" cy="1925352"/>
          </a:xfrm>
        </p:spPr>
        <p:txBody>
          <a:bodyPr>
            <a:normAutofit/>
          </a:bodyPr>
          <a:lstStyle/>
          <a:p>
            <a:r>
              <a:rPr lang="en-GB" dirty="0" smtClean="0"/>
              <a:t>PIC18FxxQ35 </a:t>
            </a:r>
            <a:r>
              <a:rPr lang="en-GB" dirty="0"/>
              <a:t>chip Family</a:t>
            </a:r>
          </a:p>
          <a:p>
            <a:r>
              <a:rPr lang="en-GB" dirty="0"/>
              <a:t>Part 2 – sequence the LEDs </a:t>
            </a:r>
          </a:p>
          <a:p>
            <a:endParaRPr lang="en-GB" dirty="0" smtClean="0"/>
          </a:p>
          <a:p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49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315141" y="79363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39552" y="2067694"/>
            <a:ext cx="736788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Like and subscribe!</a:t>
            </a:r>
          </a:p>
        </p:txBody>
      </p:sp>
      <p:pic>
        <p:nvPicPr>
          <p:cNvPr id="2050" name="Picture 2" descr="PIC18F46Q35-NHX-Regula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795886"/>
            <a:ext cx="1280591" cy="112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utoShape 4" descr="PIC18F46Q35-S2X-Regular.png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sp>
        <p:nvSpPr>
          <p:cNvPr id="5" name="AutoShape 6" descr="PIC18F46Q35-S2X-Regular.png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GB"/>
          </a:p>
        </p:txBody>
      </p:sp>
      <p:pic>
        <p:nvPicPr>
          <p:cNvPr id="2056" name="Picture 8" descr="PIC18F46Q35-S2X-Regula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316" y="3540195"/>
            <a:ext cx="2692623" cy="1256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83037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PIC18FxxQ35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PIC18FxxQ35  is a high performance PIC18</a:t>
            </a:r>
          </a:p>
          <a:p>
            <a:pPr lvl="1"/>
            <a:r>
              <a:rPr lang="en-GB" b="1" dirty="0"/>
              <a:t>Digital and </a:t>
            </a:r>
            <a:r>
              <a:rPr lang="en-GB" b="1" dirty="0" err="1"/>
              <a:t>analog</a:t>
            </a:r>
            <a:r>
              <a:rPr lang="en-GB" b="1" dirty="0"/>
              <a:t> peripherals</a:t>
            </a:r>
            <a:r>
              <a:rPr lang="en-GB" dirty="0"/>
              <a:t> for flexible embedded control</a:t>
            </a:r>
          </a:p>
          <a:p>
            <a:pPr lvl="1"/>
            <a:r>
              <a:rPr lang="en-GB" b="1" dirty="0"/>
              <a:t>10-bit ADC</a:t>
            </a:r>
            <a:r>
              <a:rPr lang="en-GB" dirty="0"/>
              <a:t> for accurate </a:t>
            </a:r>
            <a:r>
              <a:rPr lang="en-GB" dirty="0" err="1"/>
              <a:t>analog</a:t>
            </a:r>
            <a:r>
              <a:rPr lang="en-GB" dirty="0"/>
              <a:t> signal conversion</a:t>
            </a:r>
          </a:p>
          <a:p>
            <a:pPr lvl="1"/>
            <a:r>
              <a:rPr lang="en-GB" b="1" dirty="0"/>
              <a:t>Multiple communication interfaces</a:t>
            </a:r>
            <a:r>
              <a:rPr lang="en-GB" dirty="0"/>
              <a:t> including UART (serial), I²C, and SPI</a:t>
            </a:r>
          </a:p>
          <a:p>
            <a:pPr lvl="1"/>
            <a:r>
              <a:rPr lang="en-GB" b="1" dirty="0"/>
              <a:t>PWM modules</a:t>
            </a:r>
            <a:r>
              <a:rPr lang="en-GB" dirty="0"/>
              <a:t> with CCP and 16-bit resolution for precise timing and motor control</a:t>
            </a:r>
          </a:p>
          <a:p>
            <a:pPr lvl="1"/>
            <a:r>
              <a:rPr lang="en-GB" b="1" dirty="0"/>
              <a:t>Configurable Logic Cells (CLCs)</a:t>
            </a:r>
            <a:r>
              <a:rPr lang="en-GB" dirty="0"/>
              <a:t> for custom hardware-level logic without external components</a:t>
            </a:r>
          </a:p>
          <a:p>
            <a:pPr lvl="1"/>
            <a:r>
              <a:rPr lang="en-GB" b="1" dirty="0"/>
              <a:t>Integrated op amps</a:t>
            </a:r>
            <a:r>
              <a:rPr lang="en-GB" dirty="0"/>
              <a:t> for </a:t>
            </a:r>
            <a:r>
              <a:rPr lang="en-GB" dirty="0" err="1"/>
              <a:t>onboard</a:t>
            </a:r>
            <a:r>
              <a:rPr lang="en-GB" dirty="0"/>
              <a:t> </a:t>
            </a:r>
            <a:r>
              <a:rPr lang="en-GB" dirty="0" err="1"/>
              <a:t>analog</a:t>
            </a:r>
            <a:r>
              <a:rPr lang="en-GB" dirty="0"/>
              <a:t> signal conditioning and amplification</a:t>
            </a:r>
          </a:p>
          <a:p>
            <a:endParaRPr lang="en-GB" dirty="0" smtClean="0"/>
          </a:p>
          <a:p>
            <a:r>
              <a:rPr lang="en-GB" dirty="0" smtClean="0"/>
              <a:t>The PIC18FxxQ35 offers 28, 40 and 44-pin products in small footprint packages to support customers in a wide variety of applications.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58229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</a:t>
            </a:r>
            <a:r>
              <a:rPr lang="en-GB" sz="1100" dirty="0" smtClean="0"/>
              <a:t>– make LEDs work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timer0 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err="1"/>
              <a:t>EEProm</a:t>
            </a:r>
            <a:r>
              <a:rPr lang="en-GB" sz="1100" dirty="0"/>
              <a:t>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many 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</a:t>
            </a:r>
            <a:r>
              <a:rPr lang="en-GB" sz="1100" dirty="0" err="1"/>
              <a:t>Progmem</a:t>
            </a:r>
            <a:r>
              <a:rPr lang="en-GB" sz="1100" dirty="0"/>
              <a:t>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2368824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835697" y="1707656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100" dirty="0" smtClean="0"/>
              <a:t>GCBASIC </a:t>
            </a:r>
            <a:r>
              <a:rPr lang="en-GB" sz="1500" dirty="0" smtClean="0"/>
              <a:t>Compiler</a:t>
            </a:r>
            <a:endParaRPr lang="en-GB" sz="11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3563888" y="2643758"/>
            <a:ext cx="4176464" cy="2178773"/>
          </a:xfrm>
          <a:prstGeom prst="rect">
            <a:avLst/>
          </a:prstGeom>
          <a:noFill/>
        </p:spPr>
        <p:txBody>
          <a:bodyPr wrap="square" lIns="85064" tIns="42531" rIns="85064" bIns="42531" rtlCol="0">
            <a:spAutoFit/>
          </a:bodyPr>
          <a:lstStyle/>
          <a:p>
            <a:r>
              <a:rPr lang="en-GB" dirty="0" smtClean="0"/>
              <a:t>GCBASIC is an Open Source compiler for PIC, AVR and LGT microcontrollers</a:t>
            </a:r>
          </a:p>
          <a:p>
            <a:endParaRPr lang="en-GB" dirty="0" smtClean="0"/>
          </a:p>
          <a:p>
            <a:r>
              <a:rPr lang="en-GB" dirty="0" smtClean="0"/>
              <a:t>GCBASIC now supports the 18FxxQ35 chip </a:t>
            </a:r>
            <a:r>
              <a:rPr lang="en-GB" dirty="0" smtClean="0"/>
              <a:t>family </a:t>
            </a:r>
          </a:p>
          <a:p>
            <a:endParaRPr lang="en-GB" dirty="0"/>
          </a:p>
          <a:p>
            <a:r>
              <a:rPr lang="en-GB" dirty="0"/>
              <a:t>GCBASIC now </a:t>
            </a:r>
            <a:r>
              <a:rPr lang="en-GB" dirty="0" smtClean="0"/>
              <a:t>supports 1400+ microcontrollers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6939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Prerequisites 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Assumes you have </a:t>
            </a:r>
          </a:p>
          <a:p>
            <a:pPr marL="778521" lvl="1" indent="-478483"/>
            <a:r>
              <a:rPr lang="en-GB" dirty="0" smtClean="0"/>
              <a:t>Installed the GCSTUDIO software</a:t>
            </a:r>
          </a:p>
          <a:p>
            <a:pPr marL="778521" lvl="1" indent="-478483"/>
            <a:endParaRPr lang="en-GB" dirty="0"/>
          </a:p>
          <a:p>
            <a:pPr marL="778521" lvl="1" indent="-478483"/>
            <a:endParaRPr lang="en-GB" dirty="0" smtClean="0"/>
          </a:p>
          <a:p>
            <a:pPr marL="778521" lvl="1" indent="-478483"/>
            <a:endParaRPr lang="en-GB" dirty="0" smtClean="0"/>
          </a:p>
          <a:p>
            <a:pPr marL="778521" lvl="1" indent="-478483"/>
            <a:r>
              <a:rPr lang="en-GB" dirty="0" smtClean="0"/>
              <a:t>Installed your programmer software</a:t>
            </a:r>
          </a:p>
          <a:p>
            <a:pPr marL="778521" lvl="1" indent="-478483"/>
            <a:r>
              <a:rPr lang="en-GB" dirty="0" smtClean="0"/>
              <a:t>Test that you have the 18FxxQ35 attached</a:t>
            </a:r>
          </a:p>
          <a:p>
            <a:pPr marL="0" indent="0">
              <a:buNone/>
            </a:pPr>
            <a:endParaRPr lang="en-GB" dirty="0" smtClean="0"/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2427734"/>
            <a:ext cx="4533900" cy="781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48" t="6534" r="2270" b="5416"/>
          <a:stretch/>
        </p:blipFill>
        <p:spPr bwMode="auto">
          <a:xfrm>
            <a:off x="251518" y="1026170"/>
            <a:ext cx="4635501" cy="400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0" y="103003"/>
            <a:ext cx="6367321" cy="884571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 anchor="t">
            <a:normAutofit lnSpcReduction="10000"/>
          </a:bodyPr>
          <a:lstStyle/>
          <a:p>
            <a:pPr defTabSz="342900">
              <a:spcBef>
                <a:spcPct val="0"/>
              </a:spcBef>
            </a:pPr>
            <a:r>
              <a:rPr lang="en-GB" sz="27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PICDEM 2 Plus </a:t>
            </a: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Demonstration</a:t>
            </a:r>
          </a:p>
          <a:p>
            <a:pPr defTabSz="342900">
              <a:spcBef>
                <a:spcPct val="0"/>
              </a:spcBef>
            </a:pP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Board </a:t>
            </a:r>
            <a:endParaRPr lang="en-GB" sz="27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004048" y="75944"/>
            <a:ext cx="3995936" cy="501675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GB" sz="1000" dirty="0" smtClean="0"/>
              <a:t>1</a:t>
            </a:r>
            <a:r>
              <a:rPr lang="en-GB" sz="1000" dirty="0"/>
              <a:t>. 18-, 28- and 40-pin DIP sockets</a:t>
            </a:r>
          </a:p>
          <a:p>
            <a:r>
              <a:rPr lang="en-GB" sz="1000" dirty="0"/>
              <a:t>(although three sockets are provided, only one device may be used at a time)</a:t>
            </a:r>
          </a:p>
          <a:p>
            <a:r>
              <a:rPr lang="en-GB" sz="1000" dirty="0"/>
              <a:t>2. On-board, +5V regulator for direct input from 9V, 100 mA AC/DC wall adapter or</a:t>
            </a:r>
          </a:p>
          <a:p>
            <a:r>
              <a:rPr lang="en-GB" sz="1000" dirty="0"/>
              <a:t>9V battery, or hooks for a +5V, 100 mA regulated DC supply</a:t>
            </a:r>
          </a:p>
          <a:p>
            <a:r>
              <a:rPr lang="en-GB" sz="1000" dirty="0"/>
              <a:t>3. RS-232 socket and associated hardware for direct connection to an RS-232</a:t>
            </a:r>
          </a:p>
          <a:p>
            <a:r>
              <a:rPr lang="en-GB" sz="1000" dirty="0"/>
              <a:t>interface</a:t>
            </a:r>
          </a:p>
          <a:p>
            <a:r>
              <a:rPr lang="en-GB" sz="1000" dirty="0"/>
              <a:t>4. Programmer/debugger connectivity supporting MPLAB® ICD 3, MPLAB REAL</a:t>
            </a:r>
          </a:p>
          <a:p>
            <a:r>
              <a:rPr lang="en-GB" sz="1000" dirty="0"/>
              <a:t>ICE and </a:t>
            </a:r>
            <a:r>
              <a:rPr lang="en-GB" sz="1000" dirty="0" err="1"/>
              <a:t>PICkit</a:t>
            </a:r>
            <a:r>
              <a:rPr lang="en-GB" sz="1000" dirty="0"/>
              <a:t> 3</a:t>
            </a:r>
          </a:p>
          <a:p>
            <a:r>
              <a:rPr lang="en-GB" sz="1000" dirty="0"/>
              <a:t>5. </a:t>
            </a:r>
            <a:r>
              <a:rPr lang="en-GB" sz="1000" dirty="0" err="1"/>
              <a:t>PICkit</a:t>
            </a:r>
            <a:r>
              <a:rPr lang="en-GB" sz="1000" dirty="0"/>
              <a:t> Serial Connector for analysis of serial communications peripherals such</a:t>
            </a:r>
          </a:p>
          <a:p>
            <a:r>
              <a:rPr lang="en-GB" sz="1000" dirty="0"/>
              <a:t>as SPI or I2C™</a:t>
            </a:r>
          </a:p>
          <a:p>
            <a:r>
              <a:rPr lang="en-GB" sz="1000" dirty="0"/>
              <a:t>6. 5 k pot for devices with </a:t>
            </a:r>
            <a:r>
              <a:rPr lang="en-GB" sz="1000" dirty="0" err="1"/>
              <a:t>analog</a:t>
            </a:r>
            <a:r>
              <a:rPr lang="en-GB" sz="1000" dirty="0"/>
              <a:t> inputs</a:t>
            </a:r>
          </a:p>
          <a:p>
            <a:r>
              <a:rPr lang="en-GB" sz="1000" dirty="0"/>
              <a:t>7. Three push button switches for external stimulus and Reset</a:t>
            </a:r>
          </a:p>
          <a:p>
            <a:r>
              <a:rPr lang="en-GB" sz="1000" dirty="0"/>
              <a:t>8. Power-on indicator LED</a:t>
            </a:r>
          </a:p>
          <a:p>
            <a:r>
              <a:rPr lang="en-GB" sz="1000" dirty="0"/>
              <a:t>9. </a:t>
            </a:r>
            <a:r>
              <a:rPr lang="en-GB" sz="1000" b="1" u="sng" dirty="0"/>
              <a:t>Four LEDs connected to PORTB</a:t>
            </a:r>
          </a:p>
          <a:p>
            <a:r>
              <a:rPr lang="en-GB" sz="1000" dirty="0"/>
              <a:t>10. On-board external oscillators including:</a:t>
            </a:r>
          </a:p>
          <a:p>
            <a:r>
              <a:rPr lang="en-GB" sz="1000" dirty="0"/>
              <a:t>a) Unpopulated DIP socket for canned crystal oscillator (Y2)</a:t>
            </a:r>
          </a:p>
          <a:p>
            <a:r>
              <a:rPr lang="en-GB" sz="1000" dirty="0"/>
              <a:t>b) RC oscillator circuit (R4, C3)</a:t>
            </a:r>
          </a:p>
          <a:p>
            <a:r>
              <a:rPr lang="en-GB" sz="1000" dirty="0"/>
              <a:t>c) Unpopulated holes for crystal connection (Y1)</a:t>
            </a:r>
          </a:p>
          <a:p>
            <a:r>
              <a:rPr lang="en-GB" sz="1000" dirty="0"/>
              <a:t>d) 32.768 kHz crystal for Timer1 clock operation (Y3)</a:t>
            </a:r>
            <a:br>
              <a:rPr lang="en-GB" sz="1000" dirty="0"/>
            </a:br>
            <a:r>
              <a:rPr lang="en-GB" sz="1000" dirty="0"/>
              <a:t>11. 32K x 8 Serial EEPROM</a:t>
            </a:r>
          </a:p>
          <a:p>
            <a:r>
              <a:rPr lang="en-GB" sz="1000" dirty="0"/>
              <a:t>12. LCD display</a:t>
            </a:r>
          </a:p>
          <a:p>
            <a:r>
              <a:rPr lang="en-GB" sz="1000" dirty="0"/>
              <a:t>13. </a:t>
            </a:r>
            <a:r>
              <a:rPr lang="en-GB" sz="1000" dirty="0" err="1"/>
              <a:t>Piezo</a:t>
            </a:r>
            <a:r>
              <a:rPr lang="en-GB" sz="1000" dirty="0"/>
              <a:t> buzzer</a:t>
            </a:r>
          </a:p>
          <a:p>
            <a:r>
              <a:rPr lang="en-GB" sz="1000" dirty="0"/>
              <a:t>14. Prototype area for user hardware</a:t>
            </a:r>
          </a:p>
          <a:p>
            <a:r>
              <a:rPr lang="en-GB" sz="1000" dirty="0"/>
              <a:t>15. Expansion Header for </a:t>
            </a:r>
            <a:r>
              <a:rPr lang="en-GB" sz="1000" dirty="0" err="1"/>
              <a:t>PICtail</a:t>
            </a:r>
            <a:r>
              <a:rPr lang="en-GB" sz="1000" dirty="0"/>
              <a:t>™ daughter card connectivity or user access to</a:t>
            </a:r>
          </a:p>
          <a:p>
            <a:r>
              <a:rPr lang="en-GB" sz="1000" dirty="0"/>
              <a:t>MCU pins</a:t>
            </a:r>
          </a:p>
          <a:p>
            <a:r>
              <a:rPr lang="en-GB" sz="1000" dirty="0"/>
              <a:t>16. Microchip TC74 thermal sensor</a:t>
            </a:r>
          </a:p>
        </p:txBody>
      </p:sp>
    </p:spTree>
    <p:extLst>
      <p:ext uri="{BB962C8B-B14F-4D97-AF65-F5344CB8AC3E}">
        <p14:creationId xmlns:p14="http://schemas.microsoft.com/office/powerpoint/2010/main" val="314594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03003"/>
            <a:ext cx="9144000" cy="884571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 anchor="t">
            <a:normAutofit lnSpcReduction="10000"/>
          </a:bodyPr>
          <a:lstStyle/>
          <a:p>
            <a:pPr defTabSz="342900">
              <a:spcBef>
                <a:spcPct val="0"/>
              </a:spcBef>
            </a:pPr>
            <a:r>
              <a:rPr lang="en-GB" sz="27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PICDEM 2 Plus </a:t>
            </a: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Demonstration</a:t>
            </a:r>
          </a:p>
          <a:p>
            <a:pPr defTabSz="342900">
              <a:spcBef>
                <a:spcPct val="0"/>
              </a:spcBef>
            </a:pP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Board </a:t>
            </a:r>
            <a:endParaRPr lang="en-GB" sz="27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853187"/>
            <a:ext cx="6480719" cy="4392687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5" name="Rectangle 4"/>
          <p:cNvSpPr/>
          <p:nvPr/>
        </p:nvSpPr>
        <p:spPr>
          <a:xfrm>
            <a:off x="6382635" y="1321402"/>
            <a:ext cx="1152128" cy="79756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6248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103003"/>
            <a:ext cx="9143999" cy="884571"/>
          </a:xfrm>
          <a:prstGeom prst="rect">
            <a:avLst/>
          </a:prstGeom>
          <a:solidFill>
            <a:schemeClr val="bg1"/>
          </a:solidFill>
        </p:spPr>
        <p:txBody>
          <a:bodyPr vert="horz" lIns="68580" tIns="34290" rIns="68580" bIns="34290" rtlCol="0" anchor="t">
            <a:normAutofit lnSpcReduction="10000"/>
          </a:bodyPr>
          <a:lstStyle/>
          <a:p>
            <a:pPr defTabSz="342900">
              <a:spcBef>
                <a:spcPct val="0"/>
              </a:spcBef>
            </a:pPr>
            <a:r>
              <a:rPr lang="en-GB" sz="27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PICDEM 2 Plus </a:t>
            </a: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Demonstration</a:t>
            </a:r>
          </a:p>
          <a:p>
            <a:pPr defTabSz="342900">
              <a:spcBef>
                <a:spcPct val="0"/>
              </a:spcBef>
            </a:pPr>
            <a:r>
              <a:rPr lang="en-GB" sz="2700" dirty="0" smtClean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Board </a:t>
            </a:r>
            <a:endParaRPr lang="en-GB" sz="2700" dirty="0">
              <a:solidFill>
                <a:schemeClr val="accent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5976" y="1033079"/>
            <a:ext cx="4210050" cy="3581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699543"/>
            <a:ext cx="2949645" cy="4248472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489390" y="2965624"/>
            <a:ext cx="310983" cy="10772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none" lIns="0" tIns="0" rIns="0" bIns="0" rtlCol="0">
            <a:spAutoFit/>
          </a:bodyPr>
          <a:lstStyle/>
          <a:p>
            <a:r>
              <a:rPr lang="en-GB" sz="700" dirty="0" smtClean="0"/>
              <a:t>VDDIO2</a:t>
            </a:r>
            <a:endParaRPr lang="en-GB" sz="7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5652120" y="3939902"/>
            <a:ext cx="14401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6421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656856" y="911374"/>
            <a:ext cx="1938114" cy="4032448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 vert="horz" lIns="85064" tIns="42531" rIns="85064" bIns="42531" rtlCol="0" anchor="ctr">
            <a:normAutofit/>
          </a:bodyPr>
          <a:lstStyle/>
          <a:p>
            <a:pPr algn="l"/>
            <a:r>
              <a:rPr lang="en-GB" dirty="0" smtClean="0"/>
              <a:t>Make  four LEDs flash in a sequence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3714006" y="987574"/>
            <a:ext cx="1805732" cy="3672408"/>
            <a:chOff x="3714006" y="987574"/>
            <a:chExt cx="1805732" cy="3672408"/>
          </a:xfrm>
        </p:grpSpPr>
        <p:sp>
          <p:nvSpPr>
            <p:cNvPr id="6" name="Flowchart: Alternate Process 5"/>
            <p:cNvSpPr/>
            <p:nvPr/>
          </p:nvSpPr>
          <p:spPr>
            <a:xfrm>
              <a:off x="3714006" y="987574"/>
              <a:ext cx="1584176" cy="360040"/>
            </a:xfrm>
            <a:prstGeom prst="flowChartAlternateProces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 smtClean="0">
                  <a:solidFill>
                    <a:schemeClr val="tx1"/>
                  </a:solidFill>
                </a:rPr>
                <a:t>Initialise</a:t>
              </a:r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7" name="Flowchart: Alternate Process 6"/>
            <p:cNvSpPr/>
            <p:nvPr/>
          </p:nvSpPr>
          <p:spPr>
            <a:xfrm>
              <a:off x="3714006" y="1635646"/>
              <a:ext cx="1584176" cy="360040"/>
            </a:xfrm>
            <a:prstGeom prst="flowChartAlternateProces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 smtClean="0">
                  <a:solidFill>
                    <a:schemeClr val="tx1"/>
                  </a:solidFill>
                </a:rPr>
                <a:t>Set  1</a:t>
              </a:r>
              <a:r>
                <a:rPr lang="en-GB" sz="1000" baseline="30000" dirty="0" smtClean="0">
                  <a:solidFill>
                    <a:schemeClr val="tx1"/>
                  </a:solidFill>
                </a:rPr>
                <a:t>st</a:t>
              </a:r>
              <a:r>
                <a:rPr lang="en-GB" sz="1000" dirty="0" smtClean="0">
                  <a:solidFill>
                    <a:schemeClr val="tx1"/>
                  </a:solidFill>
                </a:rPr>
                <a:t> LED</a:t>
              </a:r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Flowchart: Alternate Process 7"/>
            <p:cNvSpPr/>
            <p:nvPr/>
          </p:nvSpPr>
          <p:spPr>
            <a:xfrm>
              <a:off x="3714006" y="2283718"/>
              <a:ext cx="1584176" cy="360040"/>
            </a:xfrm>
            <a:prstGeom prst="flowChartAlternateProces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 smtClean="0">
                  <a:solidFill>
                    <a:schemeClr val="tx1"/>
                  </a:solidFill>
                </a:rPr>
                <a:t>Delay</a:t>
              </a:r>
              <a:endParaRPr lang="en-GB" sz="1000" dirty="0">
                <a:solidFill>
                  <a:schemeClr val="tx1"/>
                </a:solidFill>
              </a:endParaRPr>
            </a:p>
          </p:txBody>
        </p:sp>
        <p:sp>
          <p:nvSpPr>
            <p:cNvPr id="9" name="Flowchart: Alternate Process 8"/>
            <p:cNvSpPr/>
            <p:nvPr/>
          </p:nvSpPr>
          <p:spPr>
            <a:xfrm>
              <a:off x="3714006" y="4299942"/>
              <a:ext cx="1584176" cy="360040"/>
            </a:xfrm>
            <a:prstGeom prst="flowChartAlternateProces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 smtClean="0">
                  <a:solidFill>
                    <a:schemeClr val="tx1"/>
                  </a:solidFill>
                </a:rPr>
                <a:t>Reset</a:t>
              </a:r>
            </a:p>
          </p:txBody>
        </p:sp>
        <p:sp>
          <p:nvSpPr>
            <p:cNvPr id="10" name="Flowchart: Decision 9"/>
            <p:cNvSpPr/>
            <p:nvPr/>
          </p:nvSpPr>
          <p:spPr>
            <a:xfrm>
              <a:off x="3827162" y="3507854"/>
              <a:ext cx="1357865" cy="576064"/>
            </a:xfrm>
            <a:prstGeom prst="flowChartDecision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900" smtClean="0">
                  <a:solidFill>
                    <a:schemeClr val="tx1"/>
                  </a:solidFill>
                </a:rPr>
                <a:t>LEDs variable </a:t>
              </a:r>
              <a:r>
                <a:rPr lang="en-GB" sz="900" dirty="0" smtClean="0">
                  <a:solidFill>
                    <a:schemeClr val="tx1"/>
                  </a:solidFill>
                </a:rPr>
                <a:t>&gt; 4?</a:t>
              </a:r>
              <a:endParaRPr lang="en-GB" sz="900" dirty="0">
                <a:solidFill>
                  <a:schemeClr val="tx1"/>
                </a:solidFill>
              </a:endParaRPr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>
              <a:off x="4506094" y="1347614"/>
              <a:ext cx="0" cy="28803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4506094" y="1995686"/>
              <a:ext cx="0" cy="28803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/>
            <p:nvPr/>
          </p:nvCxnSpPr>
          <p:spPr>
            <a:xfrm flipH="1">
              <a:off x="4506094" y="4083918"/>
              <a:ext cx="1" cy="2160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Elbow Connector 23"/>
            <p:cNvCxnSpPr>
              <a:stCxn id="9" idx="2"/>
              <a:endCxn id="8" idx="3"/>
            </p:cNvCxnSpPr>
            <p:nvPr/>
          </p:nvCxnSpPr>
          <p:spPr>
            <a:xfrm rot="5400000" flipH="1" flipV="1">
              <a:off x="3804016" y="3165816"/>
              <a:ext cx="2196244" cy="792088"/>
            </a:xfrm>
            <a:prstGeom prst="bentConnector4">
              <a:avLst>
                <a:gd name="adj1" fmla="val -10409"/>
                <a:gd name="adj2" fmla="val 128860"/>
              </a:avLst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5195888" y="3787899"/>
              <a:ext cx="323850" cy="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Flowchart: Alternate Process 35"/>
            <p:cNvSpPr/>
            <p:nvPr/>
          </p:nvSpPr>
          <p:spPr>
            <a:xfrm>
              <a:off x="3714006" y="2931790"/>
              <a:ext cx="1584176" cy="360040"/>
            </a:xfrm>
            <a:prstGeom prst="flowChartAlternateProcess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000" dirty="0" smtClean="0">
                  <a:solidFill>
                    <a:schemeClr val="tx1"/>
                  </a:solidFill>
                </a:rPr>
                <a:t>Rotate </a:t>
              </a:r>
              <a:r>
                <a:rPr lang="en-GB" sz="1000" smtClean="0">
                  <a:solidFill>
                    <a:schemeClr val="tx1"/>
                  </a:solidFill>
                </a:rPr>
                <a:t>the LEDs</a:t>
              </a:r>
              <a:endParaRPr lang="en-GB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38" name="Straight Arrow Connector 37"/>
            <p:cNvCxnSpPr/>
            <p:nvPr/>
          </p:nvCxnSpPr>
          <p:spPr>
            <a:xfrm>
              <a:off x="4506094" y="2643758"/>
              <a:ext cx="0" cy="28803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>
              <a:off x="4506094" y="3291830"/>
              <a:ext cx="1" cy="21602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/>
            <p:cNvSpPr txBox="1"/>
            <p:nvPr/>
          </p:nvSpPr>
          <p:spPr>
            <a:xfrm>
              <a:off x="5092080" y="3530352"/>
              <a:ext cx="33534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000" dirty="0" smtClean="0"/>
                <a:t>No</a:t>
              </a:r>
              <a:endParaRPr lang="en-GB" sz="1000" dirty="0"/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622676" y="4016499"/>
              <a:ext cx="360996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000" dirty="0" smtClean="0"/>
                <a:t>Yes</a:t>
              </a:r>
              <a:endParaRPr lang="en-GB" sz="1000" dirty="0"/>
            </a:p>
          </p:txBody>
        </p:sp>
      </p:grpSp>
    </p:spTree>
    <p:extLst>
      <p:ext uri="{BB962C8B-B14F-4D97-AF65-F5344CB8AC3E}">
        <p14:creationId xmlns:p14="http://schemas.microsoft.com/office/powerpoint/2010/main" val="8445449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Workshop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771" y="1786855"/>
            <a:ext cx="6447501" cy="2744167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..\Demos\</a:t>
            </a:r>
            <a:r>
              <a:rPr lang="en-GB" b="1" dirty="0" err="1"/>
              <a:t>Vendor_Boards</a:t>
            </a:r>
            <a:r>
              <a:rPr lang="en-GB" b="1" dirty="0"/>
              <a:t>\</a:t>
            </a:r>
            <a:r>
              <a:rPr lang="en-GB" b="1" dirty="0" err="1"/>
              <a:t>Microchip_PICDEM</a:t>
            </a:r>
            <a:r>
              <a:rPr lang="en-GB" b="1" dirty="0"/>
              <a:t> 2 plus_board_2010\18f</a:t>
            </a:r>
          </a:p>
          <a:p>
            <a:endParaRPr lang="en-GB" dirty="0" smtClean="0"/>
          </a:p>
          <a:p>
            <a:r>
              <a:rPr lang="en-GB" dirty="0" smtClean="0"/>
              <a:t>Rotate  the LEDs with a delay</a:t>
            </a:r>
          </a:p>
          <a:p>
            <a:endParaRPr lang="en-GB" dirty="0"/>
          </a:p>
          <a:p>
            <a:r>
              <a:rPr lang="en-GB" dirty="0" smtClean="0"/>
              <a:t>Uses</a:t>
            </a:r>
          </a:p>
          <a:p>
            <a:pPr lvl="1"/>
            <a:r>
              <a:rPr lang="en-GB" dirty="0" smtClean="0"/>
              <a:t>The register PORTB LEDs via a constant</a:t>
            </a:r>
          </a:p>
          <a:p>
            <a:pPr lvl="1"/>
            <a:r>
              <a:rPr lang="en-GB" dirty="0" smtClean="0"/>
              <a:t>Rotate command</a:t>
            </a:r>
          </a:p>
          <a:p>
            <a:pPr lvl="1"/>
            <a:r>
              <a:rPr lang="en-GB" dirty="0" smtClean="0"/>
              <a:t>Simple logic</a:t>
            </a:r>
          </a:p>
          <a:p>
            <a:pPr lvl="1"/>
            <a:endParaRPr lang="en-GB" dirty="0" smtClean="0"/>
          </a:p>
          <a:p>
            <a:pPr lvl="2"/>
            <a:endParaRPr lang="en-GB" dirty="0" smtClean="0"/>
          </a:p>
          <a:p>
            <a:pPr lvl="2"/>
            <a:endParaRPr lang="en-GB" dirty="0" smtClean="0"/>
          </a:p>
          <a:p>
            <a:pPr lvl="1"/>
            <a:endParaRPr lang="en-GB" dirty="0" smtClean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timer0 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err="1"/>
              <a:t>EEProm</a:t>
            </a:r>
            <a:r>
              <a:rPr lang="en-GB" sz="1100" dirty="0"/>
              <a:t>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I2C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SPI GCLD display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7  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chip – </a:t>
            </a:r>
            <a:r>
              <a:rPr lang="en-GB" sz="1100" dirty="0" err="1"/>
              <a:t>Progmem</a:t>
            </a:r>
            <a:r>
              <a:rPr lang="en-GB" sz="1100" dirty="0"/>
              <a:t>, SAF memory, EEPROM and DATA blocks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2888874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3805512" y="293179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 smtClean="0"/>
          </a:p>
        </p:txBody>
      </p:sp>
      <p:pic>
        <p:nvPicPr>
          <p:cNvPr id="10" name="Picture 2" descr="PIC18F46Q35-NHX-Regular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3795886"/>
            <a:ext cx="1280591" cy="112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8" descr="PIC18F46Q35-S2X-Regula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8316" y="3540195"/>
            <a:ext cx="2692623" cy="12569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9497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CstudioThemeLigh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GC Basic Fonts">
      <a:majorFont>
        <a:latin typeface="Microsoft YaHei"/>
        <a:ea typeface=""/>
        <a:cs typeface=""/>
      </a:majorFont>
      <a:minorFont>
        <a:latin typeface="Corbel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GCstudioThemeLight" id="{4C740F94-33C0-4EEC-9234-F56C348A0987}" vid="{A43F8B96-90D8-489D-B80F-92F9D6F351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Blue">
    <a:dk1>
      <a:sysClr val="windowText" lastClr="000000"/>
    </a:dk1>
    <a:lt1>
      <a:sysClr val="window" lastClr="FFFFFF"/>
    </a:lt1>
    <a:dk2>
      <a:srgbClr val="17406D"/>
    </a:dk2>
    <a:lt2>
      <a:srgbClr val="DBEF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F491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11808</TotalTime>
  <Words>757</Words>
  <Application>Microsoft Office PowerPoint</Application>
  <PresentationFormat>On-screen Show (16:9)</PresentationFormat>
  <Paragraphs>138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GCstudioThemeLight</vt:lpstr>
      <vt:lpstr>GCBASIC</vt:lpstr>
      <vt:lpstr>GCBASIC</vt:lpstr>
      <vt:lpstr>GCBASIC</vt:lpstr>
      <vt:lpstr>PIC18FxxQ35</vt:lpstr>
      <vt:lpstr>Videos...</vt:lpstr>
      <vt:lpstr>GCBASIC Compiler</vt:lpstr>
      <vt:lpstr>Prerequisites </vt:lpstr>
      <vt:lpstr>PowerPoint Presentation</vt:lpstr>
      <vt:lpstr>PowerPoint Presentation</vt:lpstr>
      <vt:lpstr>PowerPoint Presentation</vt:lpstr>
      <vt:lpstr>Make  four LEDs flash in a sequence</vt:lpstr>
      <vt:lpstr>Workshop</vt:lpstr>
      <vt:lpstr>PowerPoint Presentation</vt:lpstr>
      <vt:lpstr>Videos...</vt:lpstr>
      <vt:lpstr>GCBASIC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 Cow BASIC</dc:title>
  <dc:creator>admin</dc:creator>
  <cp:lastModifiedBy>admin</cp:lastModifiedBy>
  <cp:revision>731</cp:revision>
  <dcterms:created xsi:type="dcterms:W3CDTF">2019-01-08T20:03:06Z</dcterms:created>
  <dcterms:modified xsi:type="dcterms:W3CDTF">2026-08-06T06:25:04Z</dcterms:modified>
</cp:coreProperties>
</file>