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handoutMasterIdLst>
    <p:handoutMasterId r:id="rId43"/>
  </p:handoutMasterIdLst>
  <p:sldIdLst>
    <p:sldId id="364" r:id="rId2"/>
    <p:sldId id="365" r:id="rId3"/>
    <p:sldId id="366" r:id="rId4"/>
    <p:sldId id="367" r:id="rId5"/>
    <p:sldId id="368" r:id="rId6"/>
    <p:sldId id="369" r:id="rId7"/>
    <p:sldId id="370" r:id="rId8"/>
    <p:sldId id="371" r:id="rId9"/>
    <p:sldId id="372" r:id="rId10"/>
    <p:sldId id="373" r:id="rId11"/>
    <p:sldId id="361" r:id="rId12"/>
    <p:sldId id="338" r:id="rId13"/>
    <p:sldId id="339" r:id="rId14"/>
    <p:sldId id="340" r:id="rId15"/>
    <p:sldId id="362" r:id="rId16"/>
    <p:sldId id="363" r:id="rId17"/>
    <p:sldId id="341" r:id="rId18"/>
    <p:sldId id="342" r:id="rId19"/>
    <p:sldId id="343" r:id="rId20"/>
    <p:sldId id="344" r:id="rId21"/>
    <p:sldId id="345" r:id="rId22"/>
    <p:sldId id="346" r:id="rId23"/>
    <p:sldId id="347" r:id="rId24"/>
    <p:sldId id="348" r:id="rId25"/>
    <p:sldId id="349" r:id="rId26"/>
    <p:sldId id="350" r:id="rId27"/>
    <p:sldId id="351" r:id="rId28"/>
    <p:sldId id="352" r:id="rId29"/>
    <p:sldId id="353" r:id="rId30"/>
    <p:sldId id="354" r:id="rId31"/>
    <p:sldId id="355" r:id="rId32"/>
    <p:sldId id="356" r:id="rId33"/>
    <p:sldId id="357" r:id="rId34"/>
    <p:sldId id="358" r:id="rId35"/>
    <p:sldId id="359" r:id="rId36"/>
    <p:sldId id="360" r:id="rId37"/>
    <p:sldId id="335" r:id="rId38"/>
    <p:sldId id="288" r:id="rId39"/>
    <p:sldId id="330" r:id="rId40"/>
    <p:sldId id="374" r:id="rId41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 varScale="1">
        <p:scale>
          <a:sx n="79" d="100"/>
          <a:sy n="79" d="100"/>
        </p:scale>
        <p:origin x="-96" y="-111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12/08/2026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12/08/2026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12/08/2026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12/08/2026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12/08/2026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GB" sz="1400" dirty="0" smtClean="0"/>
              <a:t>PIC18FxxQ35chip Family</a:t>
            </a:r>
          </a:p>
          <a:p>
            <a:r>
              <a:rPr lang="en-GB" sz="1400" dirty="0"/>
              <a:t>Part 9 - Timers and Timer Interrupts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89612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3995936" y="329183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PIC18FxxQ35chip Family</a:t>
            </a:r>
          </a:p>
          <a:p>
            <a:r>
              <a:rPr lang="en-GB" dirty="0"/>
              <a:t>Part 9 - Timers and Timer Interrupts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7374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141" y="79363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subscribe!</a:t>
            </a:r>
          </a:p>
        </p:txBody>
      </p:sp>
      <p:pic>
        <p:nvPicPr>
          <p:cNvPr id="2050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PIC18F46Q35-S2X-Regular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6" descr="PIC18F46Q35-S2X-Regular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6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8144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PIC18FxxQ35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PIC18FxxQ35  is a high performance PIC18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PIC18FxxQ35 offers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7772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</a:t>
            </a:r>
            <a:r>
              <a:rPr lang="en-GB" sz="1100" dirty="0" smtClean="0"/>
              <a:t>– make LEDs work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3996829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4176464" cy="217877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18FxxQ35 chip family </a:t>
            </a:r>
          </a:p>
          <a:p>
            <a:endParaRPr lang="en-GB" dirty="0"/>
          </a:p>
          <a:p>
            <a:r>
              <a:rPr lang="en-GB" dirty="0"/>
              <a:t>GCBASIC now </a:t>
            </a:r>
            <a:r>
              <a:rPr lang="en-GB" dirty="0" smtClean="0"/>
              <a:t>supports 1400+ microcontrollers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0642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8" t="6534" r="2270" b="5416"/>
          <a:stretch/>
        </p:blipFill>
        <p:spPr bwMode="auto">
          <a:xfrm>
            <a:off x="251518" y="1026170"/>
            <a:ext cx="4635501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103003"/>
            <a:ext cx="6367321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04048" y="75944"/>
            <a:ext cx="3995936" cy="470898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dirty="0" smtClean="0"/>
              <a:t>1</a:t>
            </a:r>
            <a:r>
              <a:rPr lang="en-GB" sz="1000" dirty="0"/>
              <a:t>. 18-, 28- and 40-pin DIP sockets</a:t>
            </a:r>
          </a:p>
          <a:p>
            <a:r>
              <a:rPr lang="en-GB" sz="1000" dirty="0"/>
              <a:t>(although three sockets are provided, only one device may be used at a time)</a:t>
            </a:r>
          </a:p>
          <a:p>
            <a:r>
              <a:rPr lang="en-GB" sz="1000" dirty="0"/>
              <a:t>2. On-board, +5V regulator for direct input from 9V, 100 mA AC/DC wall adapter </a:t>
            </a:r>
            <a:r>
              <a:rPr lang="en-GB" sz="1000" dirty="0" smtClean="0"/>
              <a:t>or 9V </a:t>
            </a:r>
            <a:r>
              <a:rPr lang="en-GB" sz="1000" dirty="0"/>
              <a:t>battery, or hooks for a +5V, 100 mA regulated DC supply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3. RS-232 socket and associated hardware for direct connection to an </a:t>
            </a:r>
            <a:r>
              <a:rPr lang="en-GB" sz="1000" b="1" u="sng" dirty="0" smtClean="0">
                <a:solidFill>
                  <a:srgbClr val="FF0000"/>
                </a:solidFill>
              </a:rPr>
              <a:t>RS-232 interface</a:t>
            </a:r>
            <a:endParaRPr lang="en-GB" sz="1000" b="1" u="sng" dirty="0">
              <a:solidFill>
                <a:srgbClr val="FF0000"/>
              </a:solidFill>
            </a:endParaRPr>
          </a:p>
          <a:p>
            <a:r>
              <a:rPr lang="en-GB" sz="1000" dirty="0"/>
              <a:t>4. Programmer/debugger connectivity supporting MPLAB® ICD 3, MPLAB REAL</a:t>
            </a:r>
          </a:p>
          <a:p>
            <a:r>
              <a:rPr lang="en-GB" sz="1000" dirty="0"/>
              <a:t>ICE and </a:t>
            </a:r>
            <a:r>
              <a:rPr lang="en-GB" sz="1000" dirty="0" err="1"/>
              <a:t>PICkit</a:t>
            </a:r>
            <a:r>
              <a:rPr lang="en-GB" sz="1000" dirty="0"/>
              <a:t> 3</a:t>
            </a:r>
          </a:p>
          <a:p>
            <a:r>
              <a:rPr lang="en-GB" sz="1000" dirty="0"/>
              <a:t>5. </a:t>
            </a:r>
            <a:r>
              <a:rPr lang="en-GB" sz="1000" dirty="0" err="1"/>
              <a:t>PICkit</a:t>
            </a:r>
            <a:r>
              <a:rPr lang="en-GB" sz="1000" dirty="0"/>
              <a:t> Serial Connector for analysis of serial communications peripherals </a:t>
            </a:r>
            <a:r>
              <a:rPr lang="en-GB" sz="1000" dirty="0" smtClean="0"/>
              <a:t>such as </a:t>
            </a:r>
            <a:r>
              <a:rPr lang="en-GB" sz="1000" dirty="0"/>
              <a:t>SPI or I2C™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6. 5 </a:t>
            </a:r>
            <a:r>
              <a:rPr lang="en-GB" sz="1000" b="1" u="sng" dirty="0" smtClean="0">
                <a:solidFill>
                  <a:srgbClr val="FF0000"/>
                </a:solidFill>
              </a:rPr>
              <a:t>k </a:t>
            </a:r>
            <a:r>
              <a:rPr lang="en-GB" sz="1000" b="1" u="sng" dirty="0">
                <a:solidFill>
                  <a:srgbClr val="FF0000"/>
                </a:solidFill>
              </a:rPr>
              <a:t>pot for devices with </a:t>
            </a:r>
            <a:r>
              <a:rPr lang="en-GB" sz="1000" b="1" u="sng" dirty="0" err="1">
                <a:solidFill>
                  <a:srgbClr val="FF0000"/>
                </a:solidFill>
              </a:rPr>
              <a:t>analog</a:t>
            </a:r>
            <a:r>
              <a:rPr lang="en-GB" sz="1000" b="1" u="sng" dirty="0">
                <a:solidFill>
                  <a:srgbClr val="FF0000"/>
                </a:solidFill>
              </a:rPr>
              <a:t> inputs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7. Three push button switches for external stimulus and Reset</a:t>
            </a:r>
          </a:p>
          <a:p>
            <a:r>
              <a:rPr lang="en-GB" sz="1000" dirty="0"/>
              <a:t>8. Power-on indicator LED</a:t>
            </a:r>
          </a:p>
          <a:p>
            <a:r>
              <a:rPr lang="en-GB" sz="1000" dirty="0">
                <a:solidFill>
                  <a:srgbClr val="FF0000"/>
                </a:solidFill>
              </a:rPr>
              <a:t>9. </a:t>
            </a:r>
            <a:r>
              <a:rPr lang="en-GB" sz="1000" b="1" u="sng" dirty="0">
                <a:solidFill>
                  <a:srgbClr val="FF0000"/>
                </a:solidFill>
              </a:rPr>
              <a:t>Four LEDs connected to PORTB</a:t>
            </a:r>
          </a:p>
          <a:p>
            <a:r>
              <a:rPr lang="en-GB" sz="1000" dirty="0"/>
              <a:t>10. On-board external oscillators including:</a:t>
            </a:r>
          </a:p>
          <a:p>
            <a:r>
              <a:rPr lang="en-GB" sz="1000" dirty="0"/>
              <a:t>a) Unpopulated DIP socket for canned crystal oscillator (Y2)</a:t>
            </a:r>
          </a:p>
          <a:p>
            <a:r>
              <a:rPr lang="en-GB" sz="1000" dirty="0"/>
              <a:t>b) RC oscillator circuit (R4, C3)</a:t>
            </a:r>
          </a:p>
          <a:p>
            <a:r>
              <a:rPr lang="en-GB" sz="1000" dirty="0"/>
              <a:t>c) Unpopulated holes for crystal connection (Y1)</a:t>
            </a:r>
          </a:p>
          <a:p>
            <a:r>
              <a:rPr lang="en-GB" sz="1000" dirty="0"/>
              <a:t>d) 32.768 kHz crystal for Timer1 clock operation (Y3)</a:t>
            </a:r>
            <a:br>
              <a:rPr lang="en-GB" sz="1000" dirty="0"/>
            </a:br>
            <a:r>
              <a:rPr lang="en-GB" sz="1000" dirty="0"/>
              <a:t>11. 32K x 8 Serial EEPROM</a:t>
            </a:r>
          </a:p>
          <a:p>
            <a:r>
              <a:rPr lang="en-GB" sz="1000" dirty="0"/>
              <a:t>12. LCD display</a:t>
            </a:r>
          </a:p>
          <a:p>
            <a:r>
              <a:rPr lang="en-GB" sz="1000" dirty="0"/>
              <a:t>13. </a:t>
            </a:r>
            <a:r>
              <a:rPr lang="en-GB" sz="1000" dirty="0" err="1"/>
              <a:t>Piezo</a:t>
            </a:r>
            <a:r>
              <a:rPr lang="en-GB" sz="1000" dirty="0"/>
              <a:t> buzzer</a:t>
            </a:r>
          </a:p>
          <a:p>
            <a:r>
              <a:rPr lang="en-GB" sz="1000" dirty="0"/>
              <a:t>14. Prototype area for user hardware</a:t>
            </a:r>
          </a:p>
          <a:p>
            <a:r>
              <a:rPr lang="en-GB" sz="1000" dirty="0"/>
              <a:t>15. Expansion Header for </a:t>
            </a:r>
            <a:r>
              <a:rPr lang="en-GB" sz="1000" dirty="0" err="1"/>
              <a:t>PICtail</a:t>
            </a:r>
            <a:r>
              <a:rPr lang="en-GB" sz="1000" dirty="0"/>
              <a:t>™ daughter card connectivity or user access to</a:t>
            </a:r>
          </a:p>
          <a:p>
            <a:r>
              <a:rPr lang="en-GB" sz="1000" dirty="0"/>
              <a:t>MCU pins</a:t>
            </a:r>
          </a:p>
          <a:p>
            <a:r>
              <a:rPr lang="en-GB" sz="1000" dirty="0"/>
              <a:t>16. Microchip TC74 thermal sensor</a:t>
            </a:r>
          </a:p>
        </p:txBody>
      </p:sp>
      <p:sp>
        <p:nvSpPr>
          <p:cNvPr id="2" name="Oval 1"/>
          <p:cNvSpPr/>
          <p:nvPr/>
        </p:nvSpPr>
        <p:spPr>
          <a:xfrm>
            <a:off x="1441760" y="2445270"/>
            <a:ext cx="21602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23528" y="2565676"/>
            <a:ext cx="21602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50" b="1" dirty="0" smtClean="0">
                <a:solidFill>
                  <a:srgbClr val="FF0000"/>
                </a:solidFill>
              </a:rPr>
              <a:t>3A</a:t>
            </a:r>
            <a:endParaRPr lang="en-GB" sz="1050" b="1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539552" y="2589286"/>
            <a:ext cx="902208" cy="12040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8276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03003"/>
            <a:ext cx="9144000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853187"/>
            <a:ext cx="6480719" cy="43926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382635" y="1321402"/>
            <a:ext cx="1152128" cy="7975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2123728" y="1788318"/>
            <a:ext cx="963101" cy="7834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012160" y="2787774"/>
            <a:ext cx="1440160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621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57014"/>
            <a:ext cx="5400600" cy="990600"/>
          </a:xfrm>
        </p:spPr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Schematic</a:t>
            </a:r>
            <a:endParaRPr lang="en-GB" dirty="0"/>
          </a:p>
        </p:txBody>
      </p:sp>
      <p:sp>
        <p:nvSpPr>
          <p:cNvPr id="5" name="AutoShape 4" descr="Upload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Uploaded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8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389392"/>
            <a:ext cx="2227213" cy="1894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834" y="2571750"/>
            <a:ext cx="2948491" cy="1847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641351"/>
            <a:ext cx="5146904" cy="2646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>
          <a:xfrm>
            <a:off x="2123728" y="2211710"/>
            <a:ext cx="288032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2123728" y="2434084"/>
            <a:ext cx="288032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2195736" y="1779662"/>
            <a:ext cx="0" cy="50437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225079" y="1412379"/>
            <a:ext cx="2028761" cy="35394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USART  TTL SIGNAL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745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VDDIO2 Domain Power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3995936" y="2100649"/>
            <a:ext cx="3372590" cy="8771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 smtClean="0"/>
              <a:t>Think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No VDDIO2 power – no domain I/O!</a:t>
            </a:r>
            <a:endParaRPr lang="en-GB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68" y="987574"/>
            <a:ext cx="3213668" cy="3988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9812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Timer Primer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6592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199"/>
          <p:cNvSpPr/>
          <p:nvPr/>
        </p:nvSpPr>
        <p:spPr>
          <a:xfrm>
            <a:off x="683568" y="1794178"/>
            <a:ext cx="610242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 smtClean="0"/>
              <a:t>Timers generate the accurate time delays.  The microcontroller can also generate/measure the required time delays by running loops, in your program, but the timer/counter relieves the CPU from that operation by using the </a:t>
            </a:r>
            <a:r>
              <a:rPr lang="en-GB" sz="1200" dirty="0" err="1" smtClean="0"/>
              <a:t>prescalar</a:t>
            </a:r>
            <a:r>
              <a:rPr lang="en-GB" sz="1200" dirty="0" smtClean="0"/>
              <a:t> and </a:t>
            </a:r>
            <a:r>
              <a:rPr lang="en-GB" sz="1200" dirty="0" err="1" smtClean="0"/>
              <a:t>postscalar</a:t>
            </a:r>
            <a:r>
              <a:rPr lang="en-GB" sz="1200" dirty="0" smtClean="0"/>
              <a:t/>
            </a:r>
            <a:br>
              <a:rPr lang="en-GB" sz="1200" dirty="0" smtClean="0"/>
            </a:br>
            <a:r>
              <a:rPr lang="en-GB" sz="1200" dirty="0" smtClean="0"/>
              <a:t/>
            </a:r>
            <a:br>
              <a:rPr lang="en-GB" sz="1200" dirty="0" smtClean="0"/>
            </a:br>
            <a:r>
              <a:rPr lang="en-GB" sz="1200" dirty="0" smtClean="0"/>
              <a:t>A timer is nothing but a simple binary counter that can be configured to count clock pulses(Internal/External). A register increments from a specific value.  Once it reaches the maximum value, it will roll back to zero setting up an </a:t>
            </a:r>
            <a:r>
              <a:rPr lang="en-GB" sz="1200" b="1" dirty="0" err="1" smtClean="0"/>
              <a:t>OverFlow</a:t>
            </a:r>
            <a:r>
              <a:rPr lang="en-GB" sz="1200" dirty="0" smtClean="0"/>
              <a:t> flag and generates the interrupt ... if enabled.</a:t>
            </a:r>
            <a:endParaRPr lang="en-GB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3559463"/>
            <a:ext cx="5880844" cy="1028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Timer Block Diagram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527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1" y="2931790"/>
            <a:ext cx="8282037" cy="1963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 l="1429" r="11396"/>
          <a:stretch>
            <a:fillRect/>
          </a:stretch>
        </p:blipFill>
        <p:spPr bwMode="auto">
          <a:xfrm>
            <a:off x="304105" y="1567911"/>
            <a:ext cx="4392488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58258" y="850724"/>
            <a:ext cx="4062214" cy="2119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Timer </a:t>
            </a:r>
            <a:r>
              <a:rPr lang="en-GB" dirty="0" smtClean="0"/>
              <a:t>Overview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810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331640" y="1948060"/>
            <a:ext cx="6439799" cy="2495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2411760" y="2213744"/>
            <a:ext cx="378966" cy="19201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32012" y="1633364"/>
            <a:ext cx="1150612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6660232" y="1995686"/>
            <a:ext cx="648072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6588224" y="2715766"/>
            <a:ext cx="64807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3205361" y="2570039"/>
            <a:ext cx="64807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5261370" y="2715766"/>
            <a:ext cx="64807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1711276" y="3189933"/>
            <a:ext cx="64807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Timer0 block diagram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4481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Timer0 block diagram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576" y="1347614"/>
            <a:ext cx="4567640" cy="3723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Connector 4"/>
          <p:cNvCxnSpPr/>
          <p:nvPr/>
        </p:nvCxnSpPr>
        <p:spPr>
          <a:xfrm flipV="1">
            <a:off x="2555776" y="2282342"/>
            <a:ext cx="1891866" cy="9272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3995936" y="2282342"/>
            <a:ext cx="766259" cy="10796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72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Timer0 block diagram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576" y="1347614"/>
            <a:ext cx="4567640" cy="3723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Connector 4"/>
          <p:cNvCxnSpPr/>
          <p:nvPr/>
        </p:nvCxnSpPr>
        <p:spPr>
          <a:xfrm flipH="1" flipV="1">
            <a:off x="4447642" y="2282342"/>
            <a:ext cx="124358" cy="106070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 flipV="1">
            <a:off x="4762195" y="2282342"/>
            <a:ext cx="1537997" cy="10796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225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Clock Select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>
                <a:solidFill>
                  <a:schemeClr val="tx1"/>
                </a:solidFill>
              </a:rPr>
              <a:t>Prescalar</a:t>
            </a:r>
            <a:endParaRPr lang="en-GB" sz="1000" dirty="0" smtClean="0">
              <a:solidFill>
                <a:schemeClr val="tx1"/>
              </a:solidFill>
            </a:endParaRPr>
          </a:p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1..32768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tx1"/>
              </a:solidFill>
            </a:endParaRPr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>
                <a:solidFill>
                  <a:schemeClr val="tx1"/>
                </a:solidFill>
              </a:rPr>
              <a:t>Postscalar</a:t>
            </a:r>
            <a:endParaRPr lang="en-GB" sz="1000" dirty="0" smtClean="0">
              <a:solidFill>
                <a:schemeClr val="tx1"/>
              </a:solidFill>
            </a:endParaRPr>
          </a:p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1..16</a:t>
            </a:r>
            <a:endParaRPr lang="en-GB" sz="1000" dirty="0">
              <a:solidFill>
                <a:schemeClr val="tx1"/>
              </a:solidFill>
            </a:endParaRPr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707344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Timer Counter  </a:t>
            </a:r>
            <a:r>
              <a:rPr lang="en-GB" sz="1000" dirty="0" err="1" smtClean="0">
                <a:solidFill>
                  <a:schemeClr val="tx1"/>
                </a:solidFill>
              </a:rPr>
              <a:t>nn</a:t>
            </a:r>
            <a:r>
              <a:rPr lang="en-GB" sz="1000" dirty="0" smtClean="0">
                <a:solidFill>
                  <a:schemeClr val="tx1"/>
                </a:solidFill>
              </a:rPr>
              <a:t>..FF.00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185" name="Rounded Rectangle 184"/>
          <p:cNvSpPr/>
          <p:nvPr/>
        </p:nvSpPr>
        <p:spPr>
          <a:xfrm>
            <a:off x="7035432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Timer Overflow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186" name="Flowchart: Delay 185"/>
          <p:cNvSpPr/>
          <p:nvPr/>
        </p:nvSpPr>
        <p:spPr>
          <a:xfrm>
            <a:off x="8136669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IE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188" name="Elbow Connector 187"/>
          <p:cNvCxnSpPr/>
          <p:nvPr/>
        </p:nvCxnSpPr>
        <p:spPr>
          <a:xfrm rot="5400000" flipH="1" flipV="1">
            <a:off x="7815773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/>
          <p:cNvCxnSpPr/>
          <p:nvPr/>
        </p:nvCxnSpPr>
        <p:spPr>
          <a:xfrm flipV="1">
            <a:off x="5364090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/>
          <p:cNvCxnSpPr/>
          <p:nvPr/>
        </p:nvCxnSpPr>
        <p:spPr>
          <a:xfrm flipV="1">
            <a:off x="6539488" y="2087881"/>
            <a:ext cx="493772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/>
          <p:cNvCxnSpPr/>
          <p:nvPr/>
        </p:nvCxnSpPr>
        <p:spPr>
          <a:xfrm flipV="1">
            <a:off x="7812362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/>
          <p:cNvCxnSpPr/>
          <p:nvPr/>
        </p:nvCxnSpPr>
        <p:spPr>
          <a:xfrm flipV="1">
            <a:off x="8629361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5580112" y="2427734"/>
            <a:ext cx="114005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 dirty="0" smtClean="0"/>
              <a:t>Counter Resets to Zero</a:t>
            </a:r>
            <a:endParaRPr lang="en-GB" sz="800" dirty="0"/>
          </a:p>
        </p:txBody>
      </p:sp>
      <p:sp>
        <p:nvSpPr>
          <p:cNvPr id="196" name="TextBox 195"/>
          <p:cNvSpPr txBox="1"/>
          <p:nvPr/>
        </p:nvSpPr>
        <p:spPr>
          <a:xfrm>
            <a:off x="6493006" y="1866900"/>
            <a:ext cx="569387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 dirty="0" smtClean="0"/>
              <a:t>Overflow</a:t>
            </a:r>
            <a:endParaRPr lang="en-GB" sz="800" dirty="0"/>
          </a:p>
        </p:txBody>
      </p:sp>
      <p:sp>
        <p:nvSpPr>
          <p:cNvPr id="198" name="TextBox 197"/>
          <p:cNvSpPr txBox="1"/>
          <p:nvPr/>
        </p:nvSpPr>
        <p:spPr>
          <a:xfrm>
            <a:off x="8594107" y="1760220"/>
            <a:ext cx="562975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 dirty="0" smtClean="0"/>
              <a:t>Interrupt</a:t>
            </a:r>
            <a:endParaRPr lang="en-GB" sz="800" dirty="0"/>
          </a:p>
        </p:txBody>
      </p: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200" name="Rectangle 199"/>
          <p:cNvSpPr/>
          <p:nvPr/>
        </p:nvSpPr>
        <p:spPr>
          <a:xfrm>
            <a:off x="1763688" y="3363838"/>
            <a:ext cx="6102424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100" dirty="0" smtClean="0"/>
              <a:t>Timers generate the accurate time delays.  The microcontroller can also generate/measure the required time delays by running loops, in your program, but the timer/counter relieves the CPU from that operation by using the </a:t>
            </a:r>
            <a:r>
              <a:rPr lang="en-GB" sz="1100" dirty="0" err="1" smtClean="0"/>
              <a:t>prescalar</a:t>
            </a:r>
            <a:r>
              <a:rPr lang="en-GB" sz="1100" dirty="0" smtClean="0"/>
              <a:t> and </a:t>
            </a:r>
            <a:r>
              <a:rPr lang="en-GB" sz="1100" dirty="0" err="1" smtClean="0"/>
              <a:t>postscalar</a:t>
            </a:r>
            <a:r>
              <a:rPr lang="en-GB" sz="1100" dirty="0" smtClean="0"/>
              <a:t/>
            </a:r>
            <a:br>
              <a:rPr lang="en-GB" sz="1100" dirty="0" smtClean="0"/>
            </a:br>
            <a:r>
              <a:rPr lang="en-GB" sz="1100" dirty="0" smtClean="0"/>
              <a:t/>
            </a:r>
            <a:br>
              <a:rPr lang="en-GB" sz="1100" dirty="0" smtClean="0"/>
            </a:br>
            <a:r>
              <a:rPr lang="en-GB" sz="1100" dirty="0" smtClean="0"/>
              <a:t>A timer is nothing but a simple binary counter that can be configured to count clock pulses(Internal/External). A register increments from a specific value.  Once it reaches the maximum value, it will roll back to zero setting up an </a:t>
            </a:r>
            <a:r>
              <a:rPr lang="en-GB" sz="1100" b="1" dirty="0" err="1" smtClean="0"/>
              <a:t>OverFlow</a:t>
            </a:r>
            <a:r>
              <a:rPr lang="en-GB" sz="1100" dirty="0" smtClean="0"/>
              <a:t> flag and generates the interrupt ... if enabled.</a:t>
            </a:r>
            <a:endParaRPr lang="en-GB" sz="1100" dirty="0"/>
          </a:p>
        </p:txBody>
      </p:sp>
      <p:sp>
        <p:nvSpPr>
          <p:cNvPr id="30" name="TextBox 29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  <p:sp>
        <p:nvSpPr>
          <p:cNvPr id="187" name="TextBox 186"/>
          <p:cNvSpPr txBox="1"/>
          <p:nvPr/>
        </p:nvSpPr>
        <p:spPr>
          <a:xfrm>
            <a:off x="7586051" y="2725513"/>
            <a:ext cx="1039067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Interrupt Enable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2439700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539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3389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5203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9003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8196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536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30" name="TextBox 29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1588370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707344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Counter  B1</a:t>
            </a:r>
            <a:endParaRPr lang="en-GB" sz="1000" dirty="0"/>
          </a:p>
        </p:txBody>
      </p:sp>
      <p:cxnSp>
        <p:nvCxnSpPr>
          <p:cNvPr id="190" name="Straight Arrow Connector 189"/>
          <p:cNvCxnSpPr/>
          <p:nvPr/>
        </p:nvCxnSpPr>
        <p:spPr>
          <a:xfrm flipV="1">
            <a:off x="5364090" y="2067695"/>
            <a:ext cx="335129" cy="4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117" name="Rounded Rectangle 116"/>
          <p:cNvSpPr/>
          <p:nvPr/>
        </p:nvSpPr>
        <p:spPr>
          <a:xfrm>
            <a:off x="7035432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Overflow</a:t>
            </a:r>
          </a:p>
          <a:p>
            <a:pPr algn="ctr"/>
            <a:r>
              <a:rPr lang="en-GB" sz="1000" dirty="0" smtClean="0"/>
              <a:t>0</a:t>
            </a:r>
            <a:endParaRPr lang="en-GB" sz="1000" dirty="0"/>
          </a:p>
        </p:txBody>
      </p:sp>
      <p:cxnSp>
        <p:nvCxnSpPr>
          <p:cNvPr id="123" name="Straight Arrow Connector 122"/>
          <p:cNvCxnSpPr/>
          <p:nvPr/>
        </p:nvCxnSpPr>
        <p:spPr>
          <a:xfrm flipV="1">
            <a:off x="6539488" y="2087881"/>
            <a:ext cx="493772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sp>
        <p:nvSpPr>
          <p:cNvPr id="124" name="TextBox 123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  <p:sp>
        <p:nvSpPr>
          <p:cNvPr id="122" name="TextBox 121"/>
          <p:cNvSpPr txBox="1"/>
          <p:nvPr/>
        </p:nvSpPr>
        <p:spPr>
          <a:xfrm>
            <a:off x="5382604" y="2474450"/>
            <a:ext cx="151881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Set timer value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020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707344" y="1817068"/>
            <a:ext cx="795336" cy="511001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Counter  B1</a:t>
            </a:r>
            <a:endParaRPr lang="en-GB" sz="1000" dirty="0"/>
          </a:p>
        </p:txBody>
      </p:sp>
      <p:cxnSp>
        <p:nvCxnSpPr>
          <p:cNvPr id="190" name="Straight Arrow Connector 189"/>
          <p:cNvCxnSpPr/>
          <p:nvPr/>
        </p:nvCxnSpPr>
        <p:spPr>
          <a:xfrm flipV="1">
            <a:off x="5364090" y="2067695"/>
            <a:ext cx="335129" cy="4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117" name="Rounded Rectangle 116"/>
          <p:cNvSpPr/>
          <p:nvPr/>
        </p:nvSpPr>
        <p:spPr>
          <a:xfrm>
            <a:off x="7035432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Overflow</a:t>
            </a:r>
          </a:p>
          <a:p>
            <a:pPr algn="ctr"/>
            <a:r>
              <a:rPr lang="en-GB" sz="1000" dirty="0" smtClean="0"/>
              <a:t>0</a:t>
            </a:r>
            <a:endParaRPr lang="en-GB" sz="1000" dirty="0"/>
          </a:p>
        </p:txBody>
      </p:sp>
      <p:cxnSp>
        <p:nvCxnSpPr>
          <p:cNvPr id="123" name="Straight Arrow Connector 122"/>
          <p:cNvCxnSpPr/>
          <p:nvPr/>
        </p:nvCxnSpPr>
        <p:spPr>
          <a:xfrm flipV="1">
            <a:off x="6539488" y="2087881"/>
            <a:ext cx="493772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sp>
        <p:nvSpPr>
          <p:cNvPr id="124" name="TextBox 123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2425289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707344" y="1817068"/>
            <a:ext cx="795336" cy="511001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Counter  B2</a:t>
            </a:r>
            <a:endParaRPr lang="en-GB" sz="1000" dirty="0"/>
          </a:p>
        </p:txBody>
      </p:sp>
      <p:cxnSp>
        <p:nvCxnSpPr>
          <p:cNvPr id="190" name="Straight Arrow Connector 189"/>
          <p:cNvCxnSpPr/>
          <p:nvPr/>
        </p:nvCxnSpPr>
        <p:spPr>
          <a:xfrm flipV="1">
            <a:off x="5364090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103" name="Rounded Rectangle 102"/>
          <p:cNvSpPr/>
          <p:nvPr/>
        </p:nvSpPr>
        <p:spPr>
          <a:xfrm>
            <a:off x="7035432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Overflow</a:t>
            </a:r>
          </a:p>
          <a:p>
            <a:pPr algn="ctr"/>
            <a:r>
              <a:rPr lang="en-GB" sz="1000" dirty="0" smtClean="0"/>
              <a:t>0</a:t>
            </a:r>
            <a:endParaRPr lang="en-GB" sz="1000" dirty="0"/>
          </a:p>
        </p:txBody>
      </p:sp>
      <p:cxnSp>
        <p:nvCxnSpPr>
          <p:cNvPr id="117" name="Straight Arrow Connector 116"/>
          <p:cNvCxnSpPr/>
          <p:nvPr/>
        </p:nvCxnSpPr>
        <p:spPr>
          <a:xfrm flipV="1">
            <a:off x="6539488" y="2087881"/>
            <a:ext cx="493772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2186986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707344" y="1817068"/>
            <a:ext cx="795336" cy="511001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Counter  B3</a:t>
            </a:r>
            <a:endParaRPr lang="en-GB" sz="1000" dirty="0"/>
          </a:p>
        </p:txBody>
      </p:sp>
      <p:cxnSp>
        <p:nvCxnSpPr>
          <p:cNvPr id="190" name="Straight Arrow Connector 189"/>
          <p:cNvCxnSpPr/>
          <p:nvPr/>
        </p:nvCxnSpPr>
        <p:spPr>
          <a:xfrm flipV="1">
            <a:off x="5364090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103" name="Rounded Rectangle 102"/>
          <p:cNvSpPr/>
          <p:nvPr/>
        </p:nvSpPr>
        <p:spPr>
          <a:xfrm>
            <a:off x="7035432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Overflow</a:t>
            </a:r>
          </a:p>
          <a:p>
            <a:pPr algn="ctr"/>
            <a:r>
              <a:rPr lang="en-GB" sz="1000" dirty="0" smtClean="0"/>
              <a:t>0</a:t>
            </a:r>
            <a:endParaRPr lang="en-GB" sz="1000" dirty="0"/>
          </a:p>
        </p:txBody>
      </p:sp>
      <p:cxnSp>
        <p:nvCxnSpPr>
          <p:cNvPr id="117" name="Straight Arrow Connector 116"/>
          <p:cNvCxnSpPr/>
          <p:nvPr/>
        </p:nvCxnSpPr>
        <p:spPr>
          <a:xfrm flipV="1">
            <a:off x="6539488" y="2087881"/>
            <a:ext cx="493772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428420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707344" y="1817068"/>
            <a:ext cx="795336" cy="511001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Counter  </a:t>
            </a:r>
          </a:p>
          <a:p>
            <a:pPr algn="ctr"/>
            <a:r>
              <a:rPr lang="en-GB" sz="1000" dirty="0" smtClean="0"/>
              <a:t>..</a:t>
            </a:r>
            <a:endParaRPr lang="en-GB" sz="1000" dirty="0"/>
          </a:p>
        </p:txBody>
      </p:sp>
      <p:cxnSp>
        <p:nvCxnSpPr>
          <p:cNvPr id="190" name="Straight Arrow Connector 189"/>
          <p:cNvCxnSpPr/>
          <p:nvPr/>
        </p:nvCxnSpPr>
        <p:spPr>
          <a:xfrm flipV="1">
            <a:off x="5364090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103" name="Rounded Rectangle 102"/>
          <p:cNvSpPr/>
          <p:nvPr/>
        </p:nvSpPr>
        <p:spPr>
          <a:xfrm>
            <a:off x="7035432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Overflow</a:t>
            </a:r>
          </a:p>
          <a:p>
            <a:pPr algn="ctr"/>
            <a:r>
              <a:rPr lang="en-GB" sz="1000" dirty="0" smtClean="0"/>
              <a:t>0</a:t>
            </a:r>
            <a:endParaRPr lang="en-GB" sz="1000" dirty="0"/>
          </a:p>
        </p:txBody>
      </p:sp>
      <p:cxnSp>
        <p:nvCxnSpPr>
          <p:cNvPr id="117" name="Straight Arrow Connector 116"/>
          <p:cNvCxnSpPr/>
          <p:nvPr/>
        </p:nvCxnSpPr>
        <p:spPr>
          <a:xfrm flipV="1">
            <a:off x="6539488" y="2087881"/>
            <a:ext cx="493772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1309563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707344" y="1817068"/>
            <a:ext cx="795336" cy="511001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Counter  FE</a:t>
            </a:r>
            <a:endParaRPr lang="en-GB" sz="1000" dirty="0"/>
          </a:p>
        </p:txBody>
      </p:sp>
      <p:cxnSp>
        <p:nvCxnSpPr>
          <p:cNvPr id="190" name="Straight Arrow Connector 189"/>
          <p:cNvCxnSpPr/>
          <p:nvPr/>
        </p:nvCxnSpPr>
        <p:spPr>
          <a:xfrm flipV="1">
            <a:off x="5364090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103" name="Rounded Rectangle 102"/>
          <p:cNvSpPr/>
          <p:nvPr/>
        </p:nvSpPr>
        <p:spPr>
          <a:xfrm>
            <a:off x="7035432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Overflow</a:t>
            </a:r>
          </a:p>
          <a:p>
            <a:pPr algn="ctr"/>
            <a:r>
              <a:rPr lang="en-GB" sz="1000" dirty="0" smtClean="0"/>
              <a:t>0</a:t>
            </a:r>
            <a:endParaRPr lang="en-GB" sz="1000" dirty="0"/>
          </a:p>
        </p:txBody>
      </p:sp>
      <p:cxnSp>
        <p:nvCxnSpPr>
          <p:cNvPr id="117" name="Straight Arrow Connector 116"/>
          <p:cNvCxnSpPr/>
          <p:nvPr/>
        </p:nvCxnSpPr>
        <p:spPr>
          <a:xfrm flipV="1">
            <a:off x="6539488" y="2087881"/>
            <a:ext cx="493772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81068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707344" y="1817068"/>
            <a:ext cx="795336" cy="511001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Counter  FF</a:t>
            </a:r>
            <a:endParaRPr lang="en-GB" sz="1000" dirty="0"/>
          </a:p>
        </p:txBody>
      </p:sp>
      <p:cxnSp>
        <p:nvCxnSpPr>
          <p:cNvPr id="190" name="Straight Arrow Connector 189"/>
          <p:cNvCxnSpPr/>
          <p:nvPr/>
        </p:nvCxnSpPr>
        <p:spPr>
          <a:xfrm flipV="1">
            <a:off x="5364090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103" name="Rounded Rectangle 102"/>
          <p:cNvSpPr/>
          <p:nvPr/>
        </p:nvSpPr>
        <p:spPr>
          <a:xfrm>
            <a:off x="7035432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Overflow</a:t>
            </a:r>
          </a:p>
          <a:p>
            <a:pPr algn="ctr"/>
            <a:r>
              <a:rPr lang="en-GB" sz="1000" dirty="0" smtClean="0"/>
              <a:t>0</a:t>
            </a:r>
            <a:endParaRPr lang="en-GB" sz="1000" dirty="0"/>
          </a:p>
        </p:txBody>
      </p:sp>
      <p:cxnSp>
        <p:nvCxnSpPr>
          <p:cNvPr id="117" name="Straight Arrow Connector 116"/>
          <p:cNvCxnSpPr/>
          <p:nvPr/>
        </p:nvCxnSpPr>
        <p:spPr>
          <a:xfrm flipV="1">
            <a:off x="6539488" y="2087881"/>
            <a:ext cx="493772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229217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707344" y="1817068"/>
            <a:ext cx="795336" cy="511001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Counter  00</a:t>
            </a:r>
            <a:endParaRPr lang="en-GB" sz="1000" dirty="0"/>
          </a:p>
        </p:txBody>
      </p:sp>
      <p:cxnSp>
        <p:nvCxnSpPr>
          <p:cNvPr id="190" name="Straight Arrow Connector 189"/>
          <p:cNvCxnSpPr/>
          <p:nvPr/>
        </p:nvCxnSpPr>
        <p:spPr>
          <a:xfrm flipV="1">
            <a:off x="5364090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103" name="TextBox 102"/>
          <p:cNvSpPr txBox="1"/>
          <p:nvPr/>
        </p:nvSpPr>
        <p:spPr>
          <a:xfrm>
            <a:off x="5580112" y="2427734"/>
            <a:ext cx="114005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 dirty="0" smtClean="0">
                <a:solidFill>
                  <a:srgbClr val="FF0000"/>
                </a:solidFill>
              </a:rPr>
              <a:t>Counter Resets to Zero</a:t>
            </a:r>
            <a:endParaRPr lang="en-GB" sz="800" dirty="0">
              <a:solidFill>
                <a:srgbClr val="FF0000"/>
              </a:solidFill>
            </a:endParaRPr>
          </a:p>
        </p:txBody>
      </p:sp>
      <p:sp>
        <p:nvSpPr>
          <p:cNvPr id="117" name="Rounded Rectangle 116"/>
          <p:cNvSpPr/>
          <p:nvPr/>
        </p:nvSpPr>
        <p:spPr>
          <a:xfrm>
            <a:off x="7035432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Overflow</a:t>
            </a:r>
          </a:p>
          <a:p>
            <a:pPr algn="ctr"/>
            <a:r>
              <a:rPr lang="en-GB" sz="1000" dirty="0" smtClean="0"/>
              <a:t>0</a:t>
            </a:r>
            <a:endParaRPr lang="en-GB" sz="1000" dirty="0"/>
          </a:p>
        </p:txBody>
      </p:sp>
      <p:cxnSp>
        <p:nvCxnSpPr>
          <p:cNvPr id="122" name="Straight Arrow Connector 121"/>
          <p:cNvCxnSpPr/>
          <p:nvPr/>
        </p:nvCxnSpPr>
        <p:spPr>
          <a:xfrm flipV="1">
            <a:off x="6539488" y="2087881"/>
            <a:ext cx="493772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3343312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707344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Counter  00</a:t>
            </a:r>
            <a:endParaRPr lang="en-GB" sz="1000" dirty="0"/>
          </a:p>
        </p:txBody>
      </p:sp>
      <p:sp>
        <p:nvSpPr>
          <p:cNvPr id="185" name="Rounded Rectangle 184"/>
          <p:cNvSpPr/>
          <p:nvPr/>
        </p:nvSpPr>
        <p:spPr>
          <a:xfrm>
            <a:off x="7035432" y="1817068"/>
            <a:ext cx="795336" cy="511001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Overflow</a:t>
            </a:r>
          </a:p>
          <a:p>
            <a:pPr algn="ctr"/>
            <a:r>
              <a:rPr lang="en-GB" sz="1000" b="1" dirty="0" smtClean="0"/>
              <a:t>1</a:t>
            </a:r>
            <a:endParaRPr lang="en-GB" sz="1000" b="1" dirty="0"/>
          </a:p>
        </p:txBody>
      </p:sp>
      <p:cxnSp>
        <p:nvCxnSpPr>
          <p:cNvPr id="190" name="Straight Arrow Connector 189"/>
          <p:cNvCxnSpPr/>
          <p:nvPr/>
        </p:nvCxnSpPr>
        <p:spPr>
          <a:xfrm flipV="1">
            <a:off x="5364090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/>
          <p:cNvCxnSpPr/>
          <p:nvPr/>
        </p:nvCxnSpPr>
        <p:spPr>
          <a:xfrm flipV="1">
            <a:off x="6539488" y="2087881"/>
            <a:ext cx="493772" cy="4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5580112" y="2427734"/>
            <a:ext cx="114005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 dirty="0" smtClean="0"/>
              <a:t>Counter Resets to Zero</a:t>
            </a:r>
            <a:endParaRPr lang="en-GB" sz="800" dirty="0"/>
          </a:p>
        </p:txBody>
      </p:sp>
      <p:sp>
        <p:nvSpPr>
          <p:cNvPr id="196" name="TextBox 195"/>
          <p:cNvSpPr txBox="1"/>
          <p:nvPr/>
        </p:nvSpPr>
        <p:spPr>
          <a:xfrm>
            <a:off x="6493006" y="1866900"/>
            <a:ext cx="569387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 dirty="0" smtClean="0">
                <a:solidFill>
                  <a:srgbClr val="FF0000"/>
                </a:solidFill>
              </a:rPr>
              <a:t>Overflow</a:t>
            </a:r>
            <a:endParaRPr lang="en-GB" sz="800" dirty="0">
              <a:solidFill>
                <a:srgbClr val="FF0000"/>
              </a:solidFill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123" name="TextBox 122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428739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707344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Counter  00</a:t>
            </a:r>
            <a:endParaRPr lang="en-GB" sz="1000" dirty="0"/>
          </a:p>
        </p:txBody>
      </p:sp>
      <p:sp>
        <p:nvSpPr>
          <p:cNvPr id="185" name="Rounded Rectangle 184"/>
          <p:cNvSpPr/>
          <p:nvPr/>
        </p:nvSpPr>
        <p:spPr>
          <a:xfrm>
            <a:off x="7035432" y="1817068"/>
            <a:ext cx="795336" cy="511001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Overflow</a:t>
            </a:r>
          </a:p>
          <a:p>
            <a:pPr algn="ctr"/>
            <a:r>
              <a:rPr lang="en-GB" sz="1000" dirty="0" smtClean="0"/>
              <a:t>1</a:t>
            </a:r>
            <a:endParaRPr lang="en-GB" sz="1000" dirty="0"/>
          </a:p>
        </p:txBody>
      </p:sp>
      <p:cxnSp>
        <p:nvCxnSpPr>
          <p:cNvPr id="190" name="Straight Arrow Connector 189"/>
          <p:cNvCxnSpPr/>
          <p:nvPr/>
        </p:nvCxnSpPr>
        <p:spPr>
          <a:xfrm flipV="1">
            <a:off x="5364090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/>
          <p:cNvCxnSpPr/>
          <p:nvPr/>
        </p:nvCxnSpPr>
        <p:spPr>
          <a:xfrm flipV="1">
            <a:off x="6539488" y="2087881"/>
            <a:ext cx="493772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5580112" y="2427734"/>
            <a:ext cx="114005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 dirty="0" smtClean="0"/>
              <a:t>Counter Resets to Zero</a:t>
            </a:r>
            <a:endParaRPr lang="en-GB" sz="800" dirty="0"/>
          </a:p>
        </p:txBody>
      </p:sp>
      <p:sp>
        <p:nvSpPr>
          <p:cNvPr id="196" name="TextBox 195"/>
          <p:cNvSpPr txBox="1"/>
          <p:nvPr/>
        </p:nvSpPr>
        <p:spPr>
          <a:xfrm>
            <a:off x="6493006" y="1866900"/>
            <a:ext cx="569387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 dirty="0" smtClean="0"/>
              <a:t>Overflow</a:t>
            </a:r>
            <a:endParaRPr lang="en-GB" sz="800" dirty="0"/>
          </a:p>
        </p:txBody>
      </p: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117" name="TextBox 116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2833581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707344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Counter  00</a:t>
            </a:r>
            <a:endParaRPr lang="en-GB" sz="1000" dirty="0"/>
          </a:p>
        </p:txBody>
      </p:sp>
      <p:sp>
        <p:nvSpPr>
          <p:cNvPr id="185" name="Rounded Rectangle 184"/>
          <p:cNvSpPr/>
          <p:nvPr/>
        </p:nvSpPr>
        <p:spPr>
          <a:xfrm>
            <a:off x="7035432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Overflow</a:t>
            </a:r>
          </a:p>
          <a:p>
            <a:pPr algn="ctr"/>
            <a:r>
              <a:rPr lang="en-GB" sz="1000" dirty="0" smtClean="0"/>
              <a:t>1</a:t>
            </a:r>
            <a:endParaRPr lang="en-GB" sz="1000" dirty="0"/>
          </a:p>
        </p:txBody>
      </p:sp>
      <p:sp>
        <p:nvSpPr>
          <p:cNvPr id="186" name="Flowchart: Delay 185"/>
          <p:cNvSpPr/>
          <p:nvPr/>
        </p:nvSpPr>
        <p:spPr>
          <a:xfrm>
            <a:off x="8136669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IE</a:t>
            </a:r>
            <a:endParaRPr lang="en-GB" sz="1000" dirty="0"/>
          </a:p>
        </p:txBody>
      </p:sp>
      <p:cxnSp>
        <p:nvCxnSpPr>
          <p:cNvPr id="188" name="Elbow Connector 187"/>
          <p:cNvCxnSpPr/>
          <p:nvPr/>
        </p:nvCxnSpPr>
        <p:spPr>
          <a:xfrm rot="5400000" flipH="1" flipV="1">
            <a:off x="7815773" y="2439211"/>
            <a:ext cx="511001" cy="122359"/>
          </a:xfrm>
          <a:prstGeom prst="bentConnector3">
            <a:avLst>
              <a:gd name="adj1" fmla="val 100024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/>
          <p:cNvCxnSpPr/>
          <p:nvPr/>
        </p:nvCxnSpPr>
        <p:spPr>
          <a:xfrm flipV="1">
            <a:off x="5364090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/>
          <p:cNvCxnSpPr/>
          <p:nvPr/>
        </p:nvCxnSpPr>
        <p:spPr>
          <a:xfrm flipV="1">
            <a:off x="6539488" y="2087881"/>
            <a:ext cx="493772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/>
          <p:cNvCxnSpPr/>
          <p:nvPr/>
        </p:nvCxnSpPr>
        <p:spPr>
          <a:xfrm flipV="1">
            <a:off x="7812362" y="2067695"/>
            <a:ext cx="335129" cy="4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/>
          <p:cNvCxnSpPr/>
          <p:nvPr/>
        </p:nvCxnSpPr>
        <p:spPr>
          <a:xfrm flipV="1">
            <a:off x="8629361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5580112" y="2427734"/>
            <a:ext cx="114005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 dirty="0" smtClean="0"/>
              <a:t>Counter Resets to Zero</a:t>
            </a:r>
            <a:endParaRPr lang="en-GB" sz="800" dirty="0"/>
          </a:p>
        </p:txBody>
      </p:sp>
      <p:sp>
        <p:nvSpPr>
          <p:cNvPr id="196" name="TextBox 195"/>
          <p:cNvSpPr txBox="1"/>
          <p:nvPr/>
        </p:nvSpPr>
        <p:spPr>
          <a:xfrm>
            <a:off x="6493006" y="1866900"/>
            <a:ext cx="569387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 dirty="0" smtClean="0"/>
              <a:t>Overflow</a:t>
            </a:r>
            <a:endParaRPr lang="en-GB" sz="800" dirty="0"/>
          </a:p>
        </p:txBody>
      </p: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187" name="TextBox 186"/>
          <p:cNvSpPr txBox="1"/>
          <p:nvPr/>
        </p:nvSpPr>
        <p:spPr>
          <a:xfrm>
            <a:off x="7586051" y="2725513"/>
            <a:ext cx="1039067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Interrupt Enable</a:t>
            </a:r>
            <a:endParaRPr lang="en-GB" sz="1000" dirty="0"/>
          </a:p>
        </p:txBody>
      </p:sp>
      <p:sp>
        <p:nvSpPr>
          <p:cNvPr id="117" name="TextBox 116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2352381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58390" y="1533179"/>
            <a:ext cx="611797" cy="1135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Clock Select</a:t>
            </a:r>
            <a:endParaRPr lang="en-GB" sz="1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5576" y="2328067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419623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Oscillator</a:t>
            </a:r>
            <a:endParaRPr lang="en-GB" sz="10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8002" y="1563730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5571" y="1672943"/>
            <a:ext cx="183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367201" y="1760494"/>
            <a:ext cx="0" cy="183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8002" y="1847618"/>
            <a:ext cx="0" cy="113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79512" y="1703511"/>
            <a:ext cx="367078" cy="11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48538" y="1760289"/>
            <a:ext cx="3670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6" y="206769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Ext Clock</a:t>
            </a:r>
            <a:endParaRPr lang="en-GB" sz="1000" dirty="0"/>
          </a:p>
        </p:txBody>
      </p:sp>
      <p:sp>
        <p:nvSpPr>
          <p:cNvPr id="26" name="Flowchart: Manual Operation 25"/>
          <p:cNvSpPr/>
          <p:nvPr/>
        </p:nvSpPr>
        <p:spPr>
          <a:xfrm rot="16200000">
            <a:off x="2344883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Prescalar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1..32768</a:t>
            </a:r>
            <a:endParaRPr lang="en-GB" sz="1000" dirty="0"/>
          </a:p>
        </p:txBody>
      </p:sp>
      <p:sp>
        <p:nvSpPr>
          <p:cNvPr id="29" name="Flowchart: Delay 28"/>
          <p:cNvSpPr/>
          <p:nvPr/>
        </p:nvSpPr>
        <p:spPr>
          <a:xfrm>
            <a:off x="4850830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cxnSp>
        <p:nvCxnSpPr>
          <p:cNvPr id="32" name="Elbow Connector 31"/>
          <p:cNvCxnSpPr/>
          <p:nvPr/>
        </p:nvCxnSpPr>
        <p:spPr>
          <a:xfrm rot="5400000" flipH="1" flipV="1">
            <a:off x="4529934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273567" y="2068290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nual Operation 38"/>
          <p:cNvSpPr/>
          <p:nvPr/>
        </p:nvSpPr>
        <p:spPr>
          <a:xfrm rot="16200000">
            <a:off x="3629658" y="1705490"/>
            <a:ext cx="851668" cy="73415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000" dirty="0" err="1" smtClean="0"/>
              <a:t>Postscalar</a:t>
            </a:r>
            <a:endParaRPr lang="en-GB" sz="1000" dirty="0" smtClean="0"/>
          </a:p>
          <a:p>
            <a:pPr algn="ctr"/>
            <a:r>
              <a:rPr lang="en-GB" sz="1000" dirty="0" smtClean="0"/>
              <a:t>1..16</a:t>
            </a:r>
            <a:endParaRPr lang="en-GB" sz="1000" dirty="0"/>
          </a:p>
        </p:txBody>
      </p:sp>
      <p:grpSp>
        <p:nvGrpSpPr>
          <p:cNvPr id="2" name="Group 73"/>
          <p:cNvGrpSpPr/>
          <p:nvPr/>
        </p:nvGrpSpPr>
        <p:grpSpPr>
          <a:xfrm>
            <a:off x="179515" y="2282418"/>
            <a:ext cx="484859" cy="165430"/>
            <a:chOff x="3412976" y="2492500"/>
            <a:chExt cx="1240805" cy="151911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6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62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7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5"/>
          <p:cNvGrpSpPr/>
          <p:nvPr/>
        </p:nvGrpSpPr>
        <p:grpSpPr>
          <a:xfrm>
            <a:off x="1835698" y="1779662"/>
            <a:ext cx="484859" cy="165430"/>
            <a:chOff x="3412976" y="2492500"/>
            <a:chExt cx="1240805" cy="151911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Straight Connector 103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6"/>
          <p:cNvGrpSpPr/>
          <p:nvPr/>
        </p:nvGrpSpPr>
        <p:grpSpPr>
          <a:xfrm>
            <a:off x="2648360" y="1419623"/>
            <a:ext cx="1162415" cy="165430"/>
            <a:chOff x="3412976" y="2492500"/>
            <a:chExt cx="1240805" cy="151911"/>
          </a:xfrm>
        </p:grpSpPr>
        <p:cxnSp>
          <p:nvCxnSpPr>
            <p:cNvPr id="118" name="Straight Connector 117"/>
            <p:cNvCxnSpPr/>
            <p:nvPr/>
          </p:nvCxnSpPr>
          <p:spPr>
            <a:xfrm>
              <a:off x="3412976" y="2640137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 flipV="1">
              <a:off x="3554462" y="2497931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3550196" y="2494881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 flipV="1">
              <a:off x="3688556" y="2495550"/>
              <a:ext cx="496" cy="144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00"/>
            <p:cNvGrpSpPr/>
            <p:nvPr/>
          </p:nvGrpSpPr>
          <p:grpSpPr>
            <a:xfrm>
              <a:off x="3683894" y="2497361"/>
              <a:ext cx="281236" cy="147050"/>
              <a:chOff x="3432324" y="2499073"/>
              <a:chExt cx="281236" cy="147050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1"/>
            <p:cNvGrpSpPr/>
            <p:nvPr/>
          </p:nvGrpSpPr>
          <p:grpSpPr>
            <a:xfrm>
              <a:off x="3963417" y="2492500"/>
              <a:ext cx="281236" cy="147050"/>
              <a:chOff x="3432324" y="2499073"/>
              <a:chExt cx="281236" cy="147050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102"/>
            <p:cNvGrpSpPr/>
            <p:nvPr/>
          </p:nvGrpSpPr>
          <p:grpSpPr>
            <a:xfrm>
              <a:off x="4234335" y="2494980"/>
              <a:ext cx="281236" cy="147050"/>
              <a:chOff x="3432324" y="2499073"/>
              <a:chExt cx="281236" cy="147050"/>
            </a:xfrm>
          </p:grpSpPr>
          <p:cxnSp>
            <p:nvCxnSpPr>
              <p:cNvPr id="126" name="Straight Connector 125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4509765" y="2637185"/>
              <a:ext cx="144016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79"/>
          <p:cNvGrpSpPr/>
          <p:nvPr/>
        </p:nvGrpSpPr>
        <p:grpSpPr>
          <a:xfrm>
            <a:off x="4177851" y="1419623"/>
            <a:ext cx="1960690" cy="165430"/>
            <a:chOff x="5360629" y="2715766"/>
            <a:chExt cx="2307715" cy="209805"/>
          </a:xfrm>
        </p:grpSpPr>
        <p:grpSp>
          <p:nvGrpSpPr>
            <p:cNvPr id="23" name="Group 100"/>
            <p:cNvGrpSpPr/>
            <p:nvPr/>
          </p:nvGrpSpPr>
          <p:grpSpPr>
            <a:xfrm>
              <a:off x="5360629" y="2722480"/>
              <a:ext cx="669163" cy="203091"/>
              <a:chOff x="3432324" y="2499073"/>
              <a:chExt cx="281236" cy="147050"/>
            </a:xfrm>
          </p:grpSpPr>
          <p:cxnSp>
            <p:nvCxnSpPr>
              <p:cNvPr id="155" name="Straight Connector 154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101"/>
            <p:cNvGrpSpPr/>
            <p:nvPr/>
          </p:nvGrpSpPr>
          <p:grpSpPr>
            <a:xfrm>
              <a:off x="6025716" y="2715766"/>
              <a:ext cx="669163" cy="203091"/>
              <a:chOff x="3432324" y="2499073"/>
              <a:chExt cx="281236" cy="14705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102"/>
            <p:cNvGrpSpPr/>
            <p:nvPr/>
          </p:nvGrpSpPr>
          <p:grpSpPr>
            <a:xfrm>
              <a:off x="6670329" y="2719191"/>
              <a:ext cx="669163" cy="203091"/>
              <a:chOff x="3432324" y="2499073"/>
              <a:chExt cx="281236" cy="147050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3432324" y="2644329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flipH="1" flipV="1">
                <a:off x="3573810" y="2502123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69544" y="2499073"/>
                <a:ext cx="144016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H="1" flipV="1">
                <a:off x="3707904" y="2499742"/>
                <a:ext cx="496" cy="144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Straight Connector 145"/>
            <p:cNvCxnSpPr/>
            <p:nvPr/>
          </p:nvCxnSpPr>
          <p:spPr>
            <a:xfrm>
              <a:off x="7325677" y="2915591"/>
              <a:ext cx="34266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Straight Arrow Connector 180"/>
          <p:cNvCxnSpPr/>
          <p:nvPr/>
        </p:nvCxnSpPr>
        <p:spPr>
          <a:xfrm flipV="1">
            <a:off x="1975383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V="1">
            <a:off x="4483752" y="2100957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5707344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Counter  00</a:t>
            </a:r>
            <a:endParaRPr lang="en-GB" sz="1000" dirty="0"/>
          </a:p>
        </p:txBody>
      </p:sp>
      <p:sp>
        <p:nvSpPr>
          <p:cNvPr id="185" name="Rounded Rectangle 184"/>
          <p:cNvSpPr/>
          <p:nvPr/>
        </p:nvSpPr>
        <p:spPr>
          <a:xfrm>
            <a:off x="7035432" y="1817068"/>
            <a:ext cx="795336" cy="511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Timer Overflow</a:t>
            </a:r>
          </a:p>
          <a:p>
            <a:pPr algn="ctr"/>
            <a:r>
              <a:rPr lang="en-GB" sz="1000" dirty="0" smtClean="0"/>
              <a:t>1</a:t>
            </a:r>
            <a:endParaRPr lang="en-GB" sz="1000" dirty="0"/>
          </a:p>
        </p:txBody>
      </p:sp>
      <p:sp>
        <p:nvSpPr>
          <p:cNvPr id="187" name="TextBox 186"/>
          <p:cNvSpPr txBox="1"/>
          <p:nvPr/>
        </p:nvSpPr>
        <p:spPr>
          <a:xfrm>
            <a:off x="7586051" y="2725513"/>
            <a:ext cx="103906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Interrupt Enable</a:t>
            </a:r>
            <a:endParaRPr lang="en-GB" sz="1000" dirty="0"/>
          </a:p>
        </p:txBody>
      </p:sp>
      <p:cxnSp>
        <p:nvCxnSpPr>
          <p:cNvPr id="188" name="Elbow Connector 187"/>
          <p:cNvCxnSpPr/>
          <p:nvPr/>
        </p:nvCxnSpPr>
        <p:spPr>
          <a:xfrm rot="5400000" flipH="1" flipV="1">
            <a:off x="7815773" y="2439211"/>
            <a:ext cx="511001" cy="122359"/>
          </a:xfrm>
          <a:prstGeom prst="bentConnector3">
            <a:avLst>
              <a:gd name="adj1" fmla="val 10002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/>
          <p:cNvCxnSpPr/>
          <p:nvPr/>
        </p:nvCxnSpPr>
        <p:spPr>
          <a:xfrm flipV="1">
            <a:off x="5364090" y="2067695"/>
            <a:ext cx="335129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/>
          <p:cNvCxnSpPr/>
          <p:nvPr/>
        </p:nvCxnSpPr>
        <p:spPr>
          <a:xfrm flipV="1">
            <a:off x="6539488" y="2087881"/>
            <a:ext cx="493772" cy="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/>
          <p:cNvCxnSpPr/>
          <p:nvPr/>
        </p:nvCxnSpPr>
        <p:spPr>
          <a:xfrm flipV="1">
            <a:off x="7812362" y="2067695"/>
            <a:ext cx="335129" cy="4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/>
          <p:cNvCxnSpPr/>
          <p:nvPr/>
        </p:nvCxnSpPr>
        <p:spPr>
          <a:xfrm flipV="1">
            <a:off x="8629361" y="2067695"/>
            <a:ext cx="335129" cy="440"/>
          </a:xfrm>
          <a:prstGeom prst="straightConnector1">
            <a:avLst/>
          </a:prstGeom>
          <a:ln>
            <a:solidFill>
              <a:srgbClr val="FF00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5580112" y="2427734"/>
            <a:ext cx="114005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 dirty="0" smtClean="0"/>
              <a:t>Counter Resets to Zero</a:t>
            </a:r>
            <a:endParaRPr lang="en-GB" sz="800" dirty="0"/>
          </a:p>
        </p:txBody>
      </p:sp>
      <p:sp>
        <p:nvSpPr>
          <p:cNvPr id="196" name="TextBox 195"/>
          <p:cNvSpPr txBox="1"/>
          <p:nvPr/>
        </p:nvSpPr>
        <p:spPr>
          <a:xfrm>
            <a:off x="6493006" y="1866900"/>
            <a:ext cx="569387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 dirty="0" smtClean="0"/>
              <a:t>Overflow</a:t>
            </a:r>
            <a:endParaRPr lang="en-GB" sz="800" dirty="0"/>
          </a:p>
        </p:txBody>
      </p:sp>
      <p:sp>
        <p:nvSpPr>
          <p:cNvPr id="198" name="TextBox 197"/>
          <p:cNvSpPr txBox="1"/>
          <p:nvPr/>
        </p:nvSpPr>
        <p:spPr>
          <a:xfrm>
            <a:off x="8594105" y="1760220"/>
            <a:ext cx="570990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 b="1" dirty="0" smtClean="0">
                <a:solidFill>
                  <a:srgbClr val="FF0000"/>
                </a:solidFill>
              </a:rPr>
              <a:t>Interrupt</a:t>
            </a:r>
            <a:endParaRPr lang="en-GB" sz="800" b="1" dirty="0">
              <a:solidFill>
                <a:srgbClr val="FF0000"/>
              </a:solidFill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323530" y="195486"/>
            <a:ext cx="2122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Timer Block Diagram</a:t>
            </a:r>
            <a:endParaRPr lang="en-GB" dirty="0"/>
          </a:p>
        </p:txBody>
      </p:sp>
      <p:sp>
        <p:nvSpPr>
          <p:cNvPr id="186" name="Flowchart: Delay 185"/>
          <p:cNvSpPr/>
          <p:nvPr/>
        </p:nvSpPr>
        <p:spPr>
          <a:xfrm>
            <a:off x="8136669" y="1817067"/>
            <a:ext cx="611797" cy="567778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IE</a:t>
            </a:r>
            <a:endParaRPr lang="en-GB" sz="1000" dirty="0"/>
          </a:p>
        </p:txBody>
      </p:sp>
      <p:sp>
        <p:nvSpPr>
          <p:cNvPr id="117" name="TextBox 116"/>
          <p:cNvSpPr txBox="1"/>
          <p:nvPr/>
        </p:nvSpPr>
        <p:spPr>
          <a:xfrm>
            <a:off x="4300210" y="2725513"/>
            <a:ext cx="867545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 dirty="0" smtClean="0"/>
              <a:t>Timer Enable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4244344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r>
              <a:rPr lang="en-GB" dirty="0"/>
              <a:t>Lab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Examine the sample code</a:t>
            </a:r>
          </a:p>
          <a:p>
            <a:r>
              <a:rPr lang="en-GB" dirty="0"/>
              <a:t>Review the results</a:t>
            </a:r>
          </a:p>
          <a:p>
            <a:endParaRPr lang="en-GB" dirty="0"/>
          </a:p>
          <a:p>
            <a:pPr lvl="1"/>
            <a:r>
              <a:rPr lang="en-GB" dirty="0"/>
              <a:t>Timer0 Overflow</a:t>
            </a:r>
          </a:p>
          <a:p>
            <a:pPr lvl="1"/>
            <a:r>
              <a:rPr lang="en-GB" dirty="0"/>
              <a:t>8 Bit timer</a:t>
            </a:r>
          </a:p>
          <a:p>
            <a:pPr lvl="1"/>
            <a:r>
              <a:rPr lang="en-GB" dirty="0"/>
              <a:t>16 Bit timer</a:t>
            </a:r>
          </a:p>
        </p:txBody>
      </p:sp>
    </p:spTree>
    <p:extLst>
      <p:ext uri="{BB962C8B-B14F-4D97-AF65-F5344CB8AC3E}">
        <p14:creationId xmlns:p14="http://schemas.microsoft.com/office/powerpoint/2010/main" val="22282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timer0:  16bit timer, 8bit timer and overflow 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 smtClean="0"/>
              <a:t>Using </a:t>
            </a:r>
            <a:r>
              <a:rPr lang="en-GB" sz="1100" b="1" dirty="0"/>
              <a:t>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Progmem,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07497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72997" y="1563638"/>
            <a:ext cx="4124707" cy="1234727"/>
          </a:xfrm>
        </p:spPr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3995936" y="2715766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PIC18FxxQ35chip Family</a:t>
            </a:r>
          </a:p>
          <a:p>
            <a:r>
              <a:rPr lang="en-GB" dirty="0"/>
              <a:t>Part 9 - Timers and Timer Interrupts</a:t>
            </a:r>
            <a:endParaRPr lang="en-GB" dirty="0"/>
          </a:p>
        </p:txBody>
      </p:sp>
      <p:pic>
        <p:nvPicPr>
          <p:cNvPr id="6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53698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498007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4209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14436</TotalTime>
  <Words>1261</Words>
  <Application>Microsoft Office PowerPoint</Application>
  <PresentationFormat>On-screen Show (16:9)</PresentationFormat>
  <Paragraphs>347</Paragraphs>
  <Slides>40</Slides>
  <Notes>0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GCstudioThemeLight</vt:lpstr>
      <vt:lpstr>GCBASIC</vt:lpstr>
      <vt:lpstr>GCBASIC</vt:lpstr>
      <vt:lpstr>GCBASIC</vt:lpstr>
      <vt:lpstr>PIC18FxxQ35</vt:lpstr>
      <vt:lpstr>Videos...</vt:lpstr>
      <vt:lpstr>GCBASIC Compiler</vt:lpstr>
      <vt:lpstr>PowerPoint Presentation</vt:lpstr>
      <vt:lpstr>PowerPoint Presentation</vt:lpstr>
      <vt:lpstr>Schematic</vt:lpstr>
      <vt:lpstr>VDDIO2 Domain Power</vt:lpstr>
      <vt:lpstr>Timer Primer</vt:lpstr>
      <vt:lpstr>Timer Block Diagram </vt:lpstr>
      <vt:lpstr>Timer Overview</vt:lpstr>
      <vt:lpstr>Timer0 block diagram</vt:lpstr>
      <vt:lpstr>Timer0 block diagram</vt:lpstr>
      <vt:lpstr>Timer0 block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Lab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admin</cp:lastModifiedBy>
  <cp:revision>753</cp:revision>
  <dcterms:created xsi:type="dcterms:W3CDTF">2019-01-08T20:03:06Z</dcterms:created>
  <dcterms:modified xsi:type="dcterms:W3CDTF">2026-08-12T06:09:39Z</dcterms:modified>
</cp:coreProperties>
</file>