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359" r:id="rId2"/>
    <p:sldId id="360" r:id="rId3"/>
    <p:sldId id="361" r:id="rId4"/>
    <p:sldId id="362" r:id="rId5"/>
    <p:sldId id="363" r:id="rId6"/>
    <p:sldId id="364" r:id="rId7"/>
    <p:sldId id="365" r:id="rId8"/>
    <p:sldId id="366" r:id="rId9"/>
    <p:sldId id="367" r:id="rId10"/>
    <p:sldId id="368" r:id="rId11"/>
    <p:sldId id="291" r:id="rId12"/>
    <p:sldId id="354" r:id="rId13"/>
    <p:sldId id="348" r:id="rId14"/>
    <p:sldId id="355" r:id="rId15"/>
    <p:sldId id="356" r:id="rId16"/>
    <p:sldId id="357" r:id="rId17"/>
    <p:sldId id="358" r:id="rId18"/>
    <p:sldId id="288" r:id="rId19"/>
    <p:sldId id="353" r:id="rId20"/>
    <p:sldId id="369" r:id="rId21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>
      <p:cViewPr>
        <p:scale>
          <a:sx n="164" d="100"/>
          <a:sy n="164" d="100"/>
        </p:scale>
        <p:origin x="-120" y="-15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16/08/2026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16/08/2026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16/08/2026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16/08/2026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16/08/2026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GB" sz="1400" dirty="0" smtClean="0"/>
              <a:t>PIC18FxxQ35chip Family</a:t>
            </a:r>
          </a:p>
          <a:p>
            <a:r>
              <a:rPr lang="en-GB" sz="1400" dirty="0"/>
              <a:t>Part 13 - Using a SPI GLCD  display </a:t>
            </a:r>
            <a:r>
              <a:rPr lang="en-GB" sz="1400" dirty="0" smtClean="0"/>
              <a:t>solutions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486724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3995936" y="329183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PIC18FxxQ35chip Family</a:t>
            </a:r>
          </a:p>
          <a:p>
            <a:r>
              <a:rPr lang="en-GB" dirty="0"/>
              <a:t>Part 13 - Using a SPI GLCD  display solutions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4671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141" y="79363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subscribe!</a:t>
            </a:r>
          </a:p>
        </p:txBody>
      </p:sp>
      <p:pic>
        <p:nvPicPr>
          <p:cNvPr id="2050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PIC18F46Q35-S2X-Regular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6" descr="PIC18F46Q35-S2X-Regular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6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3476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PIC18FxxQ35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PIC18FxxQ35  is a high performance PIC18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PIC18FxxQ35 offers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9496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</a:t>
            </a:r>
            <a:r>
              <a:rPr lang="en-GB" sz="1100" dirty="0" smtClean="0"/>
              <a:t>– make LEDs work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846726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4176464" cy="217877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PIC, AVR and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18FxxQ35 chip family </a:t>
            </a:r>
          </a:p>
          <a:p>
            <a:endParaRPr lang="en-GB" dirty="0"/>
          </a:p>
          <a:p>
            <a:r>
              <a:rPr lang="en-GB" dirty="0"/>
              <a:t>GCBASIC now </a:t>
            </a:r>
            <a:r>
              <a:rPr lang="en-GB" dirty="0" smtClean="0"/>
              <a:t>supports 1400+ microcontrollers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4594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8" t="6534" r="2270" b="5416"/>
          <a:stretch/>
        </p:blipFill>
        <p:spPr bwMode="auto">
          <a:xfrm>
            <a:off x="251518" y="1026170"/>
            <a:ext cx="4635501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103003"/>
            <a:ext cx="6367321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04048" y="75944"/>
            <a:ext cx="3995936" cy="455509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000" dirty="0" smtClean="0">
                <a:solidFill>
                  <a:srgbClr val="FF0000"/>
                </a:solidFill>
              </a:rPr>
              <a:t>1</a:t>
            </a:r>
            <a:r>
              <a:rPr lang="en-GB" sz="1000" dirty="0">
                <a:solidFill>
                  <a:srgbClr val="FF0000"/>
                </a:solidFill>
              </a:rPr>
              <a:t>. 18-, 28- and 40-pin DIP sockets</a:t>
            </a:r>
          </a:p>
          <a:p>
            <a:r>
              <a:rPr lang="en-GB" sz="1000" dirty="0">
                <a:solidFill>
                  <a:srgbClr val="FF0000"/>
                </a:solidFill>
              </a:rPr>
              <a:t>(although three sockets are provided, only one device may be used at a time)</a:t>
            </a:r>
          </a:p>
          <a:p>
            <a:r>
              <a:rPr lang="en-GB" sz="1000" dirty="0">
                <a:solidFill>
                  <a:srgbClr val="FF0000"/>
                </a:solidFill>
              </a:rPr>
              <a:t>2. On-board, +5V regulator for direct input from 9V, 100 mA AC/DC wall adapter </a:t>
            </a:r>
            <a:r>
              <a:rPr lang="en-GB" sz="1000" dirty="0" smtClean="0">
                <a:solidFill>
                  <a:srgbClr val="FF0000"/>
                </a:solidFill>
              </a:rPr>
              <a:t>or 9V </a:t>
            </a:r>
            <a:r>
              <a:rPr lang="en-GB" sz="1000" dirty="0">
                <a:solidFill>
                  <a:srgbClr val="FF0000"/>
                </a:solidFill>
              </a:rPr>
              <a:t>battery, or hooks for a +5V, 100 mA regulated DC supply</a:t>
            </a:r>
          </a:p>
          <a:p>
            <a:r>
              <a:rPr lang="en-GB" sz="1000" u="sng" dirty="0">
                <a:solidFill>
                  <a:srgbClr val="FF0000"/>
                </a:solidFill>
              </a:rPr>
              <a:t>3. </a:t>
            </a:r>
            <a:r>
              <a:rPr lang="en-GB" sz="1000" dirty="0">
                <a:solidFill>
                  <a:srgbClr val="FF0000"/>
                </a:solidFill>
              </a:rPr>
              <a:t>RS-232 socket and associated hardware for direct connection to an </a:t>
            </a:r>
            <a:r>
              <a:rPr lang="en-GB" sz="1000" dirty="0" smtClean="0">
                <a:solidFill>
                  <a:srgbClr val="FF0000"/>
                </a:solidFill>
              </a:rPr>
              <a:t>RS-232 interface</a:t>
            </a:r>
            <a:endParaRPr lang="en-GB" sz="1000" dirty="0">
              <a:solidFill>
                <a:srgbClr val="FF0000"/>
              </a:solidFill>
            </a:endParaRPr>
          </a:p>
          <a:p>
            <a:r>
              <a:rPr lang="en-GB" sz="1000" dirty="0">
                <a:solidFill>
                  <a:srgbClr val="FF0000"/>
                </a:solidFill>
              </a:rPr>
              <a:t>4. Programmer/debugger connectivity supporting MPLAB® ICD 3, MPLAB </a:t>
            </a:r>
            <a:r>
              <a:rPr lang="en-GB" sz="1000" dirty="0" smtClean="0">
                <a:solidFill>
                  <a:srgbClr val="FF0000"/>
                </a:solidFill>
              </a:rPr>
              <a:t>REAL ICE </a:t>
            </a:r>
            <a:r>
              <a:rPr lang="en-GB" sz="1000" dirty="0">
                <a:solidFill>
                  <a:srgbClr val="FF0000"/>
                </a:solidFill>
              </a:rPr>
              <a:t>and </a:t>
            </a:r>
            <a:r>
              <a:rPr lang="en-GB" sz="1000" dirty="0" err="1" smtClean="0">
                <a:solidFill>
                  <a:srgbClr val="FF0000"/>
                </a:solidFill>
              </a:rPr>
              <a:t>PICkitPlus</a:t>
            </a:r>
            <a:endParaRPr lang="en-GB" sz="1000" dirty="0">
              <a:solidFill>
                <a:srgbClr val="FF0000"/>
              </a:solidFill>
            </a:endParaRPr>
          </a:p>
          <a:p>
            <a:r>
              <a:rPr lang="en-GB" sz="1000" dirty="0">
                <a:solidFill>
                  <a:srgbClr val="FF0000"/>
                </a:solidFill>
              </a:rPr>
              <a:t>5. </a:t>
            </a:r>
            <a:r>
              <a:rPr lang="en-GB" sz="1000" dirty="0" err="1">
                <a:solidFill>
                  <a:srgbClr val="FF0000"/>
                </a:solidFill>
              </a:rPr>
              <a:t>PICkit</a:t>
            </a:r>
            <a:r>
              <a:rPr lang="en-GB" sz="1000" dirty="0">
                <a:solidFill>
                  <a:srgbClr val="FF0000"/>
                </a:solidFill>
              </a:rPr>
              <a:t> Serial Connector for analysis of serial communications peripherals </a:t>
            </a:r>
            <a:r>
              <a:rPr lang="en-GB" sz="1000" dirty="0" smtClean="0">
                <a:solidFill>
                  <a:srgbClr val="FF0000"/>
                </a:solidFill>
              </a:rPr>
              <a:t>such as </a:t>
            </a:r>
            <a:r>
              <a:rPr lang="en-GB" sz="1000" dirty="0">
                <a:solidFill>
                  <a:srgbClr val="FF0000"/>
                </a:solidFill>
              </a:rPr>
              <a:t>SPI or I2C™</a:t>
            </a:r>
          </a:p>
          <a:p>
            <a:r>
              <a:rPr lang="en-GB" sz="1000" u="sng" dirty="0">
                <a:solidFill>
                  <a:srgbClr val="FF0000"/>
                </a:solidFill>
              </a:rPr>
              <a:t>6. </a:t>
            </a:r>
            <a:r>
              <a:rPr lang="en-GB" sz="1000" dirty="0">
                <a:solidFill>
                  <a:srgbClr val="FF0000"/>
                </a:solidFill>
              </a:rPr>
              <a:t>5 </a:t>
            </a:r>
            <a:r>
              <a:rPr lang="en-GB" sz="1000" dirty="0" smtClean="0">
                <a:solidFill>
                  <a:srgbClr val="FF0000"/>
                </a:solidFill>
              </a:rPr>
              <a:t>k </a:t>
            </a:r>
            <a:r>
              <a:rPr lang="en-GB" sz="1000" dirty="0">
                <a:solidFill>
                  <a:srgbClr val="FF0000"/>
                </a:solidFill>
              </a:rPr>
              <a:t>pot for devices with </a:t>
            </a:r>
            <a:r>
              <a:rPr lang="en-GB" sz="1000" dirty="0" err="1">
                <a:solidFill>
                  <a:srgbClr val="FF0000"/>
                </a:solidFill>
              </a:rPr>
              <a:t>analog</a:t>
            </a:r>
            <a:r>
              <a:rPr lang="en-GB" sz="1000" dirty="0">
                <a:solidFill>
                  <a:srgbClr val="FF0000"/>
                </a:solidFill>
              </a:rPr>
              <a:t> inputs</a:t>
            </a:r>
          </a:p>
          <a:p>
            <a:r>
              <a:rPr lang="en-GB" sz="1000" dirty="0">
                <a:solidFill>
                  <a:srgbClr val="FF0000"/>
                </a:solidFill>
              </a:rPr>
              <a:t>7. Three push button switches for external stimulus and Reset</a:t>
            </a:r>
          </a:p>
          <a:p>
            <a:r>
              <a:rPr lang="en-GB" sz="1000" dirty="0"/>
              <a:t>8. </a:t>
            </a:r>
            <a:r>
              <a:rPr lang="en-GB" sz="1000" dirty="0">
                <a:solidFill>
                  <a:srgbClr val="FF0000"/>
                </a:solidFill>
              </a:rPr>
              <a:t>Power-on indicator LED</a:t>
            </a:r>
          </a:p>
          <a:p>
            <a:r>
              <a:rPr lang="en-GB" sz="1000" dirty="0">
                <a:solidFill>
                  <a:srgbClr val="FF0000"/>
                </a:solidFill>
              </a:rPr>
              <a:t>9. Four LEDs connected to PORTB</a:t>
            </a:r>
          </a:p>
          <a:p>
            <a:r>
              <a:rPr lang="en-GB" sz="1000" dirty="0"/>
              <a:t>10. On-board external oscillators including:</a:t>
            </a:r>
          </a:p>
          <a:p>
            <a:r>
              <a:rPr lang="en-GB" sz="1000" dirty="0"/>
              <a:t>a) Unpopulated DIP socket for canned crystal oscillator (Y2)</a:t>
            </a:r>
          </a:p>
          <a:p>
            <a:r>
              <a:rPr lang="en-GB" sz="1000" dirty="0"/>
              <a:t>b) RC oscillator circuit (R4, C3)</a:t>
            </a:r>
          </a:p>
          <a:p>
            <a:r>
              <a:rPr lang="en-GB" sz="1000" dirty="0"/>
              <a:t>c) Unpopulated holes for crystal connection (Y1)</a:t>
            </a:r>
          </a:p>
          <a:p>
            <a:r>
              <a:rPr lang="en-GB" sz="1000" dirty="0"/>
              <a:t>d) 32.768 kHz crystal for Timer1 clock operation (Y3)</a:t>
            </a:r>
            <a:br>
              <a:rPr lang="en-GB" sz="1000" dirty="0"/>
            </a:br>
            <a:r>
              <a:rPr lang="en-GB" sz="1000" b="1" dirty="0">
                <a:solidFill>
                  <a:srgbClr val="FF0000"/>
                </a:solidFill>
              </a:rPr>
              <a:t>11. 32K x 8 Serial EEPROM</a:t>
            </a:r>
          </a:p>
          <a:p>
            <a:r>
              <a:rPr lang="en-GB" sz="1000" dirty="0">
                <a:solidFill>
                  <a:srgbClr val="FF0000"/>
                </a:solidFill>
              </a:rPr>
              <a:t>12. LCD display</a:t>
            </a:r>
          </a:p>
          <a:p>
            <a:r>
              <a:rPr lang="en-GB" sz="1000" dirty="0"/>
              <a:t>13. </a:t>
            </a:r>
            <a:r>
              <a:rPr lang="en-GB" sz="1000" dirty="0" err="1"/>
              <a:t>Piezo</a:t>
            </a:r>
            <a:r>
              <a:rPr lang="en-GB" sz="1000" dirty="0"/>
              <a:t> buzzer</a:t>
            </a:r>
          </a:p>
          <a:p>
            <a:r>
              <a:rPr lang="en-GB" sz="1000" dirty="0"/>
              <a:t>14. Prototype area for user hardware</a:t>
            </a:r>
          </a:p>
          <a:p>
            <a:r>
              <a:rPr lang="en-GB" sz="1000" dirty="0"/>
              <a:t>15. Expansion Header for </a:t>
            </a:r>
            <a:r>
              <a:rPr lang="en-GB" sz="1000" dirty="0" err="1"/>
              <a:t>PICtail</a:t>
            </a:r>
            <a:r>
              <a:rPr lang="en-GB" sz="1000" dirty="0"/>
              <a:t>™ daughter card connectivity or user access </a:t>
            </a:r>
            <a:r>
              <a:rPr lang="en-GB" sz="1000" dirty="0" smtClean="0"/>
              <a:t>to MCU </a:t>
            </a:r>
            <a:r>
              <a:rPr lang="en-GB" sz="1000" dirty="0"/>
              <a:t>pins</a:t>
            </a:r>
          </a:p>
          <a:p>
            <a:r>
              <a:rPr lang="en-GB" sz="1000" b="1" u="sng" dirty="0">
                <a:solidFill>
                  <a:srgbClr val="FF0000"/>
                </a:solidFill>
              </a:rPr>
              <a:t>16. Microchip TC74 thermal </a:t>
            </a:r>
            <a:r>
              <a:rPr lang="en-GB" sz="1000" b="1" u="sng" dirty="0" smtClean="0">
                <a:solidFill>
                  <a:srgbClr val="FF0000"/>
                </a:solidFill>
              </a:rPr>
              <a:t>sensor</a:t>
            </a:r>
            <a:br>
              <a:rPr lang="en-GB" sz="1000" b="1" u="sng" dirty="0" smtClean="0">
                <a:solidFill>
                  <a:srgbClr val="FF0000"/>
                </a:solidFill>
              </a:rPr>
            </a:br>
            <a:endParaRPr lang="en-GB" sz="1000" b="1" u="sng" dirty="0" smtClean="0">
              <a:solidFill>
                <a:srgbClr val="FF0000"/>
              </a:solidFill>
            </a:endParaRPr>
          </a:p>
          <a:p>
            <a:r>
              <a:rPr lang="en-GB" sz="1000" b="1" u="sng" dirty="0" smtClean="0">
                <a:solidFill>
                  <a:srgbClr val="FF0000"/>
                </a:solidFill>
              </a:rPr>
              <a:t>Plus </a:t>
            </a:r>
            <a:r>
              <a:rPr lang="en-GB" sz="1000" b="1" u="sng" dirty="0" smtClean="0">
                <a:solidFill>
                  <a:srgbClr val="FF0000"/>
                </a:solidFill>
              </a:rPr>
              <a:t>SPI GLCD</a:t>
            </a:r>
            <a:endParaRPr lang="en-GB" sz="1000" b="1" u="sng" dirty="0">
              <a:solidFill>
                <a:srgbClr val="FF0000"/>
              </a:solidFill>
            </a:endParaRPr>
          </a:p>
        </p:txBody>
      </p:sp>
      <p:sp>
        <p:nvSpPr>
          <p:cNvPr id="2" name="Oval 1"/>
          <p:cNvSpPr/>
          <p:nvPr/>
        </p:nvSpPr>
        <p:spPr>
          <a:xfrm>
            <a:off x="1441760" y="2445270"/>
            <a:ext cx="21602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23528" y="2565676"/>
            <a:ext cx="21602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50" b="1" dirty="0" smtClean="0">
                <a:solidFill>
                  <a:srgbClr val="FF0000"/>
                </a:solidFill>
              </a:rPr>
              <a:t>3A</a:t>
            </a:r>
            <a:endParaRPr lang="en-GB" sz="1050" b="1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539552" y="2589286"/>
            <a:ext cx="902208" cy="12040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002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03003"/>
            <a:ext cx="9144000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853187"/>
            <a:ext cx="6480719" cy="43926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382635" y="1321402"/>
            <a:ext cx="1152128" cy="79756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2123728" y="1788318"/>
            <a:ext cx="963101" cy="78343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012160" y="2787774"/>
            <a:ext cx="1440160" cy="86409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4786960" y="924222"/>
            <a:ext cx="1440160" cy="86409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961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57014"/>
            <a:ext cx="5400600" cy="990600"/>
          </a:xfrm>
        </p:spPr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Schematic</a:t>
            </a:r>
            <a:endParaRPr lang="en-GB" dirty="0"/>
          </a:p>
        </p:txBody>
      </p:sp>
      <p:sp>
        <p:nvSpPr>
          <p:cNvPr id="5" name="AutoShape 4" descr="Upload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Uploaded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8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539" y="555526"/>
            <a:ext cx="1634307" cy="1390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6824" y="3363838"/>
            <a:ext cx="1998590" cy="1252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6824" y="1995686"/>
            <a:ext cx="1861121" cy="1045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612774" y="1554113"/>
            <a:ext cx="1571625" cy="15859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403648" y="3363838"/>
            <a:ext cx="250551" cy="1440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1400473" y="3045073"/>
            <a:ext cx="250551" cy="1440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7393" y="1707654"/>
            <a:ext cx="1762125" cy="240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ight Arrow 11"/>
          <p:cNvSpPr/>
          <p:nvPr/>
        </p:nvSpPr>
        <p:spPr>
          <a:xfrm>
            <a:off x="3281681" y="1954917"/>
            <a:ext cx="432048" cy="216024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b="1" dirty="0" smtClean="0">
                <a:solidFill>
                  <a:schemeClr val="tx1"/>
                </a:solidFill>
              </a:rPr>
              <a:t>DC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3282652" y="2212152"/>
            <a:ext cx="432048" cy="216024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b="1" dirty="0" smtClean="0">
                <a:solidFill>
                  <a:schemeClr val="tx1"/>
                </a:solidFill>
              </a:rPr>
              <a:t>CS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3283623" y="2475212"/>
            <a:ext cx="432048" cy="216024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b="1" dirty="0" smtClean="0">
                <a:solidFill>
                  <a:schemeClr val="tx1"/>
                </a:solidFill>
              </a:rPr>
              <a:t>RST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3278769" y="2738272"/>
            <a:ext cx="432048" cy="216024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b="1" dirty="0" smtClean="0">
                <a:solidFill>
                  <a:schemeClr val="tx1"/>
                </a:solidFill>
              </a:rPr>
              <a:t>SCK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3284594" y="3012010"/>
            <a:ext cx="432048" cy="216024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b="1" dirty="0" smtClean="0">
                <a:solidFill>
                  <a:schemeClr val="tx1"/>
                </a:solidFill>
              </a:rPr>
              <a:t>SDO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3297213" y="3554632"/>
            <a:ext cx="432048" cy="216024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b="1" dirty="0" smtClean="0">
                <a:solidFill>
                  <a:schemeClr val="tx1"/>
                </a:solidFill>
              </a:rPr>
              <a:t>TX1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25" name="Right Arrow 24"/>
          <p:cNvSpPr/>
          <p:nvPr/>
        </p:nvSpPr>
        <p:spPr>
          <a:xfrm flipH="1">
            <a:off x="3175251" y="3819183"/>
            <a:ext cx="432048" cy="216024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700" b="1" dirty="0" smtClean="0">
                <a:solidFill>
                  <a:schemeClr val="tx1"/>
                </a:solidFill>
              </a:rPr>
              <a:t>VDDIO2</a:t>
            </a:r>
            <a:endParaRPr lang="en-GB" sz="700" b="1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763688" y="3784237"/>
            <a:ext cx="554345" cy="2577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18</a:t>
            </a:r>
            <a:endParaRPr lang="en-GB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7164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VDDIO2 Domain Power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3995936" y="2100649"/>
            <a:ext cx="3372590" cy="8771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 smtClean="0"/>
              <a:t>Think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No VDDIO2 power – no domain I/O!</a:t>
            </a:r>
            <a:endParaRPr lang="en-GB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68" y="987574"/>
            <a:ext cx="3213668" cy="3988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0180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Prerequisites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07654"/>
            <a:ext cx="6447501" cy="2744167"/>
          </a:xfrm>
        </p:spPr>
        <p:txBody>
          <a:bodyPr/>
          <a:lstStyle/>
          <a:p>
            <a:r>
              <a:rPr lang="en-GB" dirty="0" smtClean="0"/>
              <a:t>Assumes you have </a:t>
            </a:r>
          </a:p>
          <a:p>
            <a:pPr marL="778521" lvl="1" indent="-478483"/>
            <a:r>
              <a:rPr lang="en-GB" dirty="0" smtClean="0"/>
              <a:t>Installed the GCBASIC software</a:t>
            </a:r>
          </a:p>
          <a:p>
            <a:pPr marL="778521" lvl="1" indent="-478483"/>
            <a:r>
              <a:rPr lang="en-GB" dirty="0" smtClean="0"/>
              <a:t>Installed your programmer software</a:t>
            </a:r>
          </a:p>
          <a:p>
            <a:pPr marL="778521" lvl="1" indent="-478483"/>
            <a:r>
              <a:rPr lang="en-GB" dirty="0" smtClean="0"/>
              <a:t>Test that you have the </a:t>
            </a:r>
            <a:r>
              <a:rPr lang="en-GB" dirty="0" smtClean="0"/>
              <a:t>18FxxQ35 attached</a:t>
            </a:r>
            <a:endParaRPr lang="en-GB" dirty="0" smtClean="0"/>
          </a:p>
          <a:p>
            <a:pPr marL="778521" lvl="1" indent="-478483"/>
            <a:r>
              <a:rPr lang="en-GB" dirty="0" smtClean="0"/>
              <a:t>You have the 4 LEDs operating</a:t>
            </a:r>
          </a:p>
          <a:p>
            <a:pPr marL="778521" lvl="1" indent="-478483"/>
            <a:r>
              <a:rPr lang="en-GB" dirty="0" smtClean="0"/>
              <a:t>You have a POT connected</a:t>
            </a:r>
          </a:p>
          <a:p>
            <a:pPr marL="778521" lvl="1" indent="-478483"/>
            <a:r>
              <a:rPr lang="en-GB" dirty="0" smtClean="0"/>
              <a:t>You have </a:t>
            </a:r>
            <a:r>
              <a:rPr lang="en-GB" dirty="0" err="1" smtClean="0"/>
              <a:t>SWITCHes</a:t>
            </a:r>
            <a:r>
              <a:rPr lang="en-GB" dirty="0" smtClean="0"/>
              <a:t> connected</a:t>
            </a:r>
          </a:p>
          <a:p>
            <a:pPr marL="778521" lvl="1" indent="-478483"/>
            <a:r>
              <a:rPr lang="en-GB" dirty="0" smtClean="0"/>
              <a:t>You have a USB/TTL converter</a:t>
            </a:r>
          </a:p>
          <a:p>
            <a:pPr marL="778521" lvl="1" indent="-478483"/>
            <a:r>
              <a:rPr lang="en-GB" b="1" dirty="0" smtClean="0"/>
              <a:t>GLCD SPI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SPI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 smtClean="0"/>
              <a:t>Serial Peripheral Interface (SPI) is an interface bus commonly used to send data between microcontrollers and small peripherals such as GLCD, shift registers, sensors, and SD cards. </a:t>
            </a:r>
          </a:p>
          <a:p>
            <a:endParaRPr lang="en-GB" sz="2000" dirty="0" smtClean="0"/>
          </a:p>
          <a:p>
            <a:r>
              <a:rPr lang="en-GB" sz="2000" dirty="0" smtClean="0"/>
              <a:t>It uses separate </a:t>
            </a:r>
            <a:r>
              <a:rPr lang="en-GB" sz="2000" u="sng" dirty="0" smtClean="0"/>
              <a:t>clock</a:t>
            </a:r>
            <a:r>
              <a:rPr lang="en-GB" sz="2000" dirty="0" smtClean="0"/>
              <a:t> and </a:t>
            </a:r>
            <a:r>
              <a:rPr lang="en-GB" sz="2000" u="sng" dirty="0" smtClean="0"/>
              <a:t>data</a:t>
            </a:r>
            <a:r>
              <a:rPr lang="en-GB" sz="2000" dirty="0" smtClean="0"/>
              <a:t> lines, along with a </a:t>
            </a:r>
            <a:r>
              <a:rPr lang="en-GB" sz="2000" u="sng" dirty="0" smtClean="0"/>
              <a:t>select line </a:t>
            </a:r>
            <a:r>
              <a:rPr lang="en-GB" sz="2000" dirty="0" smtClean="0"/>
              <a:t>to choose the device you wish to control.</a:t>
            </a:r>
          </a:p>
          <a:p>
            <a:endParaRPr lang="en-GB" sz="2000" dirty="0" smtClean="0"/>
          </a:p>
          <a:p>
            <a:endParaRPr lang="en-GB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7817" y="52042"/>
            <a:ext cx="3533506" cy="1491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3779" y="3927076"/>
            <a:ext cx="3132832" cy="1203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99737" y="120409"/>
            <a:ext cx="3496511" cy="1357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58066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Hardware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Prototype Board</a:t>
            </a:r>
            <a:endParaRPr lang="en-GB" dirty="0"/>
          </a:p>
          <a:p>
            <a:r>
              <a:rPr lang="en-GB" dirty="0" smtClean="0"/>
              <a:t>Power 5v0</a:t>
            </a:r>
          </a:p>
          <a:p>
            <a:r>
              <a:rPr lang="en-GB" dirty="0" smtClean="0"/>
              <a:t>Programmer</a:t>
            </a:r>
          </a:p>
          <a:p>
            <a:r>
              <a:rPr lang="en-GB" dirty="0" smtClean="0"/>
              <a:t>LEDs &amp; resistors</a:t>
            </a:r>
          </a:p>
          <a:p>
            <a:r>
              <a:rPr lang="en-GB" dirty="0" smtClean="0"/>
              <a:t>Switches &amp; resistors</a:t>
            </a:r>
          </a:p>
          <a:p>
            <a:r>
              <a:rPr lang="en-GB" dirty="0" smtClean="0"/>
              <a:t>SPI device and circuit</a:t>
            </a:r>
          </a:p>
          <a:p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2411760" y="1851670"/>
            <a:ext cx="6336704" cy="166199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dirty="0" smtClean="0">
                <a:latin typeface="Courier New" pitchFamily="49" charset="0"/>
                <a:cs typeface="Courier New" pitchFamily="49" charset="0"/>
              </a:rPr>
              <a:t>------------------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PORTC-----------------</a:t>
            </a:r>
          </a:p>
          <a:p>
            <a:r>
              <a:rPr lang="en-GB" dirty="0" smtClean="0">
                <a:latin typeface="Courier New" pitchFamily="49" charset="0"/>
                <a:cs typeface="Courier New" pitchFamily="49" charset="0"/>
              </a:rPr>
              <a:t>Bit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#:  -7---6---5---4---3---2---1---0---</a:t>
            </a:r>
          </a:p>
          <a:p>
            <a:r>
              <a:rPr lang="en-GB" dirty="0" smtClean="0">
                <a:latin typeface="Courier New" pitchFamily="49" charset="0"/>
                <a:cs typeface="Courier New" pitchFamily="49" charset="0"/>
              </a:rPr>
              <a:t>IO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:    VDD-TX------SDO-SCK-RST--CS--DC--</a:t>
            </a:r>
          </a:p>
          <a:p>
            <a:r>
              <a:rPr lang="en-GB" dirty="0" smtClean="0">
                <a:latin typeface="Courier New" pitchFamily="49" charset="0"/>
                <a:cs typeface="Courier New" pitchFamily="49" charset="0"/>
              </a:rPr>
              <a:t>---------------------------------------- </a:t>
            </a:r>
            <a:endParaRPr lang="en-GB" dirty="0">
              <a:latin typeface="Courier New" pitchFamily="49" charset="0"/>
              <a:cs typeface="Courier New" pitchFamily="49" charset="0"/>
            </a:endParaRPr>
          </a:p>
          <a:p>
            <a:r>
              <a:rPr lang="en-GB" dirty="0">
                <a:latin typeface="Courier New" pitchFamily="49" charset="0"/>
                <a:cs typeface="Courier New" pitchFamily="49" charset="0"/>
              </a:rPr>
              <a:t/>
            </a:r>
            <a:br>
              <a:rPr lang="en-GB" dirty="0">
                <a:latin typeface="Courier New" pitchFamily="49" charset="0"/>
                <a:cs typeface="Courier New" pitchFamily="49" charset="0"/>
              </a:rPr>
            </a:br>
            <a:endParaRPr lang="en-GB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168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Setup - Connections</a:t>
            </a:r>
            <a:endParaRPr lang="en-GB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995686"/>
            <a:ext cx="4545097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1518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Setup - Program</a:t>
            </a:r>
            <a:endParaRPr lang="en-GB" dirty="0"/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5181600" y="96396"/>
            <a:ext cx="0" cy="432048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188848" y="106680"/>
            <a:ext cx="3343592" cy="16798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516216" y="3795886"/>
            <a:ext cx="0" cy="108012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 flipV="1">
            <a:off x="5303520" y="350520"/>
            <a:ext cx="11440" cy="16761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6372200" y="339502"/>
            <a:ext cx="0" cy="3024336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5292080" y="339502"/>
            <a:ext cx="108012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542776" y="2018546"/>
            <a:ext cx="64107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DATA</a:t>
            </a:r>
            <a:endParaRPr lang="en-GB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r="14956"/>
          <a:stretch>
            <a:fillRect/>
          </a:stretch>
        </p:blipFill>
        <p:spPr bwMode="auto">
          <a:xfrm>
            <a:off x="4391040" y="485016"/>
            <a:ext cx="1837144" cy="185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2" name="Straight Connector 21"/>
          <p:cNvCxnSpPr/>
          <p:nvPr/>
        </p:nvCxnSpPr>
        <p:spPr>
          <a:xfrm>
            <a:off x="6516216" y="4876006"/>
            <a:ext cx="2088232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8532440" y="123478"/>
            <a:ext cx="72008" cy="4752528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5654040" y="2324100"/>
            <a:ext cx="0" cy="1073636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 flipV="1">
            <a:off x="5443364" y="252606"/>
            <a:ext cx="12556" cy="372234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>
            <a:off x="5436096" y="266700"/>
            <a:ext cx="1056144" cy="794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6477000" y="257532"/>
            <a:ext cx="8032" cy="2066568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H="1">
            <a:off x="5654040" y="2315686"/>
            <a:ext cx="834792" cy="8414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5655310" y="3887346"/>
            <a:ext cx="1920" cy="113423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>
            <a:off x="5652120" y="5020022"/>
            <a:ext cx="3096344" cy="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H="1" flipV="1">
            <a:off x="8718550" y="400050"/>
            <a:ext cx="28590" cy="462029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H="1">
            <a:off x="5560318" y="387350"/>
            <a:ext cx="3170932" cy="635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5576838" y="386655"/>
            <a:ext cx="0" cy="126122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V="1">
            <a:off x="5720557" y="471338"/>
            <a:ext cx="0" cy="126122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H="1" flipV="1">
            <a:off x="5536617" y="3872236"/>
            <a:ext cx="9548" cy="1231670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flipH="1">
            <a:off x="5546166" y="5074024"/>
            <a:ext cx="3346822" cy="11953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H="1" flipV="1">
            <a:off x="8869082" y="466165"/>
            <a:ext cx="13865" cy="4620896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H="1">
            <a:off x="5707580" y="472141"/>
            <a:ext cx="3173455" cy="14195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93153" y="2365102"/>
            <a:ext cx="3998210" cy="23544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GB" sz="1000" dirty="0" smtClean="0"/>
              <a:t> This is a PPS chip, so, needs to make the PPS </a:t>
            </a:r>
            <a:r>
              <a:rPr lang="en-GB" sz="1000" b="1" dirty="0" smtClean="0"/>
              <a:t>match</a:t>
            </a:r>
            <a:r>
              <a:rPr lang="en-GB" sz="1000" dirty="0" smtClean="0"/>
              <a:t> these assignments</a:t>
            </a:r>
          </a:p>
          <a:p>
            <a:endParaRPr lang="en-GB" sz="1000" dirty="0" smtClean="0"/>
          </a:p>
          <a:p>
            <a:r>
              <a:rPr lang="en-GB" sz="1000" dirty="0">
                <a:latin typeface="Courier New" pitchFamily="49" charset="0"/>
                <a:cs typeface="Courier New" pitchFamily="49" charset="0"/>
              </a:rPr>
              <a:t>/* Pin mappings for GLCD </a:t>
            </a:r>
            <a:r>
              <a:rPr lang="en-GB" sz="1000" dirty="0" smtClean="0">
                <a:latin typeface="Courier New" pitchFamily="49" charset="0"/>
                <a:cs typeface="Courier New" pitchFamily="49" charset="0"/>
              </a:rPr>
              <a:t>data and clock</a:t>
            </a:r>
          </a:p>
          <a:p>
            <a:r>
              <a:rPr lang="en-GB" sz="1000" dirty="0" smtClean="0">
                <a:latin typeface="Courier New" pitchFamily="49" charset="0"/>
                <a:cs typeface="Courier New" pitchFamily="49" charset="0"/>
              </a:rPr>
              <a:t>#</a:t>
            </a:r>
            <a:r>
              <a:rPr lang="en-GB" sz="1000" dirty="0">
                <a:latin typeface="Courier New" pitchFamily="49" charset="0"/>
                <a:cs typeface="Courier New" pitchFamily="49" charset="0"/>
              </a:rPr>
              <a:t>DEFINE GLCD_DO     </a:t>
            </a:r>
            <a:r>
              <a:rPr lang="en-GB" sz="1000" dirty="0" smtClean="0">
                <a:latin typeface="Courier New" pitchFamily="49" charset="0"/>
                <a:cs typeface="Courier New" pitchFamily="49" charset="0"/>
              </a:rPr>
              <a:t>portC.4</a:t>
            </a:r>
            <a:endParaRPr lang="en-GB" sz="1000" dirty="0">
              <a:latin typeface="Courier New" pitchFamily="49" charset="0"/>
              <a:cs typeface="Courier New" pitchFamily="49" charset="0"/>
            </a:endParaRPr>
          </a:p>
          <a:p>
            <a:r>
              <a:rPr lang="en-GB" sz="1000" dirty="0">
                <a:latin typeface="Courier New" pitchFamily="49" charset="0"/>
                <a:cs typeface="Courier New" pitchFamily="49" charset="0"/>
              </a:rPr>
              <a:t>#DEFINE GLCD_SCK    </a:t>
            </a:r>
            <a:r>
              <a:rPr lang="en-GB" sz="1000" dirty="0" smtClean="0">
                <a:latin typeface="Courier New" pitchFamily="49" charset="0"/>
                <a:cs typeface="Courier New" pitchFamily="49" charset="0"/>
              </a:rPr>
              <a:t>portC.3</a:t>
            </a:r>
            <a:endParaRPr lang="en-GB" sz="1000" dirty="0">
              <a:latin typeface="Courier New" pitchFamily="49" charset="0"/>
              <a:cs typeface="Courier New" pitchFamily="49" charset="0"/>
            </a:endParaRPr>
          </a:p>
          <a:p>
            <a:r>
              <a:rPr lang="en-GB" sz="1000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GB" sz="1000" dirty="0" smtClean="0">
                <a:latin typeface="Courier New" pitchFamily="49" charset="0"/>
                <a:cs typeface="Courier New" pitchFamily="49" charset="0"/>
              </a:rPr>
            </a:br>
            <a:r>
              <a:rPr lang="en-GB" sz="1000" dirty="0" smtClean="0">
                <a:latin typeface="Courier New" pitchFamily="49" charset="0"/>
                <a:cs typeface="Courier New" pitchFamily="49" charset="0"/>
              </a:rPr>
              <a:t>/* Pin mappings for GLCD support</a:t>
            </a:r>
          </a:p>
          <a:p>
            <a:r>
              <a:rPr lang="en-GB" sz="1000" dirty="0" smtClean="0">
                <a:latin typeface="Courier New" pitchFamily="49" charset="0"/>
                <a:cs typeface="Courier New" pitchFamily="49" charset="0"/>
              </a:rPr>
              <a:t>#</a:t>
            </a:r>
            <a:r>
              <a:rPr lang="en-GB" sz="1000" dirty="0">
                <a:latin typeface="Courier New" pitchFamily="49" charset="0"/>
                <a:cs typeface="Courier New" pitchFamily="49" charset="0"/>
              </a:rPr>
              <a:t>DEFINE GLCD_DC     portC.0</a:t>
            </a:r>
          </a:p>
          <a:p>
            <a:r>
              <a:rPr lang="en-GB" sz="1000" dirty="0">
                <a:latin typeface="Courier New" pitchFamily="49" charset="0"/>
                <a:cs typeface="Courier New" pitchFamily="49" charset="0"/>
              </a:rPr>
              <a:t>#DEFINE GLCD_CS     portC.1</a:t>
            </a:r>
          </a:p>
          <a:p>
            <a:r>
              <a:rPr lang="en-GB" sz="1000" dirty="0">
                <a:latin typeface="Courier New" pitchFamily="49" charset="0"/>
                <a:cs typeface="Courier New" pitchFamily="49" charset="0"/>
              </a:rPr>
              <a:t>#DEFINE GLCD_RESET  portC.2    </a:t>
            </a:r>
            <a:r>
              <a:rPr lang="en-GB" sz="1000" b="1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GB" sz="1000" b="1" dirty="0" smtClean="0">
                <a:latin typeface="Courier New" pitchFamily="49" charset="0"/>
                <a:cs typeface="Courier New" pitchFamily="49" charset="0"/>
              </a:rPr>
            </a:br>
            <a:r>
              <a:rPr lang="en-GB" sz="1000" b="1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GB" sz="1000" b="1" dirty="0" smtClean="0">
                <a:latin typeface="Courier New" pitchFamily="49" charset="0"/>
                <a:cs typeface="Courier New" pitchFamily="49" charset="0"/>
              </a:rPr>
            </a:br>
            <a:r>
              <a:rPr lang="en-GB" sz="1000" dirty="0">
                <a:latin typeface="Courier New" pitchFamily="49" charset="0"/>
                <a:cs typeface="Courier New" pitchFamily="49" charset="0"/>
              </a:rPr>
              <a:t>#DEFINE </a:t>
            </a:r>
            <a:r>
              <a:rPr lang="en-GB" sz="1000" b="1" dirty="0">
                <a:latin typeface="Courier New" pitchFamily="49" charset="0"/>
                <a:cs typeface="Courier New" pitchFamily="49" charset="0"/>
              </a:rPr>
              <a:t>SSD1331_HardwareSPI</a:t>
            </a:r>
          </a:p>
          <a:p>
            <a:endParaRPr lang="en-GB" sz="1000" b="1" dirty="0" smtClean="0">
              <a:latin typeface="Courier New" pitchFamily="49" charset="0"/>
              <a:cs typeface="Courier New" pitchFamily="49" charset="0"/>
            </a:endParaRPr>
          </a:p>
          <a:p>
            <a:endParaRPr lang="en-GB" dirty="0"/>
          </a:p>
        </p:txBody>
      </p:sp>
      <p:sp>
        <p:nvSpPr>
          <p:cNvPr id="83" name="Rectangle 82"/>
          <p:cNvSpPr/>
          <p:nvPr/>
        </p:nvSpPr>
        <p:spPr>
          <a:xfrm>
            <a:off x="4499992" y="915566"/>
            <a:ext cx="1656184" cy="86409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dirty="0" smtClean="0"/>
              <a:t>SPI GLCD</a:t>
            </a:r>
          </a:p>
          <a:p>
            <a:pPr algn="ctr"/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31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456" y="3147814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78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6696744" cy="990600"/>
          </a:xfrm>
          <a:solidFill>
            <a:schemeClr val="bg1"/>
          </a:solidFill>
        </p:spPr>
        <p:txBody>
          <a:bodyPr/>
          <a:lstStyle/>
          <a:p>
            <a:pPr algn="l"/>
            <a:r>
              <a:rPr lang="en-GB" dirty="0" smtClean="0"/>
              <a:t>Setup – when things do not work ..</a:t>
            </a:r>
            <a:endParaRPr lang="en-GB" dirty="0"/>
          </a:p>
        </p:txBody>
      </p:sp>
      <p:sp>
        <p:nvSpPr>
          <p:cNvPr id="82" name="TextBox 81"/>
          <p:cNvSpPr txBox="1"/>
          <p:nvPr/>
        </p:nvSpPr>
        <p:spPr>
          <a:xfrm>
            <a:off x="323528" y="1812461"/>
            <a:ext cx="5544616" cy="2919529"/>
          </a:xfrm>
          <a:prstGeom prst="rect">
            <a:avLst/>
          </a:prstGeom>
        </p:spPr>
        <p:txBody>
          <a:bodyPr vert="horz" lIns="85064" tIns="42531" rIns="85064" bIns="42531" rtlCol="0">
            <a:normAutofit fontScale="70000" lnSpcReduction="20000"/>
          </a:bodyPr>
          <a:lstStyle>
            <a:lvl1pPr marL="318988" indent="-318988">
              <a:spcBef>
                <a:spcPct val="20000"/>
              </a:spcBef>
              <a:buFont typeface="Arial" pitchFamily="34" charset="0"/>
              <a:buChar char="•"/>
              <a:defRPr sz="2000"/>
            </a:lvl1pPr>
            <a:lvl2pPr marL="691142" indent="-265824">
              <a:spcBef>
                <a:spcPct val="20000"/>
              </a:spcBef>
              <a:buFont typeface="Arial" pitchFamily="34" charset="0"/>
              <a:buChar char="–"/>
              <a:defRPr sz="2600"/>
            </a:lvl2pPr>
            <a:lvl3pPr marL="1063295" indent="-212659">
              <a:spcBef>
                <a:spcPct val="20000"/>
              </a:spcBef>
              <a:buFont typeface="Arial" pitchFamily="34" charset="0"/>
              <a:buChar char="•"/>
              <a:defRPr sz="2200"/>
            </a:lvl3pPr>
            <a:lvl4pPr marL="1488614" indent="-212659">
              <a:spcBef>
                <a:spcPct val="20000"/>
              </a:spcBef>
              <a:buFont typeface="Arial" pitchFamily="34" charset="0"/>
              <a:buChar char="–"/>
              <a:defRPr sz="1900"/>
            </a:lvl4pPr>
            <a:lvl5pPr marL="1913932" indent="-212659">
              <a:spcBef>
                <a:spcPct val="20000"/>
              </a:spcBef>
              <a:buFont typeface="Arial" pitchFamily="34" charset="0"/>
              <a:buChar char="»"/>
              <a:defRPr sz="1900"/>
            </a:lvl5pPr>
            <a:lvl6pPr marL="2339250" indent="-212659">
              <a:spcBef>
                <a:spcPct val="20000"/>
              </a:spcBef>
              <a:buFont typeface="Arial" pitchFamily="34" charset="0"/>
              <a:buChar char="•"/>
              <a:defRPr sz="1900"/>
            </a:lvl6pPr>
            <a:lvl7pPr marL="2764568" indent="-212659">
              <a:spcBef>
                <a:spcPct val="20000"/>
              </a:spcBef>
              <a:buFont typeface="Arial" pitchFamily="34" charset="0"/>
              <a:buChar char="•"/>
              <a:defRPr sz="1900"/>
            </a:lvl7pPr>
            <a:lvl8pPr marL="3189887" indent="-212659">
              <a:spcBef>
                <a:spcPct val="20000"/>
              </a:spcBef>
              <a:buFont typeface="Arial" pitchFamily="34" charset="0"/>
              <a:buChar char="•"/>
              <a:defRPr sz="1900"/>
            </a:lvl8pPr>
            <a:lvl9pPr marL="3615205" indent="-212659">
              <a:spcBef>
                <a:spcPct val="20000"/>
              </a:spcBef>
              <a:buFont typeface="Arial" pitchFamily="34" charset="0"/>
              <a:buChar char="•"/>
              <a:defRPr sz="1900"/>
            </a:lvl9pPr>
          </a:lstStyle>
          <a:p>
            <a:r>
              <a:rPr lang="en-GB" dirty="0" smtClean="0"/>
              <a:t>Things </a:t>
            </a:r>
            <a:r>
              <a:rPr lang="en-GB" dirty="0"/>
              <a:t>do not always work</a:t>
            </a:r>
          </a:p>
          <a:p>
            <a:pPr lvl="1"/>
            <a:r>
              <a:rPr lang="en-GB" sz="1800" dirty="0"/>
              <a:t>The more </a:t>
            </a:r>
            <a:r>
              <a:rPr lang="en-GB" sz="1800" dirty="0" smtClean="0"/>
              <a:t>connections the more trouble</a:t>
            </a:r>
          </a:p>
          <a:p>
            <a:pPr lvl="1"/>
            <a:endParaRPr lang="en-GB" sz="1800" dirty="0"/>
          </a:p>
          <a:p>
            <a:r>
              <a:rPr lang="en-GB" dirty="0"/>
              <a:t>Things we </a:t>
            </a:r>
            <a:r>
              <a:rPr lang="en-GB" dirty="0" smtClean="0"/>
              <a:t>know</a:t>
            </a:r>
          </a:p>
          <a:p>
            <a:pPr lvl="1"/>
            <a:r>
              <a:rPr lang="en-GB" sz="1800" dirty="0"/>
              <a:t>The GLCD demonstration works</a:t>
            </a:r>
          </a:p>
          <a:p>
            <a:pPr lvl="1"/>
            <a:r>
              <a:rPr lang="en-GB" sz="1800" dirty="0"/>
              <a:t>Therefore is not likely to be the libraries but … work through the </a:t>
            </a:r>
            <a:r>
              <a:rPr lang="en-GB" sz="1800" dirty="0" smtClean="0"/>
              <a:t>checklist first</a:t>
            </a:r>
          </a:p>
          <a:p>
            <a:pPr lvl="1"/>
            <a:endParaRPr lang="en-GB" sz="1800" dirty="0" smtClean="0"/>
          </a:p>
          <a:p>
            <a:r>
              <a:rPr lang="en-GB" dirty="0"/>
              <a:t>Checklist</a:t>
            </a:r>
          </a:p>
          <a:p>
            <a:pPr marL="768218" lvl="1" indent="-342900">
              <a:buFont typeface="+mj-lt"/>
              <a:buAutoNum type="arabicPeriod"/>
            </a:pPr>
            <a:r>
              <a:rPr lang="en-GB" sz="1800" dirty="0" smtClean="0"/>
              <a:t>Check your connections, twice</a:t>
            </a:r>
          </a:p>
          <a:p>
            <a:pPr marL="768218" lvl="1" indent="-342900">
              <a:buFont typeface="+mj-lt"/>
              <a:buAutoNum type="arabicPeriod"/>
            </a:pPr>
            <a:r>
              <a:rPr lang="en-GB" sz="1800" dirty="0" smtClean="0"/>
              <a:t>Write a program to pulse a signal on each line, each line on at a time</a:t>
            </a:r>
          </a:p>
          <a:p>
            <a:pPr marL="768218" lvl="1" indent="-342900">
              <a:buFont typeface="+mj-lt"/>
              <a:buAutoNum type="arabicPeriod"/>
            </a:pPr>
            <a:r>
              <a:rPr lang="en-GB" sz="1800" dirty="0" smtClean="0"/>
              <a:t>Always use the software SPI first to prove connectivity</a:t>
            </a:r>
          </a:p>
          <a:p>
            <a:pPr marL="768218" lvl="1" indent="-342900">
              <a:buFont typeface="+mj-lt"/>
              <a:buAutoNum type="arabicPeriod"/>
            </a:pPr>
            <a:r>
              <a:rPr lang="en-GB" sz="1800" dirty="0" smtClean="0"/>
              <a:t>Then, use PPS/hardware SPI is #3 works</a:t>
            </a:r>
            <a:endParaRPr lang="en-GB" sz="1800" dirty="0"/>
          </a:p>
          <a:p>
            <a:pPr marL="425318" lvl="1" indent="0">
              <a:buNone/>
            </a:pPr>
            <a:endParaRPr lang="en-GB" dirty="0"/>
          </a:p>
          <a:p>
            <a:endParaRPr lang="en-GB" sz="12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624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Lab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Review setup and operation of a SPI GLCD</a:t>
            </a:r>
          </a:p>
          <a:p>
            <a:pPr lvl="1"/>
            <a:r>
              <a:rPr lang="en-GB" dirty="0" smtClean="0"/>
              <a:t>Software SPI – bit banging</a:t>
            </a:r>
          </a:p>
          <a:p>
            <a:pPr lvl="1"/>
            <a:r>
              <a:rPr lang="en-GB" dirty="0" err="1" smtClean="0"/>
              <a:t>Harware</a:t>
            </a:r>
            <a:r>
              <a:rPr lang="en-GB" dirty="0" smtClean="0"/>
              <a:t> SPI – with PPS ( of course)</a:t>
            </a:r>
          </a:p>
          <a:p>
            <a:pPr lvl="2"/>
            <a:r>
              <a:rPr lang="en-GB" dirty="0" smtClean="0"/>
              <a:t>Conditional compilation</a:t>
            </a:r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958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</a:t>
            </a:r>
            <a:r>
              <a:rPr lang="en-GB" sz="1100" dirty="0" smtClean="0"/>
              <a:t>timer0 </a:t>
            </a:r>
            <a:r>
              <a:rPr lang="en-GB" sz="1100" dirty="0"/>
              <a:t>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smtClean="0"/>
              <a:t>I2C </a:t>
            </a:r>
            <a:r>
              <a:rPr lang="en-GB" sz="1100" dirty="0"/>
              <a:t>GCLD </a:t>
            </a:r>
            <a:r>
              <a:rPr lang="en-GB" sz="1100" dirty="0" smtClean="0"/>
              <a:t>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</a:t>
            </a:r>
            <a:r>
              <a:rPr lang="en-GB" sz="1100" dirty="0" smtClean="0"/>
              <a:t>SPI GLCD  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PWM</a:t>
            </a:r>
            <a:r>
              <a:rPr lang="en-GB" sz="1100" b="1" dirty="0" smtClean="0"/>
              <a:t>, many ways</a:t>
            </a:r>
            <a:r>
              <a:rPr lang="en-GB" sz="1100" b="1" dirty="0"/>
              <a:t>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Progmem,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2157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374124"/>
            <a:ext cx="4124707" cy="1234727"/>
          </a:xfrm>
        </p:spPr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3995936" y="2862554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PIC18FxxQ35chip Family</a:t>
            </a:r>
          </a:p>
          <a:p>
            <a:r>
              <a:rPr lang="en-GB" dirty="0"/>
              <a:t>Part 13 - Using a SPI GLCD  display solutions</a:t>
            </a:r>
            <a:endParaRPr lang="en-GB" dirty="0"/>
          </a:p>
        </p:txBody>
      </p:sp>
      <p:pic>
        <p:nvPicPr>
          <p:cNvPr id="6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093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15021</TotalTime>
  <Words>979</Words>
  <Application>Microsoft Office PowerPoint</Application>
  <PresentationFormat>On-screen Show (16:9)</PresentationFormat>
  <Paragraphs>176</Paragraphs>
  <Slides>20</Slides>
  <Notes>0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GCstudioThemeLight</vt:lpstr>
      <vt:lpstr>GCBASIC</vt:lpstr>
      <vt:lpstr>GCBASIC</vt:lpstr>
      <vt:lpstr>GCBASIC</vt:lpstr>
      <vt:lpstr>PIC18FxxQ35</vt:lpstr>
      <vt:lpstr>Videos...</vt:lpstr>
      <vt:lpstr>GCBASIC Compiler</vt:lpstr>
      <vt:lpstr>PowerPoint Presentation</vt:lpstr>
      <vt:lpstr>PowerPoint Presentation</vt:lpstr>
      <vt:lpstr>Schematic</vt:lpstr>
      <vt:lpstr>VDDIO2 Domain Power</vt:lpstr>
      <vt:lpstr>Prerequisites </vt:lpstr>
      <vt:lpstr>SPI</vt:lpstr>
      <vt:lpstr>Hardware</vt:lpstr>
      <vt:lpstr>Setup - Connections</vt:lpstr>
      <vt:lpstr>Setup - Program</vt:lpstr>
      <vt:lpstr>Setup – when things do not work ..</vt:lpstr>
      <vt:lpstr>Lab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admin</cp:lastModifiedBy>
  <cp:revision>775</cp:revision>
  <dcterms:created xsi:type="dcterms:W3CDTF">2019-01-08T20:03:06Z</dcterms:created>
  <dcterms:modified xsi:type="dcterms:W3CDTF">2026-08-16T15:41:32Z</dcterms:modified>
</cp:coreProperties>
</file>