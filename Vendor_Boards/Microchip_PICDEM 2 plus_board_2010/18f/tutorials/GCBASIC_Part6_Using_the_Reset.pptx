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27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25" r:id="rId11"/>
    <p:sldId id="326" r:id="rId12"/>
    <p:sldId id="322" r:id="rId13"/>
    <p:sldId id="288" r:id="rId14"/>
    <p:sldId id="324" r:id="rId15"/>
    <p:sldId id="336" r:id="rId16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 varScale="1"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PIC18FxxQ35chip Family</a:t>
            </a:r>
          </a:p>
          <a:p>
            <a:r>
              <a:rPr lang="en-GB" dirty="0" smtClean="0"/>
              <a:t>Part 6 </a:t>
            </a:r>
            <a:r>
              <a:rPr lang="en-GB" dirty="0"/>
              <a:t>– Using the reset </a:t>
            </a:r>
            <a:r>
              <a:rPr lang="en-GB" dirty="0" smtClean="0"/>
              <a:t>switch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940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6 – Using the reset switch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95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76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825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321345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49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or</a:t>
            </a:r>
          </a:p>
          <a:p>
            <a:r>
              <a:rPr lang="en-GB" sz="1000" dirty="0"/>
              <a:t>9V battery, or hooks for a +5V, 100 mA regulated DC supply</a:t>
            </a:r>
          </a:p>
          <a:p>
            <a:r>
              <a:rPr lang="en-GB" sz="1000" dirty="0"/>
              <a:t>3. RS-232 socket and associated hardware for direct connection to an RS-232</a:t>
            </a:r>
          </a:p>
          <a:p>
            <a:r>
              <a:rPr lang="en-GB" sz="1000" dirty="0"/>
              <a:t>interface</a:t>
            </a: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such</a:t>
            </a:r>
          </a:p>
          <a:p>
            <a:r>
              <a:rPr lang="en-GB" sz="1000" dirty="0"/>
              <a:t>as 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</p:spTree>
    <p:extLst>
      <p:ext uri="{BB962C8B-B14F-4D97-AF65-F5344CB8AC3E}">
        <p14:creationId xmlns:p14="http://schemas.microsoft.com/office/powerpoint/2010/main" val="230694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203598"/>
            <a:ext cx="963101" cy="13681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82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23911"/>
            <a:ext cx="2659261" cy="226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899592" y="2643758"/>
            <a:ext cx="4792242" cy="91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91" y="1027701"/>
            <a:ext cx="3730427" cy="3854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635896" y="1563638"/>
            <a:ext cx="1296144" cy="1391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1714977" y="3418373"/>
            <a:ext cx="2520280" cy="1027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1714977" y="3507242"/>
            <a:ext cx="120719" cy="578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683568" y="3976984"/>
            <a:ext cx="1152128" cy="178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19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6120680" cy="384288"/>
          </a:xfrm>
          <a:solidFill>
            <a:schemeClr val="bg1"/>
          </a:solidFill>
        </p:spPr>
        <p:txBody>
          <a:bodyPr vert="horz" lIns="0" tIns="0" rIns="0" bIns="0" rtlCol="0" anchor="t">
            <a:normAutofit fontScale="90000"/>
          </a:bodyPr>
          <a:lstStyle/>
          <a:p>
            <a:pPr algn="l"/>
            <a:r>
              <a:rPr lang="en-GB" dirty="0" smtClean="0"/>
              <a:t>Using the Reset as input or Master Clear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RE3 Pin Functionality Overview</a:t>
            </a:r>
            <a:endParaRPr lang="en-GB" dirty="0"/>
          </a:p>
          <a:p>
            <a:pPr lvl="1"/>
            <a:r>
              <a:rPr lang="en-GB" dirty="0"/>
              <a:t>RE3 is a multifunctional pin on certain PIC microcontrollers.</a:t>
            </a:r>
          </a:p>
          <a:p>
            <a:pPr lvl="1"/>
            <a:r>
              <a:rPr lang="en-GB" dirty="0"/>
              <a:t>It can operate either as a digital input or as a Master Clear (reset) signal</a:t>
            </a:r>
            <a:r>
              <a:rPr lang="en-GB" dirty="0" smtClean="0"/>
              <a:t>.</a:t>
            </a:r>
          </a:p>
          <a:p>
            <a:pPr lvl="1"/>
            <a:endParaRPr lang="en-GB" dirty="0"/>
          </a:p>
          <a:p>
            <a:r>
              <a:rPr lang="en-GB" b="1" dirty="0"/>
              <a:t>🔧 Configuration Control via MCRLE Register</a:t>
            </a:r>
            <a:endParaRPr lang="en-GB" dirty="0"/>
          </a:p>
          <a:p>
            <a:pPr lvl="1"/>
            <a:r>
              <a:rPr lang="en-GB" b="1" dirty="0" smtClean="0"/>
              <a:t>EXTMCLR</a:t>
            </a:r>
            <a:r>
              <a:rPr lang="en-GB" dirty="0" smtClean="0"/>
              <a:t>: </a:t>
            </a:r>
            <a:r>
              <a:rPr lang="en-GB" dirty="0"/>
              <a:t>External Master Clear enabled → RE3 functions as </a:t>
            </a:r>
            <a:r>
              <a:rPr lang="en-GB" b="1" dirty="0"/>
              <a:t>MCLR</a:t>
            </a:r>
            <a:r>
              <a:rPr lang="en-GB" dirty="0"/>
              <a:t> (reset input)</a:t>
            </a:r>
          </a:p>
          <a:p>
            <a:pPr lvl="1"/>
            <a:r>
              <a:rPr lang="en-GB" b="1" dirty="0" smtClean="0"/>
              <a:t>INTMCLR</a:t>
            </a:r>
            <a:r>
              <a:rPr lang="en-GB" dirty="0" smtClean="0"/>
              <a:t>: </a:t>
            </a:r>
            <a:r>
              <a:rPr lang="en-GB" dirty="0"/>
              <a:t>Internal Master Clear enabled → RE3 functions as </a:t>
            </a:r>
            <a:r>
              <a:rPr lang="en-GB" b="1" dirty="0"/>
              <a:t>digital input</a:t>
            </a:r>
            <a:r>
              <a:rPr lang="en-GB" dirty="0"/>
              <a:t> (e.g., switch</a:t>
            </a:r>
            <a:r>
              <a:rPr lang="en-GB" dirty="0" smtClean="0"/>
              <a:t>)</a:t>
            </a:r>
          </a:p>
          <a:p>
            <a:pPr marL="342900" lvl="1" indent="0">
              <a:buNone/>
            </a:pPr>
            <a:endParaRPr lang="en-GB" dirty="0"/>
          </a:p>
          <a:p>
            <a:r>
              <a:rPr lang="en-GB" b="1" dirty="0"/>
              <a:t>🧠 Design Implications</a:t>
            </a:r>
            <a:endParaRPr lang="en-GB" dirty="0"/>
          </a:p>
          <a:p>
            <a:pPr lvl="1"/>
            <a:r>
              <a:rPr lang="en-GB" dirty="0"/>
              <a:t>Choose </a:t>
            </a:r>
            <a:r>
              <a:rPr lang="en-GB" b="1" dirty="0" smtClean="0"/>
              <a:t>EXTMCLR</a:t>
            </a:r>
            <a:r>
              <a:rPr lang="en-GB" dirty="0" smtClean="0"/>
              <a:t> </a:t>
            </a:r>
            <a:r>
              <a:rPr lang="en-GB" dirty="0"/>
              <a:t>for hardware reset capability.</a:t>
            </a:r>
          </a:p>
          <a:p>
            <a:pPr lvl="1"/>
            <a:r>
              <a:rPr lang="en-GB" dirty="0"/>
              <a:t>Choose </a:t>
            </a:r>
            <a:r>
              <a:rPr lang="en-GB" b="1" dirty="0" smtClean="0"/>
              <a:t>INTMCLR</a:t>
            </a:r>
            <a:r>
              <a:rPr lang="en-GB" dirty="0" smtClean="0"/>
              <a:t> </a:t>
            </a:r>
            <a:r>
              <a:rPr lang="en-GB" dirty="0"/>
              <a:t>to repurpose RE3 for input tasks like button detection.</a:t>
            </a:r>
          </a:p>
          <a:p>
            <a:pPr lvl="2">
              <a:buNone/>
            </a:pPr>
            <a:endParaRPr lang="en-GB" i="1" dirty="0" smtClean="0"/>
          </a:p>
          <a:p>
            <a:pPr lvl="2">
              <a:buNone/>
            </a:pP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6690742" y="3843784"/>
            <a:ext cx="360040" cy="248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684491" y="3924151"/>
            <a:ext cx="373534" cy="1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08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20072" y="46594"/>
            <a:ext cx="3038649" cy="4892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Tutorial overview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Part 1 – RE3 as input</a:t>
            </a:r>
          </a:p>
          <a:p>
            <a:pPr lvl="1"/>
            <a:r>
              <a:rPr lang="en-GB" dirty="0" smtClean="0"/>
              <a:t>Initialise</a:t>
            </a:r>
          </a:p>
          <a:p>
            <a:pPr lvl="1"/>
            <a:r>
              <a:rPr lang="en-GB" dirty="0" smtClean="0"/>
              <a:t>Check the reset switch </a:t>
            </a:r>
          </a:p>
          <a:p>
            <a:pPr lvl="2"/>
            <a:r>
              <a:rPr lang="en-GB" dirty="0" smtClean="0"/>
              <a:t>If pushed then toggle LED</a:t>
            </a:r>
          </a:p>
          <a:p>
            <a:r>
              <a:rPr lang="en-GB" dirty="0" smtClean="0"/>
              <a:t>Part 2 – RE3 as reset</a:t>
            </a:r>
          </a:p>
          <a:p>
            <a:pPr lvl="1"/>
            <a:r>
              <a:rPr lang="en-GB" dirty="0" smtClean="0"/>
              <a:t>Initialise</a:t>
            </a:r>
          </a:p>
          <a:p>
            <a:pPr lvl="1"/>
            <a:r>
              <a:rPr lang="en-GB" dirty="0" smtClean="0"/>
              <a:t>Resets every time…</a:t>
            </a:r>
          </a:p>
          <a:p>
            <a:pPr lvl="1">
              <a:buNone/>
            </a:pPr>
            <a:endParaRPr lang="en-GB" dirty="0" smtClean="0"/>
          </a:p>
          <a:p>
            <a:pPr lvl="1">
              <a:buNone/>
            </a:pPr>
            <a:endParaRPr lang="en-GB" dirty="0" smtClean="0"/>
          </a:p>
        </p:txBody>
      </p:sp>
      <p:sp>
        <p:nvSpPr>
          <p:cNvPr id="4" name="Flowchart: Alternate Process 3"/>
          <p:cNvSpPr/>
          <p:nvPr/>
        </p:nvSpPr>
        <p:spPr>
          <a:xfrm>
            <a:off x="5573202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Initialise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73202" y="9155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Flash an LED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5686358" y="2074292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800" b="1" dirty="0" err="1" smtClean="0">
                <a:solidFill>
                  <a:schemeClr val="tx1"/>
                </a:solidFill>
              </a:rPr>
              <a:t>RSTButton</a:t>
            </a:r>
            <a:r>
              <a:rPr lang="en-GB" sz="800" b="1" dirty="0" smtClean="0">
                <a:solidFill>
                  <a:schemeClr val="tx1"/>
                </a:solidFill>
              </a:rPr>
              <a:t> = 0</a:t>
            </a:r>
            <a:endParaRPr lang="en-GB" sz="8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6365290" y="69954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8" idx="0"/>
          </p:cNvCxnSpPr>
          <p:nvPr/>
        </p:nvCxnSpPr>
        <p:spPr>
          <a:xfrm>
            <a:off x="6360820" y="1809750"/>
            <a:ext cx="4471" cy="264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Alternate Process 21"/>
          <p:cNvSpPr/>
          <p:nvPr/>
        </p:nvSpPr>
        <p:spPr>
          <a:xfrm>
            <a:off x="5573202" y="444395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Loop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33" name="Flowchart: Alternate Process 32"/>
          <p:cNvSpPr/>
          <p:nvPr/>
        </p:nvSpPr>
        <p:spPr>
          <a:xfrm>
            <a:off x="7164288" y="3075806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Set LED State</a:t>
            </a:r>
            <a:endParaRPr lang="en-GB" sz="8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360236" y="2650356"/>
            <a:ext cx="10109" cy="1788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8" idx="3"/>
            <a:endCxn id="33" idx="0"/>
          </p:cNvCxnSpPr>
          <p:nvPr/>
        </p:nvCxnSpPr>
        <p:spPr>
          <a:xfrm>
            <a:off x="7044223" y="2362324"/>
            <a:ext cx="624121" cy="71348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3" idx="2"/>
            <a:endCxn id="22" idx="3"/>
          </p:cNvCxnSpPr>
          <p:nvPr/>
        </p:nvCxnSpPr>
        <p:spPr>
          <a:xfrm rot="5400000">
            <a:off x="6818795" y="3774429"/>
            <a:ext cx="1188132" cy="5109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44717" y="3075806"/>
            <a:ext cx="441146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No</a:t>
            </a:r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7438058" y="2400548"/>
            <a:ext cx="468783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Yes</a:t>
            </a:r>
            <a:endParaRPr lang="en-GB" dirty="0"/>
          </a:p>
        </p:txBody>
      </p:sp>
      <p:sp>
        <p:nvSpPr>
          <p:cNvPr id="32" name="Flowchart: Alternate Process 31"/>
          <p:cNvSpPr/>
          <p:nvPr/>
        </p:nvSpPr>
        <p:spPr>
          <a:xfrm>
            <a:off x="5573202" y="150051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>
                <a:solidFill>
                  <a:schemeClr val="tx1"/>
                </a:solidFill>
              </a:rPr>
              <a:t>Do Forever</a:t>
            </a:r>
            <a:endParaRPr lang="en-GB" sz="800" dirty="0">
              <a:solidFill>
                <a:schemeClr val="tx1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0800000">
            <a:off x="5580112" y="1707654"/>
            <a:ext cx="12700" cy="2943448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372200" y="127560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8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Review PICINFO options</a:t>
            </a:r>
          </a:p>
          <a:p>
            <a:endParaRPr lang="en-GB" dirty="0" smtClean="0"/>
          </a:p>
          <a:p>
            <a:r>
              <a:rPr lang="en-GB" dirty="0" smtClean="0"/>
              <a:t>Examine the sample code</a:t>
            </a:r>
          </a:p>
          <a:p>
            <a:endParaRPr lang="en-GB" dirty="0" smtClean="0"/>
          </a:p>
          <a:p>
            <a:r>
              <a:rPr lang="en-GB" dirty="0" smtClean="0"/>
              <a:t>Review the results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291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3320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6 – Using the reset switch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04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12051</TotalTime>
  <Words>853</Words>
  <Application>Microsoft Office PowerPoint</Application>
  <PresentationFormat>On-screen Show (16:9)</PresentationFormat>
  <Paragraphs>144</Paragraphs>
  <Slides>15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Using the Reset as input or Master Clear</vt:lpstr>
      <vt:lpstr>Tutorial overview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743</cp:revision>
  <dcterms:created xsi:type="dcterms:W3CDTF">2019-01-08T20:03:06Z</dcterms:created>
  <dcterms:modified xsi:type="dcterms:W3CDTF">2026-08-09T09:24:51Z</dcterms:modified>
</cp:coreProperties>
</file>