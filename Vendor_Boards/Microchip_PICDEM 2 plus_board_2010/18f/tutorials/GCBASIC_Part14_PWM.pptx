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66" r:id="rId2"/>
    <p:sldId id="376" r:id="rId3"/>
    <p:sldId id="368" r:id="rId4"/>
    <p:sldId id="369" r:id="rId5"/>
    <p:sldId id="370" r:id="rId6"/>
    <p:sldId id="371" r:id="rId7"/>
    <p:sldId id="372" r:id="rId8"/>
    <p:sldId id="373" r:id="rId9"/>
    <p:sldId id="378" r:id="rId10"/>
    <p:sldId id="375" r:id="rId11"/>
    <p:sldId id="362" r:id="rId12"/>
    <p:sldId id="361" r:id="rId13"/>
    <p:sldId id="363" r:id="rId14"/>
    <p:sldId id="364" r:id="rId15"/>
    <p:sldId id="365" r:id="rId16"/>
    <p:sldId id="358" r:id="rId17"/>
    <p:sldId id="288" r:id="rId18"/>
    <p:sldId id="353" r:id="rId19"/>
    <p:sldId id="377" r:id="rId20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79" d="100"/>
          <a:sy n="79" d="100"/>
        </p:scale>
        <p:origin x="-2550" y="-15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17/08/2026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olt" TargetMode="Externa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Electrical_load" TargetMode="External"/><Relationship Id="rId4" Type="http://schemas.openxmlformats.org/officeDocument/2006/relationships/hyperlink" Target="https://en.wikipedia.org/wiki/Electric_current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botronics.com/development-boards/xmega-xminilab.htm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1400" dirty="0" smtClean="0"/>
              <a:t>PIC18FxxQ35chip Family</a:t>
            </a:r>
          </a:p>
          <a:p>
            <a:r>
              <a:rPr lang="en-GB" sz="1400" dirty="0"/>
              <a:t>Part 14 - PWM many ways</a:t>
            </a:r>
          </a:p>
        </p:txBody>
      </p:sp>
    </p:spTree>
    <p:extLst>
      <p:ext uri="{BB962C8B-B14F-4D97-AF65-F5344CB8AC3E}">
        <p14:creationId xmlns:p14="http://schemas.microsoft.com/office/powerpoint/2010/main" val="196437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329183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14 - PWM many ways</a:t>
            </a:r>
          </a:p>
        </p:txBody>
      </p:sp>
    </p:spTree>
    <p:extLst>
      <p:ext uri="{BB962C8B-B14F-4D97-AF65-F5344CB8AC3E}">
        <p14:creationId xmlns:p14="http://schemas.microsoft.com/office/powerpoint/2010/main" val="27863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7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723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PWM, </a:t>
            </a:r>
            <a:r>
              <a:rPr lang="en-GB" sz="1100" b="1" dirty="0" smtClean="0"/>
              <a:t>many  </a:t>
            </a:r>
            <a:r>
              <a:rPr lang="en-GB" sz="1100" b="1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37218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07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45550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>
                <a:solidFill>
                  <a:srgbClr val="FF0000"/>
                </a:solidFill>
              </a:rPr>
              <a:t>1</a:t>
            </a:r>
            <a:r>
              <a:rPr lang="en-GB" sz="1000" dirty="0">
                <a:solidFill>
                  <a:srgbClr val="FF0000"/>
                </a:solidFill>
              </a:rPr>
              <a:t>. 18-, 28- and 40-pin DIP sockets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(although three sockets are provided, only one device may be used at a time)</a:t>
            </a:r>
          </a:p>
          <a:p>
            <a:r>
              <a:rPr lang="en-GB" sz="1000" dirty="0">
                <a:solidFill>
                  <a:srgbClr val="FF0000"/>
                </a:solidFill>
              </a:rPr>
              <a:t>2. On-board, +5V regulator for direct input from 9V, 100 mA AC/DC wall adapter </a:t>
            </a:r>
            <a:r>
              <a:rPr lang="en-GB" sz="1000" dirty="0" smtClean="0">
                <a:solidFill>
                  <a:srgbClr val="FF0000"/>
                </a:solidFill>
              </a:rPr>
              <a:t>or 9V </a:t>
            </a:r>
            <a:r>
              <a:rPr lang="en-GB" sz="1000" dirty="0">
                <a:solidFill>
                  <a:srgbClr val="FF0000"/>
                </a:solidFill>
              </a:rPr>
              <a:t>battery, or hooks for a +5V, 100 mA regulated DC supply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3. </a:t>
            </a:r>
            <a:r>
              <a:rPr lang="en-GB" sz="1000" dirty="0">
                <a:solidFill>
                  <a:srgbClr val="FF0000"/>
                </a:solidFill>
              </a:rPr>
              <a:t>RS-232 socket and associated hardware for direct connection to an </a:t>
            </a:r>
            <a:r>
              <a:rPr lang="en-GB" sz="1000" dirty="0" smtClean="0">
                <a:solidFill>
                  <a:srgbClr val="FF0000"/>
                </a:solidFill>
              </a:rPr>
              <a:t>RS-232 interface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4. Programmer/debugger connectivity supporting MPLAB® ICD 3, MPLAB </a:t>
            </a:r>
            <a:r>
              <a:rPr lang="en-GB" sz="1000" dirty="0" smtClean="0">
                <a:solidFill>
                  <a:srgbClr val="FF0000"/>
                </a:solidFill>
              </a:rPr>
              <a:t>REAL ICE </a:t>
            </a:r>
            <a:r>
              <a:rPr lang="en-GB" sz="1000" dirty="0">
                <a:solidFill>
                  <a:srgbClr val="FF0000"/>
                </a:solidFill>
              </a:rPr>
              <a:t>and </a:t>
            </a:r>
            <a:r>
              <a:rPr lang="en-GB" sz="1000" dirty="0" err="1" smtClean="0">
                <a:solidFill>
                  <a:srgbClr val="FF0000"/>
                </a:solidFill>
              </a:rPr>
              <a:t>PICkitPlus</a:t>
            </a:r>
            <a:endParaRPr lang="en-GB" sz="1000" dirty="0">
              <a:solidFill>
                <a:srgbClr val="FF0000"/>
              </a:solidFill>
            </a:endParaRPr>
          </a:p>
          <a:p>
            <a:r>
              <a:rPr lang="en-GB" sz="1000" dirty="0">
                <a:solidFill>
                  <a:srgbClr val="FF0000"/>
                </a:solidFill>
              </a:rPr>
              <a:t>5. </a:t>
            </a:r>
            <a:r>
              <a:rPr lang="en-GB" sz="1000" dirty="0" err="1">
                <a:solidFill>
                  <a:srgbClr val="FF0000"/>
                </a:solidFill>
              </a:rPr>
              <a:t>PICkit</a:t>
            </a:r>
            <a:r>
              <a:rPr lang="en-GB" sz="1000" dirty="0">
                <a:solidFill>
                  <a:srgbClr val="FF0000"/>
                </a:solidFill>
              </a:rPr>
              <a:t> Serial Connector for analysis of serial communications peripherals </a:t>
            </a:r>
            <a:r>
              <a:rPr lang="en-GB" sz="1000" dirty="0" smtClean="0">
                <a:solidFill>
                  <a:srgbClr val="FF0000"/>
                </a:solidFill>
              </a:rPr>
              <a:t>such as </a:t>
            </a:r>
            <a:r>
              <a:rPr lang="en-GB" sz="1000" dirty="0">
                <a:solidFill>
                  <a:srgbClr val="FF0000"/>
                </a:solidFill>
              </a:rPr>
              <a:t>SPI or I2C™</a:t>
            </a:r>
          </a:p>
          <a:p>
            <a:r>
              <a:rPr lang="en-GB" sz="1000" u="sng" dirty="0">
                <a:solidFill>
                  <a:srgbClr val="FF0000"/>
                </a:solidFill>
              </a:rPr>
              <a:t>6. </a:t>
            </a:r>
            <a:r>
              <a:rPr lang="en-GB" sz="1000" dirty="0">
                <a:solidFill>
                  <a:srgbClr val="FF0000"/>
                </a:solidFill>
              </a:rPr>
              <a:t>5 </a:t>
            </a:r>
            <a:r>
              <a:rPr lang="en-GB" sz="1000" dirty="0" smtClean="0">
                <a:solidFill>
                  <a:srgbClr val="FF0000"/>
                </a:solidFill>
              </a:rPr>
              <a:t>k </a:t>
            </a:r>
            <a:r>
              <a:rPr lang="en-GB" sz="1000" dirty="0">
                <a:solidFill>
                  <a:srgbClr val="FF0000"/>
                </a:solidFill>
              </a:rPr>
              <a:t>pot for devices with </a:t>
            </a:r>
            <a:r>
              <a:rPr lang="en-GB" sz="1000" dirty="0" err="1">
                <a:solidFill>
                  <a:srgbClr val="FF0000"/>
                </a:solidFill>
              </a:rPr>
              <a:t>analog</a:t>
            </a:r>
            <a:r>
              <a:rPr lang="en-GB" sz="1000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>
                <a:solidFill>
                  <a:srgbClr val="FF0000"/>
                </a:solidFill>
              </a:rPr>
              <a:t>7. Three push button switches for external stimulus and Reset</a:t>
            </a:r>
          </a:p>
          <a:p>
            <a:r>
              <a:rPr lang="en-GB" sz="1000" dirty="0"/>
              <a:t>8. </a:t>
            </a:r>
            <a:r>
              <a:rPr lang="en-GB" sz="1000" dirty="0">
                <a:solidFill>
                  <a:srgbClr val="FF0000"/>
                </a:solidFill>
              </a:rPr>
              <a:t>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b="1" dirty="0">
                <a:solidFill>
                  <a:srgbClr val="FF0000"/>
                </a:solidFill>
              </a:rPr>
              <a:t>11. 32K x 8 Serial EEPROM</a:t>
            </a:r>
          </a:p>
          <a:p>
            <a:r>
              <a:rPr lang="en-GB" sz="1000" dirty="0">
                <a:solidFill>
                  <a:srgbClr val="FF0000"/>
                </a:solidFill>
              </a:rPr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</a:t>
            </a:r>
            <a:r>
              <a:rPr lang="en-GB" sz="1000" dirty="0" smtClean="0"/>
              <a:t>to MCU </a:t>
            </a:r>
            <a:r>
              <a:rPr lang="en-GB" sz="1000" dirty="0"/>
              <a:t>pins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16. Microchip TC74 thermal </a:t>
            </a:r>
            <a:r>
              <a:rPr lang="en-GB" sz="1000" b="1" u="sng" dirty="0" smtClean="0">
                <a:solidFill>
                  <a:srgbClr val="FF0000"/>
                </a:solidFill>
              </a:rPr>
              <a:t>sensor</a:t>
            </a:r>
            <a:br>
              <a:rPr lang="en-GB" sz="1000" b="1" u="sng" dirty="0" smtClean="0">
                <a:solidFill>
                  <a:srgbClr val="FF0000"/>
                </a:solidFill>
              </a:rPr>
            </a:br>
            <a:endParaRPr lang="en-GB" sz="1000" b="1" u="sng" dirty="0" smtClean="0">
              <a:solidFill>
                <a:srgbClr val="FF0000"/>
              </a:solidFill>
            </a:endParaRPr>
          </a:p>
          <a:p>
            <a:r>
              <a:rPr lang="en-GB" sz="1000" b="1" u="sng" dirty="0" smtClean="0">
                <a:solidFill>
                  <a:srgbClr val="FF0000"/>
                </a:solidFill>
              </a:rPr>
              <a:t>Plus SPI GLCD</a:t>
            </a:r>
            <a:endParaRPr lang="en-GB" sz="1000" b="1" u="sng" dirty="0">
              <a:solidFill>
                <a:srgbClr val="FF0000"/>
              </a:solidFill>
            </a:endParaRPr>
          </a:p>
        </p:txBody>
      </p:sp>
      <p:sp>
        <p:nvSpPr>
          <p:cNvPr id="2" name="Oval 1"/>
          <p:cNvSpPr/>
          <p:nvPr/>
        </p:nvSpPr>
        <p:spPr>
          <a:xfrm>
            <a:off x="1441760" y="244527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23528" y="2565676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 dirty="0" smtClean="0">
                <a:solidFill>
                  <a:srgbClr val="FF0000"/>
                </a:solidFill>
              </a:rPr>
              <a:t>3A</a:t>
            </a:r>
            <a:endParaRPr lang="en-GB" sz="105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39552" y="2589286"/>
            <a:ext cx="902208" cy="12040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65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30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3999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033079"/>
            <a:ext cx="42100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99543"/>
            <a:ext cx="2949645" cy="42484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89390" y="2965624"/>
            <a:ext cx="310983" cy="10772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lIns="0" tIns="0" rIns="0" bIns="0" rtlCol="0">
            <a:spAutoFit/>
          </a:bodyPr>
          <a:lstStyle/>
          <a:p>
            <a:r>
              <a:rPr lang="en-GB" sz="700" dirty="0" smtClean="0"/>
              <a:t>VDDIO2</a:t>
            </a:r>
            <a:endParaRPr lang="en-GB" sz="7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652120" y="393990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31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VDDIO2 Domain Power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3995936" y="2100649"/>
            <a:ext cx="3372590" cy="8771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/>
              <a:t>Think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No VDDIO2 power – no domain I/O!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68" y="987574"/>
            <a:ext cx="3213668" cy="398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530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Pulse Width Modulation</a:t>
            </a:r>
            <a:endParaRPr lang="en-GB" dirty="0"/>
          </a:p>
        </p:txBody>
      </p:sp>
      <p:grpSp>
        <p:nvGrpSpPr>
          <p:cNvPr id="3" name="Group 5"/>
          <p:cNvGrpSpPr/>
          <p:nvPr/>
        </p:nvGrpSpPr>
        <p:grpSpPr>
          <a:xfrm>
            <a:off x="3923928" y="3291830"/>
            <a:ext cx="5343525" cy="2000251"/>
            <a:chOff x="2123728" y="1779662"/>
            <a:chExt cx="5343525" cy="2000251"/>
          </a:xfrm>
        </p:grpSpPr>
        <p:pic>
          <p:nvPicPr>
            <p:cNvPr id="53250" name="Picture 2" descr="http://www.thebox.myzen.co.uk/Tutorial/Media/PWMan.gif"/>
            <p:cNvPicPr>
              <a:picLocks noChangeAspect="1" noChangeArrowheads="1" noCrop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23728" y="1779662"/>
              <a:ext cx="5343525" cy="2000251"/>
            </a:xfrm>
            <a:prstGeom prst="rect">
              <a:avLst/>
            </a:prstGeom>
            <a:noFill/>
          </p:spPr>
        </p:pic>
        <p:sp>
          <p:nvSpPr>
            <p:cNvPr id="5" name="Rectangle 4"/>
            <p:cNvSpPr/>
            <p:nvPr/>
          </p:nvSpPr>
          <p:spPr>
            <a:xfrm>
              <a:off x="3153544" y="2305049"/>
              <a:ext cx="713606" cy="2487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3568" y="1563638"/>
            <a:ext cx="6912768" cy="19236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Pulse Width Modulation ( PWM ) is simply a succession of pulses –  is a method of reducing the average power delivered by an electrical signal, by effectively chopping it up into discrete parts.</a:t>
            </a:r>
          </a:p>
          <a:p>
            <a:endParaRPr lang="en-GB" dirty="0" smtClean="0"/>
          </a:p>
          <a:p>
            <a:r>
              <a:rPr lang="en-GB" dirty="0" smtClean="0"/>
              <a:t>The average value of </a:t>
            </a:r>
            <a:r>
              <a:rPr lang="en-GB" dirty="0" smtClean="0">
                <a:hlinkClick r:id="rId3" tooltip="Volt"/>
              </a:rPr>
              <a:t>voltage</a:t>
            </a:r>
            <a:r>
              <a:rPr lang="en-GB" dirty="0" smtClean="0"/>
              <a:t> (and </a:t>
            </a:r>
            <a:r>
              <a:rPr lang="en-GB" dirty="0" smtClean="0">
                <a:hlinkClick r:id="rId4" tooltip="Electric current"/>
              </a:rPr>
              <a:t>current</a:t>
            </a:r>
            <a:r>
              <a:rPr lang="en-GB" dirty="0" smtClean="0"/>
              <a:t>) fed to the </a:t>
            </a:r>
            <a:r>
              <a:rPr lang="en-GB" dirty="0" smtClean="0">
                <a:hlinkClick r:id="rId5" tooltip="Electrical load"/>
              </a:rPr>
              <a:t>load</a:t>
            </a:r>
            <a:r>
              <a:rPr lang="en-GB" dirty="0" smtClean="0"/>
              <a:t> is controlled by turning on and off at a fast rate.   The longer the signal is  on compared to the off periods, the higher the total power supplied to the load.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204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8" name="Picture 4" descr="0 LPC1768 PWM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83518"/>
            <a:ext cx="7829550" cy="45148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97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PWM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715766"/>
            <a:ext cx="391980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987574"/>
            <a:ext cx="3430192" cy="1443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9700" y="1498496"/>
            <a:ext cx="3042495" cy="1040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048" y="2817642"/>
            <a:ext cx="2915107" cy="2002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6296" y="3507854"/>
            <a:ext cx="1547664" cy="909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308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</a:t>
            </a:r>
            <a:endParaRPr lang="en-GB" dirty="0"/>
          </a:p>
        </p:txBody>
      </p:sp>
      <p:pic>
        <p:nvPicPr>
          <p:cNvPr id="542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084031" y="1998941"/>
            <a:ext cx="2740119" cy="17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Connector 7"/>
          <p:cNvCxnSpPr/>
          <p:nvPr/>
        </p:nvCxnSpPr>
        <p:spPr>
          <a:xfrm>
            <a:off x="5549428" y="3778948"/>
            <a:ext cx="0" cy="9361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33663" y="3745437"/>
            <a:ext cx="4564" cy="5122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24177" y="4243391"/>
            <a:ext cx="9327" cy="8921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433663" y="4248154"/>
            <a:ext cx="1900039" cy="13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4957340" y="3785819"/>
            <a:ext cx="1166" cy="2623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976515" y="4033841"/>
            <a:ext cx="4987" cy="10854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945955" y="4045079"/>
            <a:ext cx="1016272" cy="78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49472" y="1635646"/>
            <a:ext cx="648276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600" dirty="0" smtClean="0">
                <a:hlinkClick r:id="rId3"/>
              </a:rPr>
              <a:t>http://www.gabotronics.com/development-boards/xmega-xminilab.htm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1619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PWM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396064"/>
              </p:ext>
            </p:extLst>
          </p:nvPr>
        </p:nvGraphicFramePr>
        <p:xfrm>
          <a:off x="179512" y="1434336"/>
          <a:ext cx="8820470" cy="321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91"/>
                <a:gridCol w="2053041"/>
                <a:gridCol w="2679334"/>
                <a:gridCol w="1943810"/>
                <a:gridCol w="1764094"/>
              </a:tblGrid>
              <a:tr h="442848"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PWM</a:t>
                      </a:r>
                      <a:r>
                        <a:rPr lang="en-GB" sz="1200" baseline="0" dirty="0" smtClean="0"/>
                        <a:t> type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Characteristics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PPS required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Comment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The simplest</a:t>
                      </a:r>
                      <a:r>
                        <a:rPr lang="en-GB" sz="1200" baseline="0" dirty="0" smtClean="0"/>
                        <a:t> way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/>
                        <a:t>Port</a:t>
                      </a:r>
                      <a:r>
                        <a:rPr lang="en-GB" sz="1200" baseline="0" dirty="0" smtClean="0"/>
                        <a:t> on and off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2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The </a:t>
                      </a:r>
                      <a:r>
                        <a:rPr lang="en-GB" sz="1200" dirty="0" err="1" smtClean="0"/>
                        <a:t>pulseout</a:t>
                      </a:r>
                      <a:r>
                        <a:rPr lang="en-GB" sz="1200" dirty="0" smtClean="0"/>
                        <a:t>() 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err="1" smtClean="0"/>
                        <a:t>PulseOut</a:t>
                      </a:r>
                      <a:r>
                        <a:rPr lang="en-GB" sz="1200" dirty="0" smtClean="0"/>
                        <a:t>() </a:t>
                      </a:r>
                      <a:r>
                        <a:rPr lang="en-GB" sz="1200" baseline="0" dirty="0" smtClean="0"/>
                        <a:t> a port for a period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3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200" dirty="0" smtClean="0"/>
                        <a:t>The </a:t>
                      </a:r>
                      <a:r>
                        <a:rPr lang="en-GB" sz="1200" dirty="0" err="1" smtClean="0"/>
                        <a:t>PWMOut</a:t>
                      </a:r>
                      <a:r>
                        <a:rPr lang="en-GB" sz="1200" dirty="0" smtClean="0"/>
                        <a:t>()</a:t>
                      </a:r>
                      <a:r>
                        <a:rPr lang="en-GB" sz="1200" baseline="0" dirty="0" smtClean="0"/>
                        <a:t> way</a:t>
                      </a:r>
                      <a:endParaRPr lang="en-GB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506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 smtClean="0"/>
                        <a:t>PWMOUT() </a:t>
                      </a:r>
                      <a:r>
                        <a:rPr lang="en-GB" sz="1200" baseline="0" dirty="0" smtClean="0"/>
                        <a:t> a</a:t>
                      </a:r>
                      <a:r>
                        <a:rPr lang="en-GB" sz="1200" dirty="0" smtClean="0"/>
                        <a:t> number of pulses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4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CCP/PWM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Fixed frequency, fixed duty using timer2*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Yes</a:t>
                      </a:r>
                      <a:r>
                        <a:rPr lang="en-GB" sz="1200" baseline="0" dirty="0" smtClean="0"/>
                        <a:t> – CCP/</a:t>
                      </a:r>
                      <a:r>
                        <a:rPr lang="en-GB" sz="1200" baseline="0" dirty="0" err="1" smtClean="0"/>
                        <a:t>PWMx</a:t>
                      </a:r>
                      <a:r>
                        <a:rPr lang="en-GB" sz="1200" baseline="0" dirty="0" smtClean="0"/>
                        <a:t> module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Low</a:t>
                      </a:r>
                      <a:r>
                        <a:rPr lang="en-GB" sz="1200" baseline="0" dirty="0" smtClean="0"/>
                        <a:t> code impact, two constants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5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CCP/PWM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Variable frequency, variable duty using timer2*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Yes</a:t>
                      </a:r>
                      <a:r>
                        <a:rPr lang="en-GB" sz="1200" baseline="0" dirty="0" smtClean="0"/>
                        <a:t> – CCP/</a:t>
                      </a:r>
                      <a:r>
                        <a:rPr lang="en-GB" sz="1200" baseline="0" dirty="0" err="1" smtClean="0"/>
                        <a:t>PWMx</a:t>
                      </a:r>
                      <a:r>
                        <a:rPr lang="en-GB" sz="1200" baseline="0" dirty="0" smtClean="0"/>
                        <a:t> module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dirty="0" smtClean="0"/>
                        <a:t>ASM</a:t>
                      </a:r>
                      <a:r>
                        <a:rPr lang="en-GB" sz="1200" b="0" baseline="0" dirty="0" smtClean="0"/>
                        <a:t> does the heavy lifting</a:t>
                      </a:r>
                      <a:endParaRPr lang="en-GB" sz="1200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6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PWM</a:t>
                      </a:r>
                      <a:r>
                        <a:rPr lang="en-GB" sz="1200" baseline="0" dirty="0" smtClean="0"/>
                        <a:t> 16 bit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Wide</a:t>
                      </a:r>
                      <a:r>
                        <a:rPr lang="en-GB" sz="1200" baseline="0" dirty="0" smtClean="0"/>
                        <a:t> range of capabilities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Yes</a:t>
                      </a:r>
                      <a:r>
                        <a:rPr lang="en-GB" sz="1200" baseline="0" dirty="0" smtClean="0"/>
                        <a:t> - </a:t>
                      </a:r>
                      <a:r>
                        <a:rPr lang="en-GB" sz="1200" baseline="0" dirty="0" err="1" smtClean="0"/>
                        <a:t>PWMxx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Lots of</a:t>
                      </a:r>
                      <a:r>
                        <a:rPr lang="en-GB" sz="1200" baseline="0" dirty="0" smtClean="0"/>
                        <a:t> parameters</a:t>
                      </a:r>
                      <a:endParaRPr lang="en-GB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7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Timer interrupt way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Use</a:t>
                      </a:r>
                      <a:r>
                        <a:rPr lang="en-GB" sz="1200" baseline="0" dirty="0" smtClean="0"/>
                        <a:t> a timer1*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No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smtClean="0"/>
                        <a:t>Any</a:t>
                      </a:r>
                      <a:r>
                        <a:rPr lang="en-GB" sz="1200" baseline="0" dirty="0" smtClean="0"/>
                        <a:t> port**</a:t>
                      </a:r>
                      <a:endParaRPr lang="en-GB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7584" y="4659982"/>
            <a:ext cx="734481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*   could use other timers</a:t>
            </a:r>
          </a:p>
          <a:p>
            <a:r>
              <a:rPr lang="en-GB" sz="1400" dirty="0" smtClean="0"/>
              <a:t>** any </a:t>
            </a:r>
            <a:r>
              <a:rPr lang="en-GB" sz="1400" b="1" dirty="0" smtClean="0"/>
              <a:t>valid</a:t>
            </a:r>
            <a:r>
              <a:rPr lang="en-GB" sz="1400" dirty="0" smtClean="0"/>
              <a:t> output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6236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Walk the examples </a:t>
            </a:r>
          </a:p>
          <a:p>
            <a:r>
              <a:rPr lang="en-GB" dirty="0" smtClean="0"/>
              <a:t>And, view the </a:t>
            </a:r>
            <a:r>
              <a:rPr lang="en-GB" b="1" dirty="0" err="1" smtClean="0"/>
              <a:t>Xminilab</a:t>
            </a:r>
            <a:r>
              <a:rPr lang="en-GB" dirty="0" smtClean="0"/>
              <a:t> </a:t>
            </a:r>
            <a:r>
              <a:rPr lang="en-GB" dirty="0"/>
              <a:t>scope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958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</a:t>
            </a:r>
            <a:r>
              <a:rPr lang="en-GB" sz="1100" b="1" dirty="0" err="1" smtClean="0"/>
              <a:t>millis</a:t>
            </a:r>
            <a:r>
              <a:rPr lang="en-GB" sz="1100" b="1" dirty="0" smtClean="0"/>
              <a:t>()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storage within the chip – </a:t>
            </a:r>
            <a:r>
              <a:rPr lang="en-GB" sz="1100" dirty="0" err="1" smtClean="0"/>
              <a:t>Progmem</a:t>
            </a:r>
            <a:r>
              <a:rPr lang="en-GB" sz="1100" dirty="0" smtClean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275606"/>
            <a:ext cx="4124707" cy="1234727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3995936" y="2764036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14 - PWM many ways</a:t>
            </a:r>
          </a:p>
        </p:txBody>
      </p:sp>
      <p:pic>
        <p:nvPicPr>
          <p:cNvPr id="6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9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15145</TotalTime>
  <Words>856</Words>
  <Application>Microsoft Office PowerPoint</Application>
  <PresentationFormat>On-screen Show (16:9)</PresentationFormat>
  <Paragraphs>163</Paragraphs>
  <Slides>19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PowerPoint Presentation</vt:lpstr>
      <vt:lpstr>VDDIO2 Domain Power</vt:lpstr>
      <vt:lpstr>Pulse Width Modulation</vt:lpstr>
      <vt:lpstr>PowerPoint Presentation</vt:lpstr>
      <vt:lpstr>PWM</vt:lpstr>
      <vt:lpstr>Setup</vt:lpstr>
      <vt:lpstr>PWM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778</cp:revision>
  <dcterms:created xsi:type="dcterms:W3CDTF">2019-01-08T20:03:06Z</dcterms:created>
  <dcterms:modified xsi:type="dcterms:W3CDTF">2026-08-17T08:18:07Z</dcterms:modified>
</cp:coreProperties>
</file>