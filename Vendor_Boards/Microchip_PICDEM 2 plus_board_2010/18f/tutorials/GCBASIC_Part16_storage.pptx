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369" r:id="rId2"/>
    <p:sldId id="370" r:id="rId3"/>
    <p:sldId id="371" r:id="rId4"/>
    <p:sldId id="372" r:id="rId5"/>
    <p:sldId id="373" r:id="rId6"/>
    <p:sldId id="374" r:id="rId7"/>
    <p:sldId id="375" r:id="rId8"/>
    <p:sldId id="360" r:id="rId9"/>
    <p:sldId id="367" r:id="rId10"/>
    <p:sldId id="363" r:id="rId11"/>
    <p:sldId id="364" r:id="rId12"/>
    <p:sldId id="365" r:id="rId13"/>
    <p:sldId id="366" r:id="rId14"/>
    <p:sldId id="288" r:id="rId15"/>
    <p:sldId id="353" r:id="rId16"/>
    <p:sldId id="376" r:id="rId17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>
        <p:scale>
          <a:sx n="156" d="100"/>
          <a:sy n="156" d="100"/>
        </p:scale>
        <p:origin x="-330" y="-26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1400" dirty="0" smtClean="0"/>
              <a:t>PIC18FxxQ35chip Family</a:t>
            </a:r>
          </a:p>
          <a:p>
            <a:r>
              <a:rPr lang="en-GB" sz="1400" dirty="0"/>
              <a:t>Part 16 - </a:t>
            </a:r>
            <a:r>
              <a:rPr lang="en-GB" sz="1400" dirty="0" err="1"/>
              <a:t>Progmem</a:t>
            </a:r>
            <a:r>
              <a:rPr lang="en-GB" sz="1400" dirty="0"/>
              <a:t>, SAF memory, EEPROM and DATA blocks</a:t>
            </a:r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06780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329183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16 - </a:t>
            </a:r>
            <a:r>
              <a:rPr lang="en-GB" dirty="0" err="1"/>
              <a:t>Progmem</a:t>
            </a:r>
            <a:r>
              <a:rPr lang="en-GB" dirty="0"/>
              <a:t>, SAF memory, EEPROM and DATA blocks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603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3410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0941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Millis and Interrupts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 smtClean="0"/>
              <a:t>Using </a:t>
            </a:r>
            <a:r>
              <a:rPr lang="en-GB" sz="1100" b="1" dirty="0"/>
              <a:t>storage within the chip – </a:t>
            </a:r>
            <a:r>
              <a:rPr lang="en-GB" sz="1100" b="1" dirty="0" err="1"/>
              <a:t>Progmem</a:t>
            </a:r>
            <a:r>
              <a:rPr lang="en-GB" sz="1100" b="1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318656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4176464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 </a:t>
            </a:r>
          </a:p>
          <a:p>
            <a:endParaRPr lang="en-GB" dirty="0"/>
          </a:p>
          <a:p>
            <a:r>
              <a:rPr lang="en-GB" dirty="0"/>
              <a:t>GCBASIC now </a:t>
            </a:r>
            <a:r>
              <a:rPr lang="en-GB" dirty="0" smtClean="0"/>
              <a:t>supports 1400+ microcontrollers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868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455509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>
                <a:solidFill>
                  <a:srgbClr val="FF0000"/>
                </a:solidFill>
              </a:rPr>
              <a:t>1</a:t>
            </a:r>
            <a:r>
              <a:rPr lang="en-GB" sz="1000" dirty="0">
                <a:solidFill>
                  <a:srgbClr val="FF0000"/>
                </a:solidFill>
              </a:rPr>
              <a:t>. 18-, 28- and 40-pin DIP sockets</a:t>
            </a:r>
          </a:p>
          <a:p>
            <a:r>
              <a:rPr lang="en-GB" sz="1000" dirty="0">
                <a:solidFill>
                  <a:srgbClr val="FF0000"/>
                </a:solidFill>
              </a:rPr>
              <a:t>(although three sockets are provided, only one device may be used at a time)</a:t>
            </a:r>
          </a:p>
          <a:p>
            <a:r>
              <a:rPr lang="en-GB" sz="1000" dirty="0">
                <a:solidFill>
                  <a:srgbClr val="FF0000"/>
                </a:solidFill>
              </a:rPr>
              <a:t>2. On-board, +5V regulator for direct input from 9V, 100 mA AC/DC wall adapter </a:t>
            </a:r>
            <a:r>
              <a:rPr lang="en-GB" sz="1000" dirty="0" smtClean="0">
                <a:solidFill>
                  <a:srgbClr val="FF0000"/>
                </a:solidFill>
              </a:rPr>
              <a:t>or 9V </a:t>
            </a:r>
            <a:r>
              <a:rPr lang="en-GB" sz="1000" dirty="0">
                <a:solidFill>
                  <a:srgbClr val="FF0000"/>
                </a:solidFill>
              </a:rPr>
              <a:t>battery, or hooks for a +5V, 100 mA regulated DC supply</a:t>
            </a:r>
          </a:p>
          <a:p>
            <a:r>
              <a:rPr lang="en-GB" sz="1000" u="sng" dirty="0">
                <a:solidFill>
                  <a:srgbClr val="FF0000"/>
                </a:solidFill>
              </a:rPr>
              <a:t>3. </a:t>
            </a:r>
            <a:r>
              <a:rPr lang="en-GB" sz="1000" dirty="0">
                <a:solidFill>
                  <a:srgbClr val="FF0000"/>
                </a:solidFill>
              </a:rPr>
              <a:t>RS-232 socket and associated hardware for direct connection to an </a:t>
            </a:r>
            <a:r>
              <a:rPr lang="en-GB" sz="1000" dirty="0" smtClean="0">
                <a:solidFill>
                  <a:srgbClr val="FF0000"/>
                </a:solidFill>
              </a:rPr>
              <a:t>RS-232 interface</a:t>
            </a:r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>
                <a:solidFill>
                  <a:srgbClr val="FF0000"/>
                </a:solidFill>
              </a:rPr>
              <a:t>4. Programmer/debugger connectivity supporting MPLAB® ICD 3, MPLAB </a:t>
            </a:r>
            <a:r>
              <a:rPr lang="en-GB" sz="1000" dirty="0" smtClean="0">
                <a:solidFill>
                  <a:srgbClr val="FF0000"/>
                </a:solidFill>
              </a:rPr>
              <a:t>REAL ICE </a:t>
            </a:r>
            <a:r>
              <a:rPr lang="en-GB" sz="1000" dirty="0">
                <a:solidFill>
                  <a:srgbClr val="FF0000"/>
                </a:solidFill>
              </a:rPr>
              <a:t>and </a:t>
            </a:r>
            <a:r>
              <a:rPr lang="en-GB" sz="1000" dirty="0" err="1" smtClean="0">
                <a:solidFill>
                  <a:srgbClr val="FF0000"/>
                </a:solidFill>
              </a:rPr>
              <a:t>PICkitPlus</a:t>
            </a:r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>
                <a:solidFill>
                  <a:srgbClr val="FF0000"/>
                </a:solidFill>
              </a:rPr>
              <a:t>5. </a:t>
            </a:r>
            <a:r>
              <a:rPr lang="en-GB" sz="1000" dirty="0" err="1">
                <a:solidFill>
                  <a:srgbClr val="FF0000"/>
                </a:solidFill>
              </a:rPr>
              <a:t>PICkit</a:t>
            </a:r>
            <a:r>
              <a:rPr lang="en-GB" sz="1000" dirty="0">
                <a:solidFill>
                  <a:srgbClr val="FF0000"/>
                </a:solidFill>
              </a:rPr>
              <a:t> Serial Connector for analysis of serial communications peripherals </a:t>
            </a:r>
            <a:r>
              <a:rPr lang="en-GB" sz="1000" dirty="0" smtClean="0">
                <a:solidFill>
                  <a:srgbClr val="FF0000"/>
                </a:solidFill>
              </a:rPr>
              <a:t>such as </a:t>
            </a:r>
            <a:r>
              <a:rPr lang="en-GB" sz="1000" dirty="0">
                <a:solidFill>
                  <a:srgbClr val="FF0000"/>
                </a:solidFill>
              </a:rPr>
              <a:t>SPI or I2C™</a:t>
            </a:r>
          </a:p>
          <a:p>
            <a:r>
              <a:rPr lang="en-GB" sz="1000" u="sng" dirty="0">
                <a:solidFill>
                  <a:srgbClr val="FF0000"/>
                </a:solidFill>
              </a:rPr>
              <a:t>6. </a:t>
            </a:r>
            <a:r>
              <a:rPr lang="en-GB" sz="1000" dirty="0">
                <a:solidFill>
                  <a:srgbClr val="FF0000"/>
                </a:solidFill>
              </a:rPr>
              <a:t>5 </a:t>
            </a:r>
            <a:r>
              <a:rPr lang="en-GB" sz="1000" dirty="0" smtClean="0">
                <a:solidFill>
                  <a:srgbClr val="FF0000"/>
                </a:solidFill>
              </a:rPr>
              <a:t>k </a:t>
            </a:r>
            <a:r>
              <a:rPr lang="en-GB" sz="1000" dirty="0">
                <a:solidFill>
                  <a:srgbClr val="FF0000"/>
                </a:solidFill>
              </a:rPr>
              <a:t>pot for devices with </a:t>
            </a:r>
            <a:r>
              <a:rPr lang="en-GB" sz="1000" dirty="0" err="1">
                <a:solidFill>
                  <a:srgbClr val="FF0000"/>
                </a:solidFill>
              </a:rPr>
              <a:t>analog</a:t>
            </a:r>
            <a:r>
              <a:rPr lang="en-GB" sz="1000" dirty="0">
                <a:solidFill>
                  <a:srgbClr val="FF0000"/>
                </a:solidFill>
              </a:rPr>
              <a:t> inputs</a:t>
            </a:r>
          </a:p>
          <a:p>
            <a:r>
              <a:rPr lang="en-GB" sz="1000" dirty="0">
                <a:solidFill>
                  <a:srgbClr val="FF0000"/>
                </a:solidFill>
              </a:rPr>
              <a:t>7. Three push button switches for external stimulus and Reset</a:t>
            </a:r>
          </a:p>
          <a:p>
            <a:r>
              <a:rPr lang="en-GB" sz="1000" dirty="0"/>
              <a:t>8. </a:t>
            </a:r>
            <a:r>
              <a:rPr lang="en-GB" sz="1000" dirty="0">
                <a:solidFill>
                  <a:srgbClr val="FF0000"/>
                </a:solidFill>
              </a:rPr>
              <a:t>Power-on indicator LED</a:t>
            </a:r>
          </a:p>
          <a:p>
            <a:r>
              <a:rPr lang="en-GB" sz="1000" dirty="0">
                <a:solidFill>
                  <a:srgbClr val="FF0000"/>
                </a:solidFill>
              </a:rPr>
              <a:t>9. 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b="1" dirty="0">
                <a:solidFill>
                  <a:srgbClr val="FF0000"/>
                </a:solidFill>
              </a:rPr>
              <a:t>11. 32K x 8 Serial EEPROM</a:t>
            </a:r>
          </a:p>
          <a:p>
            <a:r>
              <a:rPr lang="en-GB" sz="1000" dirty="0">
                <a:solidFill>
                  <a:srgbClr val="FF0000"/>
                </a:solidFill>
              </a:rPr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</a:t>
            </a:r>
            <a:r>
              <a:rPr lang="en-GB" sz="1000" dirty="0" smtClean="0"/>
              <a:t>to MCU </a:t>
            </a:r>
            <a:r>
              <a:rPr lang="en-GB" sz="1000" dirty="0"/>
              <a:t>pins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16. Microchip TC74 thermal </a:t>
            </a:r>
            <a:r>
              <a:rPr lang="en-GB" sz="1000" b="1" u="sng" dirty="0" smtClean="0">
                <a:solidFill>
                  <a:srgbClr val="FF0000"/>
                </a:solidFill>
              </a:rPr>
              <a:t>sensor</a:t>
            </a:r>
            <a:br>
              <a:rPr lang="en-GB" sz="1000" b="1" u="sng" dirty="0" smtClean="0">
                <a:solidFill>
                  <a:srgbClr val="FF0000"/>
                </a:solidFill>
              </a:rPr>
            </a:br>
            <a:endParaRPr lang="en-GB" sz="1000" b="1" u="sng" dirty="0" smtClean="0">
              <a:solidFill>
                <a:srgbClr val="FF0000"/>
              </a:solidFill>
            </a:endParaRPr>
          </a:p>
          <a:p>
            <a:r>
              <a:rPr lang="en-GB" sz="1000" b="1" u="sng" dirty="0" smtClean="0">
                <a:solidFill>
                  <a:srgbClr val="FF0000"/>
                </a:solidFill>
              </a:rPr>
              <a:t>Plus SPI GLCD</a:t>
            </a:r>
            <a:endParaRPr lang="en-GB" sz="1000" b="1" u="sng" dirty="0">
              <a:solidFill>
                <a:srgbClr val="FF0000"/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1441760" y="2445270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23528" y="2565676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50" b="1" dirty="0" smtClean="0">
                <a:solidFill>
                  <a:srgbClr val="FF0000"/>
                </a:solidFill>
              </a:rPr>
              <a:t>3A</a:t>
            </a:r>
            <a:endParaRPr lang="en-GB" sz="1050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539552" y="2589286"/>
            <a:ext cx="902208" cy="12040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30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11510"/>
            <a:ext cx="5400600" cy="576064"/>
          </a:xfrm>
        </p:spPr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Storage Overview Types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1409"/>
              </p:ext>
            </p:extLst>
          </p:nvPr>
        </p:nvGraphicFramePr>
        <p:xfrm>
          <a:off x="251520" y="1851670"/>
          <a:ext cx="5400597" cy="2448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10"/>
                <a:gridCol w="1457609"/>
                <a:gridCol w="3541378"/>
              </a:tblGrid>
              <a:tr h="47070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Typ</a:t>
                      </a:r>
                      <a:r>
                        <a:rPr lang="en-GB" baseline="0" dirty="0" smtClean="0"/>
                        <a:t>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Characteristics</a:t>
                      </a:r>
                      <a:endParaRPr lang="en-GB" dirty="0"/>
                    </a:p>
                  </a:txBody>
                  <a:tcPr/>
                </a:tc>
              </a:tr>
              <a:tr h="542715">
                <a:tc>
                  <a:txBody>
                    <a:bodyPr/>
                    <a:lstStyle/>
                    <a:p>
                      <a:pPr lvl="0"/>
                      <a:r>
                        <a:rPr lang="en-GB" dirty="0" smtClean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dirty="0" smtClean="0"/>
                        <a:t>Progmem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50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 smtClean="0"/>
                        <a:t>Program,</a:t>
                      </a:r>
                    </a:p>
                    <a:p>
                      <a:pPr marL="0" marR="0" lvl="0" indent="0" algn="l" defTabSz="850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baseline="0" dirty="0" smtClean="0"/>
                        <a:t>and, </a:t>
                      </a:r>
                      <a:r>
                        <a:rPr lang="en-GB" b="0" dirty="0" smtClean="0"/>
                        <a:t>Storage Area Flash (SAF) block </a:t>
                      </a:r>
                    </a:p>
                  </a:txBody>
                  <a:tcPr/>
                </a:tc>
              </a:tr>
              <a:tr h="542715">
                <a:tc>
                  <a:txBody>
                    <a:bodyPr/>
                    <a:lstStyle/>
                    <a:p>
                      <a:r>
                        <a:rPr lang="en-GB" dirty="0" smtClean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Data RAM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Volatile</a:t>
                      </a:r>
                      <a:r>
                        <a:rPr lang="en-ZA" baseline="0" dirty="0" smtClean="0"/>
                        <a:t> </a:t>
                      </a:r>
                      <a:endParaRPr lang="en-GB" dirty="0"/>
                    </a:p>
                  </a:txBody>
                  <a:tcPr/>
                </a:tc>
              </a:tr>
              <a:tr h="892135">
                <a:tc>
                  <a:txBody>
                    <a:bodyPr/>
                    <a:lstStyle/>
                    <a:p>
                      <a:r>
                        <a:rPr lang="en-GB" dirty="0" smtClean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Data EEPROM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 smtClean="0"/>
                        <a:t>Consider</a:t>
                      </a:r>
                      <a:r>
                        <a:rPr lang="en-ZA" baseline="0" dirty="0" smtClean="0"/>
                        <a:t> as a peripheral 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52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535434"/>
          </a:xfrm>
          <a:solidFill>
            <a:schemeClr val="bg1"/>
          </a:solidFill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Program Flash Memory ( PFM )</a:t>
            </a:r>
            <a:endParaRPr lang="en-GB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5708744" y="2571750"/>
            <a:ext cx="37542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 smtClean="0"/>
              <a:t>or</a:t>
            </a:r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323528" y="1558301"/>
            <a:ext cx="2664296" cy="1008112"/>
          </a:xfrm>
          <a:prstGeom prst="rect">
            <a:avLst/>
          </a:prstGeom>
        </p:spPr>
        <p:txBody>
          <a:bodyPr vert="horz" lIns="85064" tIns="42531" rIns="85064" bIns="42531" rtlCol="0">
            <a:noAutofit/>
          </a:bodyPr>
          <a:lstStyle/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b="1" dirty="0" err="1" smtClean="0">
                <a:solidFill>
                  <a:srgbClr val="FF0000"/>
                </a:solidFill>
              </a:rPr>
              <a:t>Progmem</a:t>
            </a:r>
            <a:r>
              <a:rPr lang="en-ZA" sz="1800" b="1" dirty="0" smtClean="0">
                <a:solidFill>
                  <a:srgbClr val="FF0000"/>
                </a:solidFill>
              </a:rPr>
              <a:t> usage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600" dirty="0" smtClean="0"/>
              <a:t>Your program</a:t>
            </a:r>
          </a:p>
          <a:p>
            <a:pPr marL="744306" lvl="1" indent="-318988">
              <a:spcBef>
                <a:spcPct val="20000"/>
              </a:spcBef>
            </a:pPr>
            <a:r>
              <a:rPr lang="en-ZA" sz="1600" dirty="0" smtClean="0"/>
              <a:t>and/or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600" dirty="0" smtClean="0"/>
              <a:t>Reference data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600" dirty="0" smtClean="0"/>
              <a:t>Pictures</a:t>
            </a:r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endParaRPr lang="en-ZA" sz="1600" dirty="0"/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dirty="0" smtClean="0"/>
              <a:t>Uses PFM direct addressing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endParaRPr lang="en-ZA" sz="1800" dirty="0" smtClean="0"/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endParaRPr lang="en-GB" sz="1800" dirty="0" smtClean="0"/>
          </a:p>
        </p:txBody>
      </p:sp>
      <p:grpSp>
        <p:nvGrpSpPr>
          <p:cNvPr id="7" name="Group 6"/>
          <p:cNvGrpSpPr/>
          <p:nvPr/>
        </p:nvGrpSpPr>
        <p:grpSpPr>
          <a:xfrm>
            <a:off x="6162809" y="1199763"/>
            <a:ext cx="2784353" cy="2956163"/>
            <a:chOff x="6156176" y="991321"/>
            <a:chExt cx="2784353" cy="2956163"/>
          </a:xfrm>
        </p:grpSpPr>
        <p:sp>
          <p:nvSpPr>
            <p:cNvPr id="4" name="Rectangle 3"/>
            <p:cNvSpPr/>
            <p:nvPr/>
          </p:nvSpPr>
          <p:spPr>
            <a:xfrm>
              <a:off x="6156176" y="1059582"/>
              <a:ext cx="2760474" cy="2880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156176" y="3236036"/>
              <a:ext cx="2760474" cy="7114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Program</a:t>
              </a:r>
              <a:endParaRPr lang="en-GB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156176" y="1347614"/>
              <a:ext cx="329580" cy="1145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156176" y="991321"/>
              <a:ext cx="2784353" cy="2948581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732242" y="2044496"/>
              <a:ext cx="1872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Program Flash</a:t>
              </a:r>
              <a:r>
                <a:rPr lang="en-GB" sz="1600" b="1" dirty="0"/>
                <a:t> </a:t>
              </a:r>
              <a:r>
                <a:rPr lang="en-GB" sz="1600" b="1" dirty="0" smtClean="0"/>
                <a:t>Memory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12249" y="1015311"/>
              <a:ext cx="1872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PIC18FxxQ35</a:t>
              </a:r>
              <a:endParaRPr lang="en-GB" sz="1600" b="1" dirty="0" smtClean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923438" y="1167231"/>
            <a:ext cx="2784353" cy="2948581"/>
            <a:chOff x="2923438" y="1167231"/>
            <a:chExt cx="2784353" cy="2948581"/>
          </a:xfrm>
        </p:grpSpPr>
        <p:sp>
          <p:nvSpPr>
            <p:cNvPr id="28" name="Rectangle 27"/>
            <p:cNvSpPr/>
            <p:nvPr/>
          </p:nvSpPr>
          <p:spPr>
            <a:xfrm>
              <a:off x="2923438" y="1235492"/>
              <a:ext cx="2760474" cy="2880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925344" y="1591785"/>
              <a:ext cx="2760474" cy="62862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Program</a:t>
              </a:r>
              <a:endParaRPr lang="en-GB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923438" y="1167231"/>
              <a:ext cx="2784353" cy="2948581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499504" y="2220406"/>
              <a:ext cx="1872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Program Flash</a:t>
              </a:r>
              <a:r>
                <a:rPr lang="en-GB" sz="1600" b="1" dirty="0"/>
                <a:t> </a:t>
              </a:r>
              <a:r>
                <a:rPr lang="en-GB" sz="1600" b="1" dirty="0" smtClean="0"/>
                <a:t>Memory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379511" y="1191221"/>
              <a:ext cx="1872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PIC18FxxQ35</a:t>
              </a:r>
              <a:endParaRPr lang="en-GB" sz="1600" b="1" dirty="0" smtClean="0"/>
            </a:p>
          </p:txBody>
        </p:sp>
      </p:grpSp>
      <p:cxnSp>
        <p:nvCxnSpPr>
          <p:cNvPr id="18" name="Straight Connector 17"/>
          <p:cNvCxnSpPr/>
          <p:nvPr/>
        </p:nvCxnSpPr>
        <p:spPr>
          <a:xfrm flipV="1">
            <a:off x="6162809" y="1548473"/>
            <a:ext cx="2760474" cy="7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54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535434"/>
          </a:xfrm>
        </p:spPr>
        <p:txBody>
          <a:bodyPr vert="horz" lIns="85064" tIns="42531" rIns="85064" bIns="42531" rtlCol="0" anchor="t">
            <a:normAutofit/>
          </a:bodyPr>
          <a:lstStyle/>
          <a:p>
            <a:r>
              <a:rPr lang="en-GB" dirty="0"/>
              <a:t>Program Flash Memory ( PFM )</a:t>
            </a:r>
            <a:endParaRPr lang="en-GB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5708744" y="2571750"/>
            <a:ext cx="37542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 smtClean="0"/>
              <a:t>or</a:t>
            </a:r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323528" y="1558301"/>
            <a:ext cx="2664296" cy="1008112"/>
          </a:xfrm>
          <a:prstGeom prst="rect">
            <a:avLst/>
          </a:prstGeom>
        </p:spPr>
        <p:txBody>
          <a:bodyPr vert="horz" lIns="85064" tIns="42531" rIns="85064" bIns="42531" rtlCol="0">
            <a:noAutofit/>
          </a:bodyPr>
          <a:lstStyle/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b="1" dirty="0" smtClean="0">
                <a:solidFill>
                  <a:srgbClr val="FF0000"/>
                </a:solidFill>
              </a:rPr>
              <a:t>PFM usage</a:t>
            </a:r>
            <a:endParaRPr lang="en-ZA" sz="1800" b="1" dirty="0" smtClean="0">
              <a:solidFill>
                <a:srgbClr val="FF0000"/>
              </a:solidFill>
            </a:endParaRP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600" dirty="0" smtClean="0"/>
              <a:t>Your program</a:t>
            </a:r>
          </a:p>
          <a:p>
            <a:pPr marL="744306" lvl="1" indent="-318988">
              <a:spcBef>
                <a:spcPct val="20000"/>
              </a:spcBef>
            </a:pPr>
            <a:r>
              <a:rPr lang="en-ZA" sz="1600" dirty="0" smtClean="0"/>
              <a:t>and/or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600" dirty="0" smtClean="0"/>
              <a:t>Reference data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600" dirty="0" smtClean="0"/>
              <a:t>Pictures</a:t>
            </a:r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endParaRPr lang="en-ZA" sz="1600" dirty="0"/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dirty="0" smtClean="0"/>
              <a:t>Uses PFM direct addressing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endParaRPr lang="en-ZA" sz="1800" dirty="0" smtClean="0"/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endParaRPr lang="en-GB" sz="1800" dirty="0" smtClean="0"/>
          </a:p>
        </p:txBody>
      </p:sp>
      <p:grpSp>
        <p:nvGrpSpPr>
          <p:cNvPr id="7" name="Group 6"/>
          <p:cNvGrpSpPr/>
          <p:nvPr/>
        </p:nvGrpSpPr>
        <p:grpSpPr>
          <a:xfrm>
            <a:off x="6162809" y="1199763"/>
            <a:ext cx="2784353" cy="2956163"/>
            <a:chOff x="6156176" y="991321"/>
            <a:chExt cx="2784353" cy="2956163"/>
          </a:xfrm>
        </p:grpSpPr>
        <p:sp>
          <p:nvSpPr>
            <p:cNvPr id="4" name="Rectangle 3"/>
            <p:cNvSpPr/>
            <p:nvPr/>
          </p:nvSpPr>
          <p:spPr>
            <a:xfrm>
              <a:off x="6156176" y="1059582"/>
              <a:ext cx="2760474" cy="2880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156176" y="3236036"/>
              <a:ext cx="2760474" cy="7114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Program</a:t>
              </a:r>
              <a:endParaRPr lang="en-GB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156176" y="1347614"/>
              <a:ext cx="2760474" cy="36004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Reference Data</a:t>
              </a:r>
              <a:endParaRPr lang="en-GB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156176" y="1347614"/>
              <a:ext cx="329580" cy="1145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156176" y="991321"/>
              <a:ext cx="2784353" cy="2948581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732242" y="2044496"/>
              <a:ext cx="1872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Program Flash</a:t>
              </a:r>
              <a:r>
                <a:rPr lang="en-GB" sz="1600" b="1" dirty="0"/>
                <a:t> </a:t>
              </a:r>
              <a:r>
                <a:rPr lang="en-GB" sz="1600" b="1" dirty="0" smtClean="0"/>
                <a:t>Memory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12249" y="1015311"/>
              <a:ext cx="1872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PIC18FxxQ35</a:t>
              </a:r>
              <a:endParaRPr lang="en-GB" sz="1600" b="1" dirty="0" smtClean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913350" y="1167231"/>
            <a:ext cx="2794441" cy="2948581"/>
            <a:chOff x="2913350" y="1167231"/>
            <a:chExt cx="2794441" cy="2948581"/>
          </a:xfrm>
        </p:grpSpPr>
        <p:sp>
          <p:nvSpPr>
            <p:cNvPr id="28" name="Rectangle 27"/>
            <p:cNvSpPr/>
            <p:nvPr/>
          </p:nvSpPr>
          <p:spPr>
            <a:xfrm>
              <a:off x="2923438" y="1235492"/>
              <a:ext cx="2760474" cy="2880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925344" y="1591785"/>
              <a:ext cx="2760474" cy="62862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Program</a:t>
              </a:r>
              <a:endParaRPr lang="en-GB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913350" y="3755772"/>
              <a:ext cx="2760474" cy="36004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Reference Data</a:t>
              </a:r>
              <a:endParaRPr lang="en-GB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923438" y="1167231"/>
              <a:ext cx="2784353" cy="2948581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499504" y="2220406"/>
              <a:ext cx="1872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Program Flash</a:t>
              </a:r>
              <a:r>
                <a:rPr lang="en-GB" sz="1600" b="1" dirty="0"/>
                <a:t> </a:t>
              </a:r>
              <a:r>
                <a:rPr lang="en-GB" sz="1600" b="1" dirty="0" smtClean="0"/>
                <a:t>Memory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379511" y="1191221"/>
              <a:ext cx="1872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PIC18FxxQ35</a:t>
              </a:r>
              <a:endParaRPr lang="en-GB" sz="1600" b="1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390154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432048"/>
          </a:xfrm>
        </p:spPr>
        <p:txBody>
          <a:bodyPr vert="horz" lIns="85064" tIns="42531" rIns="85064" bIns="42531" rtlCol="0" anchor="ctr">
            <a:normAutofit fontScale="90000"/>
          </a:bodyPr>
          <a:lstStyle/>
          <a:p>
            <a:pPr algn="l"/>
            <a:r>
              <a:rPr lang="en-GB" dirty="0" smtClean="0"/>
              <a:t>SAF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606" y="1529774"/>
            <a:ext cx="2664296" cy="3377609"/>
          </a:xfrm>
          <a:prstGeom prst="rect">
            <a:avLst/>
          </a:prstGeom>
          <a:solidFill>
            <a:schemeClr val="bg1"/>
          </a:solidFill>
        </p:spPr>
        <p:txBody>
          <a:bodyPr vert="horz" lIns="85064" tIns="42531" rIns="85064" bIns="42531" rtlCol="0">
            <a:noAutofit/>
          </a:bodyPr>
          <a:lstStyle/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b="1" dirty="0" smtClean="0">
                <a:solidFill>
                  <a:srgbClr val="FF0000"/>
                </a:solidFill>
              </a:rPr>
              <a:t>SAF usage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dirty="0" smtClean="0"/>
              <a:t>Reference </a:t>
            </a:r>
            <a:r>
              <a:rPr lang="en-ZA" sz="1800" dirty="0" smtClean="0"/>
              <a:t>data</a:t>
            </a:r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dirty="0" smtClean="0"/>
              <a:t>Byte only</a:t>
            </a:r>
            <a:endParaRPr lang="en-ZA" sz="1800" dirty="0" smtClean="0"/>
          </a:p>
          <a:p>
            <a:pPr marL="744306" lvl="1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dirty="0" smtClean="0"/>
              <a:t>Must not be overwritten by user program – you MUST adjust program to </a:t>
            </a:r>
            <a:r>
              <a:rPr lang="en-ZA" sz="1800" b="1" dirty="0" smtClean="0"/>
              <a:t>NOT</a:t>
            </a:r>
            <a:r>
              <a:rPr lang="en-ZA" sz="1800" dirty="0" smtClean="0"/>
              <a:t> use SAF block</a:t>
            </a:r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r>
              <a:rPr lang="en-ZA" sz="1800" dirty="0" smtClean="0"/>
              <a:t>Uses SAF offset addressing</a:t>
            </a:r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endParaRPr lang="en-ZA" sz="1800" dirty="0" smtClean="0"/>
          </a:p>
          <a:p>
            <a:pPr marL="318988" indent="-318988">
              <a:spcBef>
                <a:spcPct val="20000"/>
              </a:spcBef>
              <a:buFont typeface="Arial" pitchFamily="34" charset="0"/>
              <a:buChar char="•"/>
            </a:pPr>
            <a:endParaRPr lang="en-GB" sz="1800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5708744" y="2571750"/>
            <a:ext cx="37542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 smtClean="0"/>
              <a:t>or</a:t>
            </a:r>
            <a:endParaRPr lang="en-GB" dirty="0"/>
          </a:p>
        </p:txBody>
      </p:sp>
      <p:grpSp>
        <p:nvGrpSpPr>
          <p:cNvPr id="27" name="Group 26"/>
          <p:cNvGrpSpPr/>
          <p:nvPr/>
        </p:nvGrpSpPr>
        <p:grpSpPr>
          <a:xfrm>
            <a:off x="6162809" y="1199763"/>
            <a:ext cx="2784353" cy="2956163"/>
            <a:chOff x="6156176" y="991321"/>
            <a:chExt cx="2784353" cy="2956163"/>
          </a:xfrm>
        </p:grpSpPr>
        <p:sp>
          <p:nvSpPr>
            <p:cNvPr id="28" name="Rectangle 27"/>
            <p:cNvSpPr/>
            <p:nvPr/>
          </p:nvSpPr>
          <p:spPr>
            <a:xfrm>
              <a:off x="6156176" y="1059582"/>
              <a:ext cx="2760474" cy="2880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156176" y="2875996"/>
              <a:ext cx="2760474" cy="7114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Program</a:t>
              </a:r>
              <a:endParaRPr lang="en-GB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156176" y="3587444"/>
              <a:ext cx="2760474" cy="36004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SAF Data</a:t>
              </a:r>
              <a:endParaRPr lang="en-GB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156176" y="1347614"/>
              <a:ext cx="329580" cy="1145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156176" y="991321"/>
              <a:ext cx="2784353" cy="2948581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732242" y="2044496"/>
              <a:ext cx="1872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Program Flash</a:t>
              </a:r>
              <a:r>
                <a:rPr lang="en-GB" sz="1600" b="1" dirty="0"/>
                <a:t> </a:t>
              </a:r>
              <a:r>
                <a:rPr lang="en-GB" sz="1600" b="1" dirty="0" smtClean="0"/>
                <a:t>Memory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612249" y="1015311"/>
              <a:ext cx="1872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PIC18FxxQ35</a:t>
              </a:r>
              <a:endParaRPr lang="en-GB" sz="1600" b="1" dirty="0" smtClean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2923438" y="1167231"/>
            <a:ext cx="2784353" cy="2948581"/>
            <a:chOff x="2923438" y="1167231"/>
            <a:chExt cx="2784353" cy="2948581"/>
          </a:xfrm>
        </p:grpSpPr>
        <p:sp>
          <p:nvSpPr>
            <p:cNvPr id="36" name="Rectangle 35"/>
            <p:cNvSpPr/>
            <p:nvPr/>
          </p:nvSpPr>
          <p:spPr>
            <a:xfrm>
              <a:off x="2923438" y="1235492"/>
              <a:ext cx="2760474" cy="2880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925344" y="1591785"/>
              <a:ext cx="2760474" cy="62862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Program</a:t>
              </a:r>
              <a:endParaRPr lang="en-GB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923438" y="3755772"/>
              <a:ext cx="2750386" cy="36004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 smtClean="0"/>
                <a:t>SAF Data</a:t>
              </a:r>
              <a:endParaRPr lang="en-GB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923438" y="1167231"/>
              <a:ext cx="2784353" cy="2948581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499504" y="2220406"/>
              <a:ext cx="1872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Program Flash</a:t>
              </a:r>
              <a:r>
                <a:rPr lang="en-GB" sz="1600" b="1" dirty="0"/>
                <a:t> </a:t>
              </a:r>
              <a:r>
                <a:rPr lang="en-GB" sz="1600" b="1" dirty="0" smtClean="0"/>
                <a:t>Memory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379511" y="1191221"/>
              <a:ext cx="1872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smtClean="0"/>
                <a:t>PIC18FxxQ35</a:t>
              </a:r>
              <a:endParaRPr lang="en-GB" sz="1600" b="1" dirty="0" smtClean="0"/>
            </a:p>
          </p:txBody>
        </p:sp>
      </p:grpSp>
      <p:sp>
        <p:nvSpPr>
          <p:cNvPr id="3" name="Rectangle 2"/>
          <p:cNvSpPr/>
          <p:nvPr/>
        </p:nvSpPr>
        <p:spPr>
          <a:xfrm>
            <a:off x="3528392" y="4227934"/>
            <a:ext cx="4572000" cy="8771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/>
            <a:r>
              <a:rPr lang="en-GB" dirty="0" smtClean="0"/>
              <a:t>SAF is </a:t>
            </a:r>
            <a:r>
              <a:rPr lang="en-GB" dirty="0"/>
              <a:t>designated for storing non-volatile data and can be protected to ensure data integrity and security.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6162809" y="1548473"/>
            <a:ext cx="2760474" cy="7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14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EEDATA &amp; DATA Blocks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915993"/>
              </p:ext>
            </p:extLst>
          </p:nvPr>
        </p:nvGraphicFramePr>
        <p:xfrm>
          <a:off x="354727" y="1803779"/>
          <a:ext cx="5256582" cy="2030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901"/>
                <a:gridCol w="870677"/>
                <a:gridCol w="3995004"/>
              </a:tblGrid>
              <a:tr h="54271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Typ</a:t>
                      </a:r>
                      <a:r>
                        <a:rPr lang="en-GB" baseline="0" dirty="0" smtClean="0"/>
                        <a:t>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Characteristics</a:t>
                      </a:r>
                      <a:endParaRPr lang="en-GB" dirty="0"/>
                    </a:p>
                  </a:txBody>
                  <a:tcPr/>
                </a:tc>
              </a:tr>
              <a:tr h="542715">
                <a:tc>
                  <a:txBody>
                    <a:bodyPr/>
                    <a:lstStyle/>
                    <a:p>
                      <a:pPr lvl="0"/>
                      <a:r>
                        <a:rPr lang="en-GB" dirty="0" smtClean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dirty="0" smtClean="0"/>
                        <a:t>EEDATA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50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An</a:t>
                      </a:r>
                      <a:r>
                        <a:rPr lang="en-GB" baseline="0" dirty="0" smtClean="0"/>
                        <a:t> EEPROM block or blocks of data that is programmed into the </a:t>
                      </a:r>
                      <a:r>
                        <a:rPr lang="en-GB" baseline="0" dirty="0" smtClean="0"/>
                        <a:t>EEPROM – byte only</a:t>
                      </a:r>
                      <a:endParaRPr lang="en-GB" b="0" dirty="0" smtClean="0"/>
                    </a:p>
                  </a:txBody>
                  <a:tcPr/>
                </a:tc>
              </a:tr>
              <a:tr h="542715">
                <a:tc>
                  <a:txBody>
                    <a:bodyPr/>
                    <a:lstStyle/>
                    <a:p>
                      <a:r>
                        <a:rPr lang="en-GB" dirty="0" smtClean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DATA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50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An</a:t>
                      </a:r>
                      <a:r>
                        <a:rPr lang="en-GB" baseline="0" dirty="0" smtClean="0"/>
                        <a:t> DATA block or blocks of data that is programmed just above your </a:t>
                      </a:r>
                      <a:r>
                        <a:rPr lang="en-GB" baseline="0" dirty="0" smtClean="0"/>
                        <a:t>program – byte or word</a:t>
                      </a:r>
                      <a:endParaRPr lang="en-GB" b="0" dirty="0" smtClean="0"/>
                    </a:p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979712" y="4011910"/>
            <a:ext cx="4467890" cy="3539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/>
              <a:t>Both areas can be easily used for reference data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809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/>
              <a:t>Walk the examples 	</a:t>
            </a:r>
          </a:p>
          <a:p>
            <a:pPr lvl="1"/>
            <a:r>
              <a:rPr lang="en-ZA" sz="1600" dirty="0" smtClean="0"/>
              <a:t>PROGMEM</a:t>
            </a:r>
          </a:p>
          <a:p>
            <a:pPr lvl="1"/>
            <a:r>
              <a:rPr lang="en-ZA" sz="1600" dirty="0" smtClean="0"/>
              <a:t>SAF</a:t>
            </a:r>
          </a:p>
          <a:p>
            <a:pPr lvl="1"/>
            <a:r>
              <a:rPr lang="en-ZA" sz="1600" dirty="0" smtClean="0"/>
              <a:t>EEPROM and DATA blocks</a:t>
            </a:r>
            <a:endParaRPr lang="en-GB" sz="1600" dirty="0" smtClean="0"/>
          </a:p>
        </p:txBody>
      </p:sp>
    </p:spTree>
    <p:extLst>
      <p:ext uri="{BB962C8B-B14F-4D97-AF65-F5344CB8AC3E}">
        <p14:creationId xmlns:p14="http://schemas.microsoft.com/office/powerpoint/2010/main" val="223304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6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15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96232" y="1086092"/>
            <a:ext cx="4124707" cy="1234727"/>
          </a:xfrm>
        </p:spPr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16673" y="2574522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16 - </a:t>
            </a:r>
            <a:r>
              <a:rPr lang="en-GB" dirty="0" err="1"/>
              <a:t>Progmem</a:t>
            </a:r>
            <a:r>
              <a:rPr lang="en-GB" dirty="0"/>
              <a:t>, SAF memory, EEPROM and DATA blocks</a:t>
            </a:r>
            <a:endParaRPr lang="en-GB" dirty="0"/>
          </a:p>
        </p:txBody>
      </p:sp>
      <p:pic>
        <p:nvPicPr>
          <p:cNvPr id="6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42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15225</TotalTime>
  <Words>911</Words>
  <Application>Microsoft Office PowerPoint</Application>
  <PresentationFormat>On-screen Show (16:9)</PresentationFormat>
  <Paragraphs>180</Paragraphs>
  <Slides>16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PowerPoint Presentation</vt:lpstr>
      <vt:lpstr>Storage Overview Types</vt:lpstr>
      <vt:lpstr>Program Flash Memory ( PFM )</vt:lpstr>
      <vt:lpstr>Program Flash Memory ( PFM )</vt:lpstr>
      <vt:lpstr>SAF</vt:lpstr>
      <vt:lpstr>EEDATA &amp; DATA Blocks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783</cp:revision>
  <dcterms:created xsi:type="dcterms:W3CDTF">2019-01-08T20:03:06Z</dcterms:created>
  <dcterms:modified xsi:type="dcterms:W3CDTF">2026-08-19T06:44:27Z</dcterms:modified>
</cp:coreProperties>
</file>