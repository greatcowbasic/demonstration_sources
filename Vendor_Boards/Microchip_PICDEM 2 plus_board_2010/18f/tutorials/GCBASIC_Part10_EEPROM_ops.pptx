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gif" ContentType="image/gif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1"/>
  </p:notesMasterIdLst>
  <p:handoutMasterIdLst>
    <p:handoutMasterId r:id="rId22"/>
  </p:handoutMasterIdLst>
  <p:sldIdLst>
    <p:sldId id="345" r:id="rId2"/>
    <p:sldId id="346" r:id="rId3"/>
    <p:sldId id="347" r:id="rId4"/>
    <p:sldId id="348" r:id="rId5"/>
    <p:sldId id="349" r:id="rId6"/>
    <p:sldId id="350" r:id="rId7"/>
    <p:sldId id="351" r:id="rId8"/>
    <p:sldId id="352" r:id="rId9"/>
    <p:sldId id="353" r:id="rId10"/>
    <p:sldId id="354" r:id="rId11"/>
    <p:sldId id="337" r:id="rId12"/>
    <p:sldId id="338" r:id="rId13"/>
    <p:sldId id="339" r:id="rId14"/>
    <p:sldId id="340" r:id="rId15"/>
    <p:sldId id="341" r:id="rId16"/>
    <p:sldId id="288" r:id="rId17"/>
    <p:sldId id="344" r:id="rId18"/>
    <p:sldId id="355" r:id="rId19"/>
    <p:sldId id="356" r:id="rId20"/>
  </p:sldIdLst>
  <p:sldSz cx="9144000" cy="5143500" type="screen16x9"/>
  <p:notesSz cx="6858000" cy="9144000"/>
  <p:defaultTextStyle>
    <a:defPPr>
      <a:defRPr lang="en-US"/>
    </a:defPPr>
    <a:lvl1pPr marL="0" algn="l" defTabSz="850636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1pPr>
    <a:lvl2pPr marL="425318" algn="l" defTabSz="850636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2pPr>
    <a:lvl3pPr marL="850636" algn="l" defTabSz="850636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3pPr>
    <a:lvl4pPr marL="1275954" algn="l" defTabSz="850636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4pPr>
    <a:lvl5pPr marL="1701273" algn="l" defTabSz="850636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5pPr>
    <a:lvl6pPr marL="2126591" algn="l" defTabSz="850636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6pPr>
    <a:lvl7pPr marL="2551909" algn="l" defTabSz="850636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7pPr>
    <a:lvl8pPr marL="2977227" algn="l" defTabSz="850636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8pPr>
    <a:lvl9pPr marL="3402546" algn="l" defTabSz="850636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64C3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47" autoAdjust="0"/>
    <p:restoredTop sz="94660"/>
  </p:normalViewPr>
  <p:slideViewPr>
    <p:cSldViewPr>
      <p:cViewPr>
        <p:scale>
          <a:sx n="125" d="100"/>
          <a:sy n="125" d="100"/>
        </p:scale>
        <p:origin x="-1230" y="-774"/>
      </p:cViewPr>
      <p:guideLst>
        <p:guide orient="horz" pos="162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97" d="100"/>
          <a:sy n="97" d="100"/>
        </p:scale>
        <p:origin x="-3582" y="-114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42E545A-AB39-44F0-B5A6-04A90C6C9399}" type="datetimeFigureOut">
              <a:rPr lang="en-GB" smtClean="0"/>
              <a:pPr/>
              <a:t>12/08/2026</a:t>
            </a:fld>
            <a:endParaRPr lang="en-GB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94131C5-F37A-4CF6-BFE3-A572240BD623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904284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100B3C-2E11-428B-8555-A77018253716}" type="datetimeFigureOut">
              <a:rPr lang="en-GB" smtClean="0"/>
              <a:pPr/>
              <a:t>12/08/2026</a:t>
            </a:fld>
            <a:endParaRPr lang="en-GB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33471A-AA0F-4CD3-BA89-C1C7FB68C6DB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641865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850636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1pPr>
    <a:lvl2pPr marL="425318" algn="l" defTabSz="850636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2pPr>
    <a:lvl3pPr marL="850636" algn="l" defTabSz="850636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3pPr>
    <a:lvl4pPr marL="1275954" algn="l" defTabSz="850636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4pPr>
    <a:lvl5pPr marL="1701273" algn="l" defTabSz="850636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5pPr>
    <a:lvl6pPr marL="2126591" algn="l" defTabSz="850636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6pPr>
    <a:lvl7pPr marL="2551909" algn="l" defTabSz="850636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7pPr>
    <a:lvl8pPr marL="2977227" algn="l" defTabSz="850636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8pPr>
    <a:lvl9pPr marL="3402546" algn="l" defTabSz="850636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gif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in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="" xmlns:a16="http://schemas.microsoft.com/office/drawing/2014/main" id="{9C757326-0232-4CDF-81FF-302CA676961B}"/>
              </a:ext>
            </a:extLst>
          </p:cNvPr>
          <p:cNvSpPr/>
          <p:nvPr/>
        </p:nvSpPr>
        <p:spPr>
          <a:xfrm>
            <a:off x="1" y="0"/>
            <a:ext cx="9143999" cy="5143500"/>
          </a:xfrm>
          <a:prstGeom prst="rect">
            <a:avLst/>
          </a:prstGeom>
          <a:solidFill>
            <a:srgbClr val="0A0E2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8580" tIns="34290" rIns="68580" bIns="34290" rtlCol="0" anchor="ctr"/>
          <a:lstStyle/>
          <a:p>
            <a:pPr algn="ctr"/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="" xmlns:a16="http://schemas.microsoft.com/office/drawing/2014/main" id="{4987E008-68E6-4A43-85BC-1A6ACDF91DE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-2381" y="-6350"/>
            <a:ext cx="9209328" cy="515836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="" xmlns:a16="http://schemas.microsoft.com/office/drawing/2014/main" id="{A1F8C892-C868-4DF6-91AB-B18CE632B1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143000"/>
            <a:ext cx="4900613" cy="28575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144618" y="1406112"/>
            <a:ext cx="3342860" cy="1369936"/>
          </a:xfrm>
        </p:spPr>
        <p:txBody>
          <a:bodyPr anchor="b">
            <a:normAutofit/>
          </a:bodyPr>
          <a:lstStyle>
            <a:lvl1pPr algn="l">
              <a:defRPr sz="4100" b="0" cap="none">
                <a:solidFill>
                  <a:schemeClr val="bg2"/>
                </a:solidFill>
              </a:defRPr>
            </a:lvl1pPr>
          </a:lstStyle>
          <a:p>
            <a:r>
              <a:rPr lang="en-US" dirty="0"/>
              <a:t>Click To Add App Title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4144617" y="2776047"/>
            <a:ext cx="3342861" cy="6453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bg1">
                    <a:lumMod val="65000"/>
                  </a:schemeClr>
                </a:solidFill>
              </a:defRPr>
            </a:lvl1pPr>
            <a:lvl2pPr marL="3429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Add subtitle</a:t>
            </a:r>
          </a:p>
        </p:txBody>
      </p:sp>
      <p:sp>
        <p:nvSpPr>
          <p:cNvPr id="12" name="Text Placeholder 2">
            <a:extLst>
              <a:ext uri="{FF2B5EF4-FFF2-40B4-BE49-F238E27FC236}">
                <a16:creationId xmlns="" xmlns:a16="http://schemas.microsoft.com/office/drawing/2014/main" id="{D547E580-E6D6-4D97-BB04-05795A830147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5374553" y="158920"/>
            <a:ext cx="1677709" cy="323789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accent1"/>
                </a:solidFill>
              </a:defRPr>
            </a:lvl1pPr>
            <a:lvl2pPr marL="3429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Add web page</a:t>
            </a:r>
          </a:p>
        </p:txBody>
      </p:sp>
    </p:spTree>
    <p:extLst>
      <p:ext uri="{BB962C8B-B14F-4D97-AF65-F5344CB8AC3E}">
        <p14:creationId xmlns:p14="http://schemas.microsoft.com/office/powerpoint/2010/main" val="36566889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="" xmlns:a16="http://schemas.microsoft.com/office/drawing/2014/main" id="{5B5B8CA2-02D4-408C-B548-182D4F5F54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4787" y="0"/>
            <a:ext cx="9213573" cy="51435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512" y="483518"/>
            <a:ext cx="5400600" cy="990600"/>
          </a:xfrm>
        </p:spPr>
        <p:txBody>
          <a:bodyPr>
            <a:normAutofit/>
          </a:bodyPr>
          <a:lstStyle>
            <a:lvl1pPr>
              <a:defRPr sz="27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1" y="1786855"/>
            <a:ext cx="6447501" cy="2744167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73AACB-D821-4991-9D88-46EB8D29E619}" type="datetimeFigureOut">
              <a:rPr lang="en-GB" smtClean="0"/>
              <a:pPr/>
              <a:t>12/08/2026</a:t>
            </a:fld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064BB-E67B-4C9B-9AC8-E5B521C073FA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192000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="" xmlns:a16="http://schemas.microsoft.com/office/drawing/2014/main" id="{EA8DB33B-8BF9-4C99-B31C-55246227EF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382" y="-6350"/>
            <a:ext cx="9209330" cy="5158364"/>
          </a:xfrm>
          <a:prstGeom prst="rect">
            <a:avLst/>
          </a:prstGeom>
        </p:spPr>
      </p:pic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075495" y="1803400"/>
            <a:ext cx="4124707" cy="1234727"/>
          </a:xfrm>
        </p:spPr>
        <p:txBody>
          <a:bodyPr anchor="b">
            <a:noAutofit/>
          </a:bodyPr>
          <a:lstStyle>
            <a:lvl1pPr algn="r">
              <a:defRPr sz="4100">
                <a:solidFill>
                  <a:schemeClr val="accent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075494" y="3038125"/>
            <a:ext cx="4124707" cy="822674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73AACB-D821-4991-9D88-46EB8D29E619}" type="datetimeFigureOut">
              <a:rPr lang="en-GB" smtClean="0"/>
              <a:pPr/>
              <a:t>12/08/2026</a:t>
            </a:fld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064BB-E67B-4C9B-9AC8-E5B521C073FA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9049127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="" xmlns:a16="http://schemas.microsoft.com/office/drawing/2014/main" id="{EA8DB33B-8BF9-4C99-B31C-55246227EFD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-2381" y="-6350"/>
            <a:ext cx="9209328" cy="5158364"/>
          </a:xfrm>
          <a:prstGeom prst="rect">
            <a:avLst/>
          </a:prstGeom>
        </p:spPr>
      </p:pic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65493" y="1803400"/>
            <a:ext cx="6134709" cy="1234727"/>
          </a:xfrm>
        </p:spPr>
        <p:txBody>
          <a:bodyPr anchor="b">
            <a:noAutofit/>
          </a:bodyPr>
          <a:lstStyle>
            <a:lvl1pPr algn="ctr">
              <a:defRPr sz="4100">
                <a:solidFill>
                  <a:schemeClr val="accent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65492" y="3038125"/>
            <a:ext cx="6134709" cy="822674"/>
          </a:xfrm>
        </p:spPr>
        <p:txBody>
          <a:bodyPr anchor="t"/>
          <a:lstStyle>
            <a:lvl1pPr marL="0" indent="0" algn="ct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73AACB-D821-4991-9D88-46EB8D29E619}" type="datetimeFigureOut">
              <a:rPr lang="en-GB" smtClean="0"/>
              <a:pPr/>
              <a:t>12/08/2026</a:t>
            </a:fld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064BB-E67B-4C9B-9AC8-E5B521C073FA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1177671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6453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73AACB-D821-4991-9D88-46EB8D29E619}" type="datetimeFigureOut">
              <a:rPr lang="en-GB" smtClean="0"/>
              <a:pPr/>
              <a:t>12/08/2026</a:t>
            </a:fld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064BB-E67B-4C9B-9AC8-E5B521C073FA}" type="slidenum">
              <a:rPr lang="en-GB" smtClean="0"/>
              <a:pPr/>
              <a:t>‹#›</a:t>
            </a:fld>
            <a:endParaRPr lang="en-GB" dirty="0"/>
          </a:p>
        </p:txBody>
      </p:sp>
      <p:pic>
        <p:nvPicPr>
          <p:cNvPr id="7" name="Picture 6">
            <a:extLst>
              <a:ext uri="{FF2B5EF4-FFF2-40B4-BE49-F238E27FC236}">
                <a16:creationId xmlns="" xmlns:a16="http://schemas.microsoft.com/office/drawing/2014/main" id="{6331EFED-43C1-4CBA-8BE3-308E3AA13B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4787" y="0"/>
            <a:ext cx="9213573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83143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8001" y="1620442"/>
            <a:ext cx="3138026" cy="2910579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17477" y="1620442"/>
            <a:ext cx="3138026" cy="291058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73AACB-D821-4991-9D88-46EB8D29E619}" type="datetimeFigureOut">
              <a:rPr lang="en-GB" smtClean="0"/>
              <a:pPr/>
              <a:t>12/08/2026</a:t>
            </a:fld>
            <a:endParaRPr lang="en-GB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064BB-E67B-4C9B-9AC8-E5B521C073FA}" type="slidenum">
              <a:rPr lang="en-GB" smtClean="0"/>
              <a:pPr/>
              <a:t>‹#›</a:t>
            </a:fld>
            <a:endParaRPr lang="en-GB" dirty="0"/>
          </a:p>
        </p:txBody>
      </p:sp>
      <p:pic>
        <p:nvPicPr>
          <p:cNvPr id="9" name="Picture 8">
            <a:extLst>
              <a:ext uri="{FF2B5EF4-FFF2-40B4-BE49-F238E27FC236}">
                <a16:creationId xmlns="" xmlns:a16="http://schemas.microsoft.com/office/drawing/2014/main" id="{1034EA63-4BE3-4A73-A7E6-4A75BE4C1D4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-23022" y="0"/>
            <a:ext cx="9190044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3648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="" xmlns:a16="http://schemas.microsoft.com/office/drawing/2014/main" id="{204DC1E6-B5F4-4160-90F3-351FB3242E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4787" y="0"/>
            <a:ext cx="9213573" cy="51435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4639034" cy="99060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6809" y="1620737"/>
            <a:ext cx="3139217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40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6809" y="2052934"/>
            <a:ext cx="3139217" cy="2478088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16287" y="1620737"/>
            <a:ext cx="313921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40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16288" y="2052934"/>
            <a:ext cx="3139213" cy="2478088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73AACB-D821-4991-9D88-46EB8D29E619}" type="datetimeFigureOut">
              <a:rPr lang="en-GB" smtClean="0"/>
              <a:pPr/>
              <a:t>12/08/2026</a:t>
            </a:fld>
            <a:endParaRPr lang="en-GB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064BB-E67B-4C9B-9AC8-E5B521C073FA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9351651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="" xmlns:a16="http://schemas.microsoft.com/office/drawing/2014/main" id="{E7897C67-3827-4595-8E3A-71E9F2EAB3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4787" y="0"/>
            <a:ext cx="9213573" cy="51435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457200"/>
            <a:ext cx="4624895" cy="9906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73AACB-D821-4991-9D88-46EB8D29E619}" type="datetimeFigureOut">
              <a:rPr lang="en-GB" smtClean="0"/>
              <a:pPr/>
              <a:t>12/08/2026</a:t>
            </a:fld>
            <a:endParaRPr lang="en-GB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064BB-E67B-4C9B-9AC8-E5B521C073FA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948493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73AACB-D821-4991-9D88-46EB8D29E619}" type="datetimeFigureOut">
              <a:rPr lang="en-GB" smtClean="0"/>
              <a:pPr/>
              <a:t>12/08/2026</a:t>
            </a:fld>
            <a:endParaRPr lang="en-GB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064BB-E67B-4C9B-9AC8-E5B521C073FA}" type="slidenum">
              <a:rPr lang="en-GB" smtClean="0"/>
              <a:pPr/>
              <a:t>‹#›</a:t>
            </a:fld>
            <a:endParaRPr lang="en-GB" dirty="0"/>
          </a:p>
        </p:txBody>
      </p:sp>
      <p:pic>
        <p:nvPicPr>
          <p:cNvPr id="6" name="Picture 5">
            <a:extLst>
              <a:ext uri="{FF2B5EF4-FFF2-40B4-BE49-F238E27FC236}">
                <a16:creationId xmlns="" xmlns:a16="http://schemas.microsoft.com/office/drawing/2014/main" id="{F1825398-026A-4668-BB48-C16AD1C9062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-23022" y="0"/>
            <a:ext cx="9190044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61720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="" xmlns:a16="http://schemas.microsoft.com/office/drawing/2014/main" id="{7CE2C968-D10A-4226-8FDC-CBC4C7EDD0B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-23022" y="0"/>
            <a:ext cx="9190044" cy="51435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123953"/>
            <a:ext cx="2890896" cy="958850"/>
          </a:xfrm>
        </p:spPr>
        <p:txBody>
          <a:bodyPr anchor="b">
            <a:normAutofit/>
          </a:bodyPr>
          <a:lstStyle>
            <a:lvl1pPr>
              <a:defRPr sz="15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98897" y="495300"/>
            <a:ext cx="3385156" cy="4035722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2082802"/>
            <a:ext cx="2890896" cy="1938337"/>
          </a:xfrm>
        </p:spPr>
        <p:txBody>
          <a:bodyPr>
            <a:normAutofit/>
          </a:bodyPr>
          <a:lstStyle>
            <a:lvl1pPr marL="0" indent="0">
              <a:buNone/>
              <a:defRPr sz="1100"/>
            </a:lvl1pPr>
            <a:lvl2pPr marL="342797" indent="0">
              <a:buNone/>
              <a:defRPr sz="1100"/>
            </a:lvl2pPr>
            <a:lvl3pPr marL="685595" indent="0">
              <a:buNone/>
              <a:defRPr sz="900"/>
            </a:lvl3pPr>
            <a:lvl4pPr marL="1028392" indent="0">
              <a:buNone/>
              <a:defRPr sz="800"/>
            </a:lvl4pPr>
            <a:lvl5pPr marL="1371188" indent="0">
              <a:buNone/>
              <a:defRPr sz="800"/>
            </a:lvl5pPr>
            <a:lvl6pPr marL="1713986" indent="0">
              <a:buNone/>
              <a:defRPr sz="800"/>
            </a:lvl6pPr>
            <a:lvl7pPr marL="2056783" indent="0">
              <a:buNone/>
              <a:defRPr sz="800"/>
            </a:lvl7pPr>
            <a:lvl8pPr marL="2399580" indent="0">
              <a:buNone/>
              <a:defRPr sz="800"/>
            </a:lvl8pPr>
            <a:lvl9pPr marL="2742377" indent="0">
              <a:buNone/>
              <a:defRPr sz="8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73AACB-D821-4991-9D88-46EB8D29E619}" type="datetimeFigureOut">
              <a:rPr lang="en-GB" smtClean="0"/>
              <a:pPr/>
              <a:t>12/08/2026</a:t>
            </a:fld>
            <a:endParaRPr lang="en-GB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064BB-E67B-4C9B-9AC8-E5B521C073FA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798600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="" xmlns:a16="http://schemas.microsoft.com/office/drawing/2014/main" id="{6AB5D66D-00C1-40EA-BFC8-305566F1036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-23022" y="0"/>
            <a:ext cx="9190044" cy="51435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3600450"/>
            <a:ext cx="644750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8001" y="706966"/>
            <a:ext cx="6447501" cy="2893484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 dirty="0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4025504"/>
            <a:ext cx="6447500" cy="505518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800"/>
            </a:lvl3pPr>
            <a:lvl4pPr marL="1028700" indent="0">
              <a:buNone/>
              <a:defRPr sz="700"/>
            </a:lvl4pPr>
            <a:lvl5pPr marL="1371600" indent="0">
              <a:buNone/>
              <a:defRPr sz="700"/>
            </a:lvl5pPr>
            <a:lvl6pPr marL="1714500" indent="0">
              <a:buNone/>
              <a:defRPr sz="700"/>
            </a:lvl6pPr>
            <a:lvl7pPr marL="2057400" indent="0">
              <a:buNone/>
              <a:defRPr sz="700"/>
            </a:lvl7pPr>
            <a:lvl8pPr marL="2400300" indent="0">
              <a:buNone/>
              <a:defRPr sz="700"/>
            </a:lvl8pPr>
            <a:lvl9pPr marL="2743200" indent="0">
              <a:buNone/>
              <a:defRPr sz="7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73AACB-D821-4991-9D88-46EB8D29E619}" type="datetimeFigureOut">
              <a:rPr lang="en-GB" smtClean="0"/>
              <a:pPr/>
              <a:t>12/08/2026</a:t>
            </a:fld>
            <a:endParaRPr lang="en-GB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064BB-E67B-4C9B-9AC8-E5B521C073FA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050296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255270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73AACB-D821-4991-9D88-46EB8D29E619}" type="datetimeFigureOut">
              <a:rPr lang="en-GB" smtClean="0"/>
              <a:pPr/>
              <a:t>12/08/2026</a:t>
            </a:fld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064BB-E67B-4C9B-9AC8-E5B521C073FA}" type="slidenum">
              <a:rPr lang="en-GB" smtClean="0"/>
              <a:pPr/>
              <a:t>‹#›</a:t>
            </a:fld>
            <a:endParaRPr lang="en-GB" dirty="0"/>
          </a:p>
        </p:txBody>
      </p:sp>
      <p:pic>
        <p:nvPicPr>
          <p:cNvPr id="8" name="Picture 7">
            <a:extLst>
              <a:ext uri="{FF2B5EF4-FFF2-40B4-BE49-F238E27FC236}">
                <a16:creationId xmlns="" xmlns:a16="http://schemas.microsoft.com/office/drawing/2014/main" id="{AD4D4CB4-D965-4BB6-B218-086244C13BA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-23022" y="0"/>
            <a:ext cx="9190044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262583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24604" y="2724150"/>
            <a:ext cx="5418393" cy="28575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73AACB-D821-4991-9D88-46EB8D29E619}" type="datetimeFigureOut">
              <a:rPr lang="en-GB" smtClean="0"/>
              <a:pPr/>
              <a:t>12/08/2026</a:t>
            </a:fld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064BB-E67B-4C9B-9AC8-E5B521C073FA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20" name="TextBox 19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="" xmlns:a16="http://schemas.microsoft.com/office/drawing/2014/main" id="{A3B58C4E-0EF0-466C-9740-EC9F485CBD0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-23022" y="0"/>
            <a:ext cx="9190044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248790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448991"/>
            <a:ext cx="6447501" cy="1946595"/>
          </a:xfrm>
        </p:spPr>
        <p:txBody>
          <a:bodyPr anchor="b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73AACB-D821-4991-9D88-46EB8D29E619}" type="datetimeFigureOut">
              <a:rPr lang="en-GB" smtClean="0"/>
              <a:pPr/>
              <a:t>12/08/2026</a:t>
            </a:fld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064BB-E67B-4C9B-9AC8-E5B521C073FA}" type="slidenum">
              <a:rPr lang="en-GB" smtClean="0"/>
              <a:pPr/>
              <a:t>‹#›</a:t>
            </a:fld>
            <a:endParaRPr lang="en-GB" dirty="0"/>
          </a:p>
        </p:txBody>
      </p:sp>
      <p:pic>
        <p:nvPicPr>
          <p:cNvPr id="7" name="Picture 6">
            <a:extLst>
              <a:ext uri="{FF2B5EF4-FFF2-40B4-BE49-F238E27FC236}">
                <a16:creationId xmlns="" xmlns:a16="http://schemas.microsoft.com/office/drawing/2014/main" id="{2D0B9223-1250-44AA-A6C3-F2013B85AE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4787" y="0"/>
            <a:ext cx="9213573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089406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4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73AACB-D821-4991-9D88-46EB8D29E619}" type="datetimeFigureOut">
              <a:rPr lang="en-GB" smtClean="0"/>
              <a:pPr/>
              <a:t>12/08/2026</a:t>
            </a:fld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064BB-E67B-4C9B-9AC8-E5B521C073FA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24" name="TextBox 23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="" xmlns:a16="http://schemas.microsoft.com/office/drawing/2014/main" id="{D49E1C7C-7E53-49A2-B2C9-52307876DB7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-23022" y="0"/>
            <a:ext cx="9190044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252917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457200"/>
            <a:ext cx="6441152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4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73AACB-D821-4991-9D88-46EB8D29E619}" type="datetimeFigureOut">
              <a:rPr lang="en-GB" smtClean="0"/>
              <a:pPr/>
              <a:t>12/08/2026</a:t>
            </a:fld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064BB-E67B-4C9B-9AC8-E5B521C073FA}" type="slidenum">
              <a:rPr lang="en-GB" smtClean="0"/>
              <a:pPr/>
              <a:t>‹#›</a:t>
            </a:fld>
            <a:endParaRPr lang="en-GB" dirty="0"/>
          </a:p>
        </p:txBody>
      </p:sp>
      <p:pic>
        <p:nvPicPr>
          <p:cNvPr id="9" name="Picture 8">
            <a:extLst>
              <a:ext uri="{FF2B5EF4-FFF2-40B4-BE49-F238E27FC236}">
                <a16:creationId xmlns="" xmlns:a16="http://schemas.microsoft.com/office/drawing/2014/main" id="{23082AB0-2BB5-46FE-9A17-15E1ACC0696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-23022" y="0"/>
            <a:ext cx="9190044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602608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="" xmlns:a16="http://schemas.microsoft.com/office/drawing/2014/main" id="{1862E859-E5AF-4D76-9FC9-2355B24FF14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-23022" y="0"/>
            <a:ext cx="9190044" cy="51435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5402469" cy="9906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73AACB-D821-4991-9D88-46EB8D29E619}" type="datetimeFigureOut">
              <a:rPr lang="en-GB" smtClean="0"/>
              <a:pPr/>
              <a:t>12/08/2026</a:t>
            </a:fld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064BB-E67B-4C9B-9AC8-E5B521C073FA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0567031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="" xmlns:a16="http://schemas.microsoft.com/office/drawing/2014/main" id="{91908D0E-7544-4687-965B-72EF64AA4C5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-23022" y="0"/>
            <a:ext cx="9190044" cy="51435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5755" y="934278"/>
            <a:ext cx="978557" cy="3461510"/>
          </a:xfrm>
        </p:spPr>
        <p:txBody>
          <a:bodyPr vert="eaVert" anchor="ctr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8001" y="457200"/>
            <a:ext cx="5295113" cy="393858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73AACB-D821-4991-9D88-46EB8D29E619}" type="datetimeFigureOut">
              <a:rPr lang="en-GB" smtClean="0"/>
              <a:pPr/>
              <a:t>12/08/2026</a:t>
            </a:fld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064BB-E67B-4C9B-9AC8-E5B521C073FA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466874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  <a:prstGeom prst="rect">
            <a:avLst/>
          </a:prstGeom>
        </p:spPr>
        <p:txBody>
          <a:bodyPr vert="horz" lIns="68580" tIns="34290" rIns="68580" bIns="34290" rtlCol="0" anchor="t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1620442"/>
            <a:ext cx="6447501" cy="2910580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</p:spPr>
        <p:txBody>
          <a:bodyPr vert="horz" lIns="68580" tIns="34290" rIns="68580" bIns="34290" rtlCol="0" anchor="ctr"/>
          <a:lstStyle>
            <a:lvl1pPr algn="r">
              <a:defRPr sz="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473AACB-D821-4991-9D88-46EB8D29E619}" type="datetimeFigureOut">
              <a:rPr lang="en-GB" smtClean="0"/>
              <a:pPr/>
              <a:t>12/08/2026</a:t>
            </a:fld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</p:spPr>
        <p:txBody>
          <a:bodyPr vert="horz" lIns="68580" tIns="34290" rIns="68580" bIns="34290" rtlCol="0" anchor="ctr"/>
          <a:lstStyle>
            <a:lvl1pPr algn="l">
              <a:defRPr sz="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42998" y="4531022"/>
            <a:ext cx="512504" cy="273844"/>
          </a:xfrm>
          <a:prstGeom prst="rect">
            <a:avLst/>
          </a:prstGeom>
        </p:spPr>
        <p:txBody>
          <a:bodyPr vert="horz" lIns="68580" tIns="34290" rIns="68580" bIns="34290" rtlCol="0" anchor="ctr"/>
          <a:lstStyle>
            <a:lvl1pPr algn="r">
              <a:defRPr sz="700">
                <a:solidFill>
                  <a:schemeClr val="accent1"/>
                </a:solidFill>
              </a:defRPr>
            </a:lvl1pPr>
          </a:lstStyle>
          <a:p>
            <a:fld id="{B25064BB-E67B-4C9B-9AC8-E5B521C073FA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94436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</p:sldLayoutIdLst>
  <p:txStyles>
    <p:titleStyle>
      <a:lvl1pPr algn="l" defTabSz="342900" rtl="0" eaLnBrk="1" latinLnBrk="0" hangingPunct="1">
        <a:spcBef>
          <a:spcPct val="0"/>
        </a:spcBef>
        <a:buNone/>
        <a:defRPr sz="27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57175" indent="-257175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557213" indent="-214313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8572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1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2001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5430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8859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2288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25717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29146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smtClean="0"/>
              <a:t>GCBASIC</a:t>
            </a:r>
            <a:endParaRPr lang="en-GB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r>
              <a:rPr lang="en-GB" sz="1400" dirty="0" smtClean="0"/>
              <a:t>PIC18FxxQ35chip Family</a:t>
            </a:r>
          </a:p>
          <a:p>
            <a:r>
              <a:rPr lang="en-GB" sz="1400" dirty="0"/>
              <a:t>Part 10 - EEPROM Operations</a:t>
            </a:r>
            <a:endParaRPr lang="en-GB" sz="1400" dirty="0"/>
          </a:p>
        </p:txBody>
      </p:sp>
    </p:spTree>
    <p:extLst>
      <p:ext uri="{BB962C8B-B14F-4D97-AF65-F5344CB8AC3E}">
        <p14:creationId xmlns:p14="http://schemas.microsoft.com/office/powerpoint/2010/main" val="15135746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 smtClean="0"/>
              <a:t>GCBASIC</a:t>
            </a:r>
            <a:endParaRPr lang="en-GB" dirty="0"/>
          </a:p>
        </p:txBody>
      </p:sp>
      <p:pic>
        <p:nvPicPr>
          <p:cNvPr id="1026" name="Picture 2" descr="D:\Build\AnobiumTransparent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292080" y="911052"/>
            <a:ext cx="1828859" cy="771550"/>
          </a:xfrm>
          <a:prstGeom prst="rect">
            <a:avLst/>
          </a:prstGeom>
          <a:noFill/>
        </p:spPr>
      </p:pic>
      <p:sp>
        <p:nvSpPr>
          <p:cNvPr id="4" name="AutoShape 2" descr="ICSP connection"/>
          <p:cNvSpPr>
            <a:spLocks noChangeAspect="1" noChangeArrowheads="1"/>
          </p:cNvSpPr>
          <p:nvPr/>
        </p:nvSpPr>
        <p:spPr bwMode="auto">
          <a:xfrm>
            <a:off x="155575" y="-144462"/>
            <a:ext cx="304800" cy="304801"/>
          </a:xfrm>
          <a:prstGeom prst="rect">
            <a:avLst/>
          </a:prstGeom>
          <a:noFill/>
        </p:spPr>
        <p:txBody>
          <a:bodyPr vert="horz" wrap="square" lIns="85064" tIns="42531" rIns="85064" bIns="42531" numCol="1" anchor="t" anchorCtr="0" compatLnSpc="1">
            <a:prstTxWarp prst="textNoShape">
              <a:avLst/>
            </a:prstTxWarp>
          </a:bodyPr>
          <a:lstStyle/>
          <a:p>
            <a:endParaRPr lang="en-GB" dirty="0"/>
          </a:p>
        </p:txBody>
      </p:sp>
      <p:sp>
        <p:nvSpPr>
          <p:cNvPr id="7" name="Text Placeholder 4"/>
          <p:cNvSpPr txBox="1">
            <a:spLocks/>
          </p:cNvSpPr>
          <p:nvPr/>
        </p:nvSpPr>
        <p:spPr>
          <a:xfrm>
            <a:off x="3995936" y="3291830"/>
            <a:ext cx="3342861" cy="645300"/>
          </a:xfrm>
          <a:prstGeom prst="rect">
            <a:avLst/>
          </a:prstGeom>
        </p:spPr>
        <p:txBody>
          <a:bodyPr vert="horz" lIns="68580" tIns="34290" rIns="68580" bIns="34290" rtlCol="0" anchor="t">
            <a:noAutofit/>
          </a:bodyPr>
          <a:lstStyle>
            <a:lvl1pPr marL="0" indent="0" algn="r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1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 smtClean="0"/>
              <a:t>PIC18FxxQ35chip Family</a:t>
            </a:r>
          </a:p>
          <a:p>
            <a:r>
              <a:rPr lang="en-GB" dirty="0"/>
              <a:t>Part 10 - EEPROM Operations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00433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smtClean="0"/>
              <a:t>GCBASIC</a:t>
            </a:r>
            <a:endParaRPr lang="en-GB" dirty="0"/>
          </a:p>
        </p:txBody>
      </p:sp>
      <p:pic>
        <p:nvPicPr>
          <p:cNvPr id="1026" name="Picture 2" descr="D:\Build\AnobiumTransparent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315141" y="79363"/>
            <a:ext cx="1828859" cy="771550"/>
          </a:xfrm>
          <a:prstGeom prst="rect">
            <a:avLst/>
          </a:prstGeom>
          <a:noFill/>
        </p:spPr>
      </p:pic>
      <p:sp>
        <p:nvSpPr>
          <p:cNvPr id="4" name="AutoShape 2" descr="ICSP connection"/>
          <p:cNvSpPr>
            <a:spLocks noChangeAspect="1" noChangeArrowheads="1"/>
          </p:cNvSpPr>
          <p:nvPr/>
        </p:nvSpPr>
        <p:spPr bwMode="auto">
          <a:xfrm>
            <a:off x="155575" y="-144462"/>
            <a:ext cx="304800" cy="304801"/>
          </a:xfrm>
          <a:prstGeom prst="rect">
            <a:avLst/>
          </a:prstGeom>
          <a:noFill/>
        </p:spPr>
        <p:txBody>
          <a:bodyPr vert="horz" wrap="square" lIns="85064" tIns="42531" rIns="85064" bIns="42531" numCol="1" anchor="t" anchorCtr="0" compatLnSpc="1">
            <a:prstTxWarp prst="textNoShape">
              <a:avLst/>
            </a:prstTxWarp>
          </a:bodyPr>
          <a:lstStyle/>
          <a:p>
            <a:endParaRPr lang="en-GB" dirty="0"/>
          </a:p>
        </p:txBody>
      </p:sp>
      <p:sp>
        <p:nvSpPr>
          <p:cNvPr id="7" name="Rectangle 6"/>
          <p:cNvSpPr/>
          <p:nvPr/>
        </p:nvSpPr>
        <p:spPr>
          <a:xfrm>
            <a:off x="539552" y="2067694"/>
            <a:ext cx="7367888" cy="707886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4000" b="1" dirty="0" smtClean="0">
                <a:ln w="10541" cmpd="sng">
                  <a:solidFill>
                    <a:srgbClr val="7D7D7D">
                      <a:tint val="100000"/>
                      <a:shade val="100000"/>
                      <a:satMod val="110000"/>
                    </a:srgbClr>
                  </a:solidFill>
                  <a:prstDash val="solid"/>
                </a:ln>
                <a:solidFill>
                  <a:srgbClr val="FF0000"/>
                </a:solidFill>
              </a:rPr>
              <a:t>Like and subscribe!</a:t>
            </a:r>
          </a:p>
        </p:txBody>
      </p:sp>
      <p:pic>
        <p:nvPicPr>
          <p:cNvPr id="2050" name="Picture 2" descr="PIC18F46Q35-NHX-Regular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7704" y="3795886"/>
            <a:ext cx="1280591" cy="11280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AutoShape 4" descr="PIC18F46Q35-S2X-Regular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5" name="AutoShape 6" descr="PIC18F46Q35-S2X-Regular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pic>
        <p:nvPicPr>
          <p:cNvPr id="2056" name="Picture 8" descr="PIC18F46Q35-S2X-Regular.pn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28316" y="3540195"/>
            <a:ext cx="2692623" cy="12569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593478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GB" dirty="0" smtClean="0"/>
              <a:t>PIC18FxxQ35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GB" dirty="0" smtClean="0"/>
              <a:t>PIC18FxxQ35  is a high performance PIC18</a:t>
            </a:r>
          </a:p>
          <a:p>
            <a:pPr lvl="1"/>
            <a:r>
              <a:rPr lang="en-GB" b="1" dirty="0"/>
              <a:t>Digital and </a:t>
            </a:r>
            <a:r>
              <a:rPr lang="en-GB" b="1" dirty="0" err="1"/>
              <a:t>analog</a:t>
            </a:r>
            <a:r>
              <a:rPr lang="en-GB" b="1" dirty="0"/>
              <a:t> peripherals</a:t>
            </a:r>
            <a:r>
              <a:rPr lang="en-GB" dirty="0"/>
              <a:t> for flexible embedded control</a:t>
            </a:r>
          </a:p>
          <a:p>
            <a:pPr lvl="1"/>
            <a:r>
              <a:rPr lang="en-GB" b="1" dirty="0"/>
              <a:t>10-bit ADC</a:t>
            </a:r>
            <a:r>
              <a:rPr lang="en-GB" dirty="0"/>
              <a:t> for accurate </a:t>
            </a:r>
            <a:r>
              <a:rPr lang="en-GB" dirty="0" err="1"/>
              <a:t>analog</a:t>
            </a:r>
            <a:r>
              <a:rPr lang="en-GB" dirty="0"/>
              <a:t> signal conversion</a:t>
            </a:r>
          </a:p>
          <a:p>
            <a:pPr lvl="1"/>
            <a:r>
              <a:rPr lang="en-GB" b="1" dirty="0"/>
              <a:t>Multiple communication interfaces</a:t>
            </a:r>
            <a:r>
              <a:rPr lang="en-GB" dirty="0"/>
              <a:t> including UART (serial), I²C, and SPI</a:t>
            </a:r>
          </a:p>
          <a:p>
            <a:pPr lvl="1"/>
            <a:r>
              <a:rPr lang="en-GB" b="1" dirty="0"/>
              <a:t>PWM modules</a:t>
            </a:r>
            <a:r>
              <a:rPr lang="en-GB" dirty="0"/>
              <a:t> with CCP and 16-bit resolution for precise timing and motor control</a:t>
            </a:r>
          </a:p>
          <a:p>
            <a:pPr lvl="1"/>
            <a:r>
              <a:rPr lang="en-GB" b="1" dirty="0"/>
              <a:t>Configurable Logic Cells (CLCs)</a:t>
            </a:r>
            <a:r>
              <a:rPr lang="en-GB" dirty="0"/>
              <a:t> for custom hardware-level logic without external components</a:t>
            </a:r>
          </a:p>
          <a:p>
            <a:pPr lvl="1"/>
            <a:r>
              <a:rPr lang="en-GB" b="1" dirty="0"/>
              <a:t>Integrated op amps</a:t>
            </a:r>
            <a:r>
              <a:rPr lang="en-GB" dirty="0"/>
              <a:t> for </a:t>
            </a:r>
            <a:r>
              <a:rPr lang="en-GB" dirty="0" err="1"/>
              <a:t>onboard</a:t>
            </a:r>
            <a:r>
              <a:rPr lang="en-GB" dirty="0"/>
              <a:t> </a:t>
            </a:r>
            <a:r>
              <a:rPr lang="en-GB" dirty="0" err="1"/>
              <a:t>analog</a:t>
            </a:r>
            <a:r>
              <a:rPr lang="en-GB" dirty="0"/>
              <a:t> signal conditioning and amplification</a:t>
            </a:r>
          </a:p>
          <a:p>
            <a:endParaRPr lang="en-GB" dirty="0" smtClean="0"/>
          </a:p>
          <a:p>
            <a:r>
              <a:rPr lang="en-GB" dirty="0" smtClean="0"/>
              <a:t>The PIC18FxxQ35 offers 28, 40 and 44-pin products in small footprint packages to support customers in a wide variety of applications. 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841421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 smtClean="0"/>
              <a:t>Videos...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7544" y="987574"/>
            <a:ext cx="6447501" cy="4111476"/>
          </a:xfrm>
          <a:solidFill>
            <a:schemeClr val="bg1"/>
          </a:solidFill>
        </p:spPr>
        <p:txBody>
          <a:bodyPr>
            <a:noAutofit/>
          </a:bodyPr>
          <a:lstStyle/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Install the hardware and make the board work </a:t>
            </a:r>
            <a:r>
              <a:rPr lang="en-GB" sz="1100" dirty="0" smtClean="0"/>
              <a:t>– make LEDs work</a:t>
            </a:r>
            <a:endParaRPr lang="en-GB" sz="1100" dirty="0"/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Make  four LEDs flash in a sequence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Set the LEDs to represent the value of ADC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Sequence the LEDs with a delay using the value of ADC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an input to set the state of the LEDs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the reset switch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the switch, ADC – make the LEDs flash in a sequence with reverse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the serial to display values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the timer0 overflow, 8bit timer, 16bit timer to flash the LEDs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b="1" dirty="0"/>
              <a:t>Using </a:t>
            </a:r>
            <a:r>
              <a:rPr lang="en-GB" sz="1100" b="1" dirty="0" err="1"/>
              <a:t>EEProm</a:t>
            </a:r>
            <a:r>
              <a:rPr lang="en-GB" sz="1100" b="1" dirty="0"/>
              <a:t> – showing values on the serial terminal, and more constants insights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I2C with serial to discover I2C devices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an I2C GCLD display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a SPI GCLD display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PWM, </a:t>
            </a:r>
            <a:r>
              <a:rPr lang="en-GB" sz="1100" dirty="0" smtClean="0"/>
              <a:t>many  </a:t>
            </a:r>
            <a:r>
              <a:rPr lang="en-GB" sz="1100" dirty="0"/>
              <a:t>ways,  to dim the LEDS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an external interrupt to control an LED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storage within the chip – </a:t>
            </a:r>
            <a:r>
              <a:rPr lang="en-GB" sz="1100" dirty="0" err="1"/>
              <a:t>Progmem</a:t>
            </a:r>
            <a:r>
              <a:rPr lang="en-GB" sz="1100" dirty="0"/>
              <a:t>, SAF memory, EEPROM and DATA blocks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CLC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The GCBASIC tool chain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Assembly , alternatives assemblers and MPLAB-X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Summary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endParaRPr lang="en-GB" sz="400" dirty="0" smtClean="0">
              <a:solidFill>
                <a:schemeClr val="bg1">
                  <a:lumMod val="75000"/>
                </a:schemeClr>
              </a:solidFill>
            </a:endParaRPr>
          </a:p>
          <a:p>
            <a:pPr marL="180000" indent="-478483">
              <a:spcBef>
                <a:spcPts val="300"/>
              </a:spcBef>
              <a:buNone/>
            </a:pPr>
            <a:endParaRPr lang="en-GB" sz="700" dirty="0" smtClean="0"/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endParaRPr lang="en-GB" sz="700" dirty="0" smtClean="0"/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endParaRPr lang="en-GB" sz="500" dirty="0" smtClean="0"/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endParaRPr lang="en-GB" sz="500" dirty="0" smtClean="0"/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endParaRPr lang="en-GB" sz="500" dirty="0" smtClean="0"/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endParaRPr lang="en-GB" sz="500" dirty="0"/>
          </a:p>
        </p:txBody>
      </p:sp>
    </p:spTree>
    <p:extLst>
      <p:ext uri="{BB962C8B-B14F-4D97-AF65-F5344CB8AC3E}">
        <p14:creationId xmlns:p14="http://schemas.microsoft.com/office/powerpoint/2010/main" val="16446362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/>
          <p:cNvSpPr/>
          <p:nvPr/>
        </p:nvSpPr>
        <p:spPr>
          <a:xfrm>
            <a:off x="1835697" y="1707656"/>
            <a:ext cx="1605103" cy="142521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GB" sz="1100" dirty="0" smtClean="0"/>
              <a:t>GCBASIC </a:t>
            </a:r>
            <a:r>
              <a:rPr lang="en-GB" sz="1500" dirty="0" smtClean="0"/>
              <a:t>Compiler</a:t>
            </a:r>
            <a:endParaRPr lang="en-GB" sz="1100" dirty="0"/>
          </a:p>
        </p:txBody>
      </p:sp>
      <p:sp>
        <p:nvSpPr>
          <p:cNvPr id="1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GB" dirty="0" smtClean="0"/>
              <a:t>GCBASIC Compiler</a:t>
            </a:r>
            <a:endParaRPr lang="en-GB" dirty="0"/>
          </a:p>
        </p:txBody>
      </p:sp>
      <p:sp>
        <p:nvSpPr>
          <p:cNvPr id="13" name="TextBox 12"/>
          <p:cNvSpPr txBox="1"/>
          <p:nvPr/>
        </p:nvSpPr>
        <p:spPr>
          <a:xfrm>
            <a:off x="3563888" y="2643758"/>
            <a:ext cx="4176464" cy="2178773"/>
          </a:xfrm>
          <a:prstGeom prst="rect">
            <a:avLst/>
          </a:prstGeom>
          <a:noFill/>
        </p:spPr>
        <p:txBody>
          <a:bodyPr wrap="square" lIns="85064" tIns="42531" rIns="85064" bIns="42531" rtlCol="0">
            <a:spAutoFit/>
          </a:bodyPr>
          <a:lstStyle/>
          <a:p>
            <a:r>
              <a:rPr lang="en-GB" dirty="0" smtClean="0"/>
              <a:t>GCBASIC is an Open Source compiler for PIC, AVR and LGT microcontrollers</a:t>
            </a:r>
          </a:p>
          <a:p>
            <a:endParaRPr lang="en-GB" dirty="0" smtClean="0"/>
          </a:p>
          <a:p>
            <a:r>
              <a:rPr lang="en-GB" dirty="0" smtClean="0"/>
              <a:t>GCBASIC now supports the 18FxxQ35 chip family </a:t>
            </a:r>
          </a:p>
          <a:p>
            <a:endParaRPr lang="en-GB" dirty="0"/>
          </a:p>
          <a:p>
            <a:r>
              <a:rPr lang="en-GB" dirty="0"/>
              <a:t>GCBASIC now </a:t>
            </a:r>
            <a:r>
              <a:rPr lang="en-GB" dirty="0" smtClean="0"/>
              <a:t>supports 1400+ microcontrollers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334736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48" t="6534" r="2270" b="5416"/>
          <a:stretch/>
        </p:blipFill>
        <p:spPr bwMode="auto">
          <a:xfrm>
            <a:off x="251518" y="1026170"/>
            <a:ext cx="4635501" cy="40005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4" name="Rectangle 3"/>
          <p:cNvSpPr/>
          <p:nvPr/>
        </p:nvSpPr>
        <p:spPr>
          <a:xfrm>
            <a:off x="0" y="103003"/>
            <a:ext cx="6367321" cy="884571"/>
          </a:xfrm>
          <a:prstGeom prst="rect">
            <a:avLst/>
          </a:prstGeom>
          <a:solidFill>
            <a:schemeClr val="bg1"/>
          </a:solidFill>
        </p:spPr>
        <p:txBody>
          <a:bodyPr vert="horz" lIns="68580" tIns="34290" rIns="68580" bIns="34290" rtlCol="0" anchor="t">
            <a:normAutofit lnSpcReduction="10000"/>
          </a:bodyPr>
          <a:lstStyle/>
          <a:p>
            <a:pPr defTabSz="342900">
              <a:spcBef>
                <a:spcPct val="0"/>
              </a:spcBef>
            </a:pPr>
            <a:r>
              <a:rPr lang="en-GB" sz="2700" dirty="0">
                <a:solidFill>
                  <a:schemeClr val="accent1"/>
                </a:solidFill>
                <a:latin typeface="+mj-lt"/>
                <a:ea typeface="+mj-ea"/>
                <a:cs typeface="+mj-cs"/>
              </a:rPr>
              <a:t>PICDEM 2 Plus </a:t>
            </a:r>
            <a:r>
              <a:rPr lang="en-GB" sz="2700" dirty="0" smtClean="0">
                <a:solidFill>
                  <a:schemeClr val="accent1"/>
                </a:solidFill>
                <a:latin typeface="+mj-lt"/>
                <a:ea typeface="+mj-ea"/>
                <a:cs typeface="+mj-cs"/>
              </a:rPr>
              <a:t>Demonstration</a:t>
            </a:r>
          </a:p>
          <a:p>
            <a:pPr defTabSz="342900">
              <a:spcBef>
                <a:spcPct val="0"/>
              </a:spcBef>
            </a:pPr>
            <a:r>
              <a:rPr lang="en-GB" sz="2700" dirty="0" smtClean="0">
                <a:solidFill>
                  <a:schemeClr val="accent1"/>
                </a:solidFill>
                <a:latin typeface="+mj-lt"/>
                <a:ea typeface="+mj-ea"/>
                <a:cs typeface="+mj-cs"/>
              </a:rPr>
              <a:t>Board </a:t>
            </a:r>
            <a:endParaRPr lang="en-GB" sz="2700" dirty="0">
              <a:solidFill>
                <a:schemeClr val="accent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004048" y="75944"/>
            <a:ext cx="3995936" cy="4708981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GB" sz="1000" dirty="0" smtClean="0"/>
              <a:t>1</a:t>
            </a:r>
            <a:r>
              <a:rPr lang="en-GB" sz="1000" dirty="0"/>
              <a:t>. 18-, 28- and 40-pin DIP sockets</a:t>
            </a:r>
          </a:p>
          <a:p>
            <a:r>
              <a:rPr lang="en-GB" sz="1000" dirty="0"/>
              <a:t>(although three sockets are provided, only one device may be used at a time)</a:t>
            </a:r>
          </a:p>
          <a:p>
            <a:r>
              <a:rPr lang="en-GB" sz="1000" dirty="0"/>
              <a:t>2. On-board, +5V regulator for direct input from 9V, 100 mA AC/DC wall adapter </a:t>
            </a:r>
            <a:r>
              <a:rPr lang="en-GB" sz="1000" dirty="0" smtClean="0"/>
              <a:t>or 9V </a:t>
            </a:r>
            <a:r>
              <a:rPr lang="en-GB" sz="1000" dirty="0"/>
              <a:t>battery, or hooks for a +5V, 100 mA regulated DC supply</a:t>
            </a:r>
          </a:p>
          <a:p>
            <a:r>
              <a:rPr lang="en-GB" sz="1000" b="1" u="sng" dirty="0">
                <a:solidFill>
                  <a:srgbClr val="FF0000"/>
                </a:solidFill>
              </a:rPr>
              <a:t>3. RS-232 socket and associated hardware for direct connection to an </a:t>
            </a:r>
            <a:r>
              <a:rPr lang="en-GB" sz="1000" b="1" u="sng" dirty="0" smtClean="0">
                <a:solidFill>
                  <a:srgbClr val="FF0000"/>
                </a:solidFill>
              </a:rPr>
              <a:t>RS-232 interface</a:t>
            </a:r>
            <a:endParaRPr lang="en-GB" sz="1000" b="1" u="sng" dirty="0">
              <a:solidFill>
                <a:srgbClr val="FF0000"/>
              </a:solidFill>
            </a:endParaRPr>
          </a:p>
          <a:p>
            <a:r>
              <a:rPr lang="en-GB" sz="1000" dirty="0"/>
              <a:t>4. Programmer/debugger connectivity supporting MPLAB® ICD 3, MPLAB REAL</a:t>
            </a:r>
          </a:p>
          <a:p>
            <a:r>
              <a:rPr lang="en-GB" sz="1000" dirty="0"/>
              <a:t>ICE and </a:t>
            </a:r>
            <a:r>
              <a:rPr lang="en-GB" sz="1000" dirty="0" err="1"/>
              <a:t>PICkit</a:t>
            </a:r>
            <a:r>
              <a:rPr lang="en-GB" sz="1000" dirty="0"/>
              <a:t> 3</a:t>
            </a:r>
          </a:p>
          <a:p>
            <a:r>
              <a:rPr lang="en-GB" sz="1000" dirty="0"/>
              <a:t>5. </a:t>
            </a:r>
            <a:r>
              <a:rPr lang="en-GB" sz="1000" dirty="0" err="1"/>
              <a:t>PICkit</a:t>
            </a:r>
            <a:r>
              <a:rPr lang="en-GB" sz="1000" dirty="0"/>
              <a:t> Serial Connector for analysis of serial communications peripherals </a:t>
            </a:r>
            <a:r>
              <a:rPr lang="en-GB" sz="1000" dirty="0" smtClean="0"/>
              <a:t>such as </a:t>
            </a:r>
            <a:r>
              <a:rPr lang="en-GB" sz="1000" dirty="0"/>
              <a:t>SPI or I2C™</a:t>
            </a:r>
          </a:p>
          <a:p>
            <a:r>
              <a:rPr lang="en-GB" sz="1000" b="1" u="sng" dirty="0">
                <a:solidFill>
                  <a:srgbClr val="FF0000"/>
                </a:solidFill>
              </a:rPr>
              <a:t>6. 5 </a:t>
            </a:r>
            <a:r>
              <a:rPr lang="en-GB" sz="1000" b="1" u="sng" dirty="0" smtClean="0">
                <a:solidFill>
                  <a:srgbClr val="FF0000"/>
                </a:solidFill>
              </a:rPr>
              <a:t>k </a:t>
            </a:r>
            <a:r>
              <a:rPr lang="en-GB" sz="1000" b="1" u="sng" dirty="0">
                <a:solidFill>
                  <a:srgbClr val="FF0000"/>
                </a:solidFill>
              </a:rPr>
              <a:t>pot for devices with </a:t>
            </a:r>
            <a:r>
              <a:rPr lang="en-GB" sz="1000" b="1" u="sng" dirty="0" err="1">
                <a:solidFill>
                  <a:srgbClr val="FF0000"/>
                </a:solidFill>
              </a:rPr>
              <a:t>analog</a:t>
            </a:r>
            <a:r>
              <a:rPr lang="en-GB" sz="1000" b="1" u="sng" dirty="0">
                <a:solidFill>
                  <a:srgbClr val="FF0000"/>
                </a:solidFill>
              </a:rPr>
              <a:t> inputs</a:t>
            </a:r>
          </a:p>
          <a:p>
            <a:r>
              <a:rPr lang="en-GB" sz="1000" b="1" u="sng" dirty="0">
                <a:solidFill>
                  <a:srgbClr val="FF0000"/>
                </a:solidFill>
              </a:rPr>
              <a:t>7. Three push button switches for external stimulus and Reset</a:t>
            </a:r>
          </a:p>
          <a:p>
            <a:r>
              <a:rPr lang="en-GB" sz="1000" dirty="0"/>
              <a:t>8. Power-on indicator LED</a:t>
            </a:r>
          </a:p>
          <a:p>
            <a:r>
              <a:rPr lang="en-GB" sz="1000" dirty="0">
                <a:solidFill>
                  <a:srgbClr val="FF0000"/>
                </a:solidFill>
              </a:rPr>
              <a:t>9. </a:t>
            </a:r>
            <a:r>
              <a:rPr lang="en-GB" sz="1000" b="1" u="sng" dirty="0">
                <a:solidFill>
                  <a:srgbClr val="FF0000"/>
                </a:solidFill>
              </a:rPr>
              <a:t>Four LEDs connected to PORTB</a:t>
            </a:r>
          </a:p>
          <a:p>
            <a:r>
              <a:rPr lang="en-GB" sz="1000" dirty="0"/>
              <a:t>10. On-board external oscillators including:</a:t>
            </a:r>
          </a:p>
          <a:p>
            <a:r>
              <a:rPr lang="en-GB" sz="1000" dirty="0"/>
              <a:t>a) Unpopulated DIP socket for canned crystal oscillator (Y2)</a:t>
            </a:r>
          </a:p>
          <a:p>
            <a:r>
              <a:rPr lang="en-GB" sz="1000" dirty="0"/>
              <a:t>b) RC oscillator circuit (R4, C3)</a:t>
            </a:r>
          </a:p>
          <a:p>
            <a:r>
              <a:rPr lang="en-GB" sz="1000" dirty="0"/>
              <a:t>c) Unpopulated holes for crystal connection (Y1)</a:t>
            </a:r>
          </a:p>
          <a:p>
            <a:r>
              <a:rPr lang="en-GB" sz="1000" dirty="0"/>
              <a:t>d) 32.768 kHz crystal for Timer1 clock operation (Y3)</a:t>
            </a:r>
            <a:br>
              <a:rPr lang="en-GB" sz="1000" dirty="0"/>
            </a:br>
            <a:r>
              <a:rPr lang="en-GB" sz="1000" dirty="0"/>
              <a:t>11. 32K x 8 Serial EEPROM</a:t>
            </a:r>
          </a:p>
          <a:p>
            <a:r>
              <a:rPr lang="en-GB" sz="1000" dirty="0"/>
              <a:t>12. LCD display</a:t>
            </a:r>
          </a:p>
          <a:p>
            <a:r>
              <a:rPr lang="en-GB" sz="1000" dirty="0"/>
              <a:t>13. </a:t>
            </a:r>
            <a:r>
              <a:rPr lang="en-GB" sz="1000" dirty="0" err="1"/>
              <a:t>Piezo</a:t>
            </a:r>
            <a:r>
              <a:rPr lang="en-GB" sz="1000" dirty="0"/>
              <a:t> buzzer</a:t>
            </a:r>
          </a:p>
          <a:p>
            <a:r>
              <a:rPr lang="en-GB" sz="1000" dirty="0"/>
              <a:t>14. Prototype area for user hardware</a:t>
            </a:r>
          </a:p>
          <a:p>
            <a:r>
              <a:rPr lang="en-GB" sz="1000" dirty="0"/>
              <a:t>15. Expansion Header for </a:t>
            </a:r>
            <a:r>
              <a:rPr lang="en-GB" sz="1000" dirty="0" err="1"/>
              <a:t>PICtail</a:t>
            </a:r>
            <a:r>
              <a:rPr lang="en-GB" sz="1000" dirty="0"/>
              <a:t>™ daughter card connectivity or user access to</a:t>
            </a:r>
          </a:p>
          <a:p>
            <a:r>
              <a:rPr lang="en-GB" sz="1000" dirty="0"/>
              <a:t>MCU pins</a:t>
            </a:r>
          </a:p>
          <a:p>
            <a:r>
              <a:rPr lang="en-GB" sz="1000" dirty="0"/>
              <a:t>16. Microchip TC74 thermal sensor</a:t>
            </a:r>
          </a:p>
        </p:txBody>
      </p:sp>
      <p:sp>
        <p:nvSpPr>
          <p:cNvPr id="2" name="Oval 1"/>
          <p:cNvSpPr/>
          <p:nvPr/>
        </p:nvSpPr>
        <p:spPr>
          <a:xfrm>
            <a:off x="1441760" y="2445270"/>
            <a:ext cx="216024" cy="288032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Oval 5"/>
          <p:cNvSpPr/>
          <p:nvPr/>
        </p:nvSpPr>
        <p:spPr>
          <a:xfrm>
            <a:off x="323528" y="2565676"/>
            <a:ext cx="216024" cy="288032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GB" sz="1050" b="1" dirty="0" smtClean="0">
                <a:solidFill>
                  <a:srgbClr val="FF0000"/>
                </a:solidFill>
              </a:rPr>
              <a:t>3A</a:t>
            </a:r>
            <a:endParaRPr lang="en-GB" sz="1050" b="1" dirty="0">
              <a:solidFill>
                <a:srgbClr val="FF0000"/>
              </a:solidFill>
            </a:endParaRPr>
          </a:p>
        </p:txBody>
      </p:sp>
      <p:cxnSp>
        <p:nvCxnSpPr>
          <p:cNvPr id="7" name="Straight Arrow Connector 6"/>
          <p:cNvCxnSpPr/>
          <p:nvPr/>
        </p:nvCxnSpPr>
        <p:spPr>
          <a:xfrm flipV="1">
            <a:off x="539552" y="2589286"/>
            <a:ext cx="902208" cy="120406"/>
          </a:xfrm>
          <a:prstGeom prst="straightConnector1">
            <a:avLst/>
          </a:prstGeom>
          <a:ln w="190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446046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103003"/>
            <a:ext cx="9144000" cy="884571"/>
          </a:xfrm>
          <a:prstGeom prst="rect">
            <a:avLst/>
          </a:prstGeom>
          <a:solidFill>
            <a:schemeClr val="bg1"/>
          </a:solidFill>
        </p:spPr>
        <p:txBody>
          <a:bodyPr vert="horz" lIns="68580" tIns="34290" rIns="68580" bIns="34290" rtlCol="0" anchor="t">
            <a:normAutofit lnSpcReduction="10000"/>
          </a:bodyPr>
          <a:lstStyle/>
          <a:p>
            <a:pPr defTabSz="342900">
              <a:spcBef>
                <a:spcPct val="0"/>
              </a:spcBef>
            </a:pPr>
            <a:r>
              <a:rPr lang="en-GB" sz="2700" dirty="0">
                <a:solidFill>
                  <a:schemeClr val="accent1"/>
                </a:solidFill>
                <a:latin typeface="+mj-lt"/>
                <a:ea typeface="+mj-ea"/>
                <a:cs typeface="+mj-cs"/>
              </a:rPr>
              <a:t>PICDEM 2 Plus </a:t>
            </a:r>
            <a:r>
              <a:rPr lang="en-GB" sz="2700" dirty="0" smtClean="0">
                <a:solidFill>
                  <a:schemeClr val="accent1"/>
                </a:solidFill>
                <a:latin typeface="+mj-lt"/>
                <a:ea typeface="+mj-ea"/>
                <a:cs typeface="+mj-cs"/>
              </a:rPr>
              <a:t>Demonstration</a:t>
            </a:r>
          </a:p>
          <a:p>
            <a:pPr defTabSz="342900">
              <a:spcBef>
                <a:spcPct val="0"/>
              </a:spcBef>
            </a:pPr>
            <a:r>
              <a:rPr lang="en-GB" sz="2700" dirty="0" smtClean="0">
                <a:solidFill>
                  <a:schemeClr val="accent1"/>
                </a:solidFill>
                <a:latin typeface="+mj-lt"/>
                <a:ea typeface="+mj-ea"/>
                <a:cs typeface="+mj-cs"/>
              </a:rPr>
              <a:t>Board </a:t>
            </a:r>
            <a:endParaRPr lang="en-GB" sz="2700" dirty="0">
              <a:solidFill>
                <a:schemeClr val="accent1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3075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608" y="853187"/>
            <a:ext cx="6480719" cy="4392687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5" name="Rectangle 4"/>
          <p:cNvSpPr/>
          <p:nvPr/>
        </p:nvSpPr>
        <p:spPr>
          <a:xfrm>
            <a:off x="6382635" y="1321402"/>
            <a:ext cx="1152128" cy="79756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/>
          <p:cNvSpPr/>
          <p:nvPr/>
        </p:nvSpPr>
        <p:spPr>
          <a:xfrm>
            <a:off x="2123728" y="1788318"/>
            <a:ext cx="963101" cy="78343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/>
          <p:cNvSpPr/>
          <p:nvPr/>
        </p:nvSpPr>
        <p:spPr>
          <a:xfrm>
            <a:off x="6012160" y="2787774"/>
            <a:ext cx="1440160" cy="86409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855608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5575" y="357014"/>
            <a:ext cx="5400600" cy="990600"/>
          </a:xfrm>
        </p:spPr>
        <p:txBody>
          <a:bodyPr vert="horz" lIns="85064" tIns="42531" rIns="85064" bIns="42531" rtlCol="0" anchor="t">
            <a:normAutofit/>
          </a:bodyPr>
          <a:lstStyle/>
          <a:p>
            <a:pPr algn="l"/>
            <a:r>
              <a:rPr lang="en-GB" dirty="0" smtClean="0"/>
              <a:t>Schematic</a:t>
            </a:r>
            <a:endParaRPr lang="en-GB" dirty="0"/>
          </a:p>
        </p:txBody>
      </p:sp>
      <p:sp>
        <p:nvSpPr>
          <p:cNvPr id="5" name="AutoShape 4" descr="Uploaded image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8" name="AutoShape 6" descr="Uploaded image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1" name="AutoShape 8" descr="image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pic>
        <p:nvPicPr>
          <p:cNvPr id="15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88224" y="389392"/>
            <a:ext cx="2227213" cy="18946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37834" y="2571750"/>
            <a:ext cx="2948491" cy="184720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7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5576" y="1641351"/>
            <a:ext cx="5146904" cy="264633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9" name="Rectangle 8"/>
          <p:cNvSpPr/>
          <p:nvPr/>
        </p:nvSpPr>
        <p:spPr>
          <a:xfrm>
            <a:off x="2123728" y="2211710"/>
            <a:ext cx="288032" cy="14401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Rectangle 19"/>
          <p:cNvSpPr/>
          <p:nvPr/>
        </p:nvSpPr>
        <p:spPr>
          <a:xfrm>
            <a:off x="2123728" y="2434084"/>
            <a:ext cx="288032" cy="14401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3" name="Straight Connector 12"/>
          <p:cNvCxnSpPr/>
          <p:nvPr/>
        </p:nvCxnSpPr>
        <p:spPr>
          <a:xfrm flipV="1">
            <a:off x="2195736" y="1779662"/>
            <a:ext cx="0" cy="504373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225079" y="1412379"/>
            <a:ext cx="2028761" cy="353943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GB" dirty="0" smtClean="0">
                <a:solidFill>
                  <a:srgbClr val="FF0000"/>
                </a:solidFill>
              </a:rPr>
              <a:t>USART  TTL SIGNAL</a:t>
            </a:r>
            <a:endParaRPr lang="en-GB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762017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smtClean="0"/>
              <a:t>VDDIO2 Domain Power</a:t>
            </a:r>
            <a:endParaRPr lang="en-GB" dirty="0"/>
          </a:p>
        </p:txBody>
      </p:sp>
      <p:sp>
        <p:nvSpPr>
          <p:cNvPr id="4" name="Rectangle 3"/>
          <p:cNvSpPr/>
          <p:nvPr/>
        </p:nvSpPr>
        <p:spPr>
          <a:xfrm>
            <a:off x="3995936" y="2100649"/>
            <a:ext cx="3372590" cy="87716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b="1" dirty="0" smtClean="0"/>
              <a:t>Think</a:t>
            </a:r>
            <a:r>
              <a:rPr lang="en-GB" dirty="0" smtClean="0"/>
              <a:t/>
            </a:r>
            <a:br>
              <a:rPr lang="en-GB" dirty="0" smtClean="0"/>
            </a:br>
            <a:r>
              <a:rPr lang="en-GB" dirty="0" smtClean="0"/>
              <a:t/>
            </a:r>
            <a:br>
              <a:rPr lang="en-GB" dirty="0" smtClean="0"/>
            </a:br>
            <a:r>
              <a:rPr lang="en-GB" dirty="0" smtClean="0"/>
              <a:t>No VDDIO2 power – no domain I/O!</a:t>
            </a:r>
            <a:endParaRPr lang="en-GB" dirty="0"/>
          </a:p>
        </p:txBody>
      </p:sp>
      <p:pic>
        <p:nvPicPr>
          <p:cNvPr id="3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2268" y="987574"/>
            <a:ext cx="3213668" cy="398817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42483751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27984" y="195486"/>
            <a:ext cx="4068108" cy="489654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GB" dirty="0" smtClean="0"/>
              <a:t>Memory</a:t>
            </a:r>
            <a:endParaRPr lang="en-GB" dirty="0"/>
          </a:p>
        </p:txBody>
      </p:sp>
      <p:sp>
        <p:nvSpPr>
          <p:cNvPr id="7" name="TextBox 6"/>
          <p:cNvSpPr txBox="1"/>
          <p:nvPr/>
        </p:nvSpPr>
        <p:spPr>
          <a:xfrm>
            <a:off x="179512" y="1550471"/>
            <a:ext cx="3600400" cy="2749471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57175" indent="-257175" defTabSz="342900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778521" lvl="1" indent="-478483" defTabSz="342900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857250" indent="-171450" defTabSz="342900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1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200150" indent="-171450" defTabSz="342900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9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543050" indent="-171450" defTabSz="342900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9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  <a:lvl6pPr marL="1885950" indent="-171450" defTabSz="342900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900">
                <a:solidFill>
                  <a:schemeClr val="tx1">
                    <a:lumMod val="75000"/>
                    <a:lumOff val="25000"/>
                  </a:schemeClr>
                </a:solidFill>
              </a:defRPr>
            </a:lvl6pPr>
            <a:lvl7pPr marL="2228850" indent="-171450" defTabSz="342900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900">
                <a:solidFill>
                  <a:schemeClr val="tx1">
                    <a:lumMod val="75000"/>
                    <a:lumOff val="25000"/>
                  </a:schemeClr>
                </a:solidFill>
              </a:defRPr>
            </a:lvl7pPr>
            <a:lvl8pPr marL="2571750" indent="-171450" defTabSz="342900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900">
                <a:solidFill>
                  <a:schemeClr val="tx1">
                    <a:lumMod val="75000"/>
                    <a:lumOff val="25000"/>
                  </a:schemeClr>
                </a:solidFill>
              </a:defRPr>
            </a:lvl8pPr>
            <a:lvl9pPr marL="2914650" indent="-171450" defTabSz="342900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900">
                <a:solidFill>
                  <a:schemeClr val="tx1">
                    <a:lumMod val="75000"/>
                    <a:lumOff val="25000"/>
                  </a:schemeClr>
                </a:solidFill>
              </a:defRPr>
            </a:lvl9pPr>
          </a:lstStyle>
          <a:p>
            <a:r>
              <a:rPr lang="en-GB" dirty="0" smtClean="0"/>
              <a:t>Program </a:t>
            </a:r>
            <a:r>
              <a:rPr lang="en-GB" dirty="0"/>
              <a:t>Flash Memory </a:t>
            </a:r>
            <a:r>
              <a:rPr lang="en-GB" dirty="0" smtClean="0"/>
              <a:t>( PFM )</a:t>
            </a:r>
            <a:endParaRPr lang="en-GB" dirty="0"/>
          </a:p>
          <a:p>
            <a:r>
              <a:rPr lang="en-GB" dirty="0" smtClean="0"/>
              <a:t>Data </a:t>
            </a:r>
            <a:r>
              <a:rPr lang="en-GB" dirty="0"/>
              <a:t>SRAM Memory</a:t>
            </a:r>
          </a:p>
          <a:p>
            <a:r>
              <a:rPr lang="en-GB" b="1" dirty="0"/>
              <a:t>EEPROM 256 </a:t>
            </a:r>
            <a:r>
              <a:rPr lang="en-GB" b="1" dirty="0" smtClean="0"/>
              <a:t>Bytes</a:t>
            </a:r>
            <a:endParaRPr lang="en-GB" b="1" dirty="0"/>
          </a:p>
          <a:p>
            <a:endParaRPr lang="en-GB" dirty="0"/>
          </a:p>
          <a:p>
            <a:r>
              <a:rPr lang="en-GB" dirty="0"/>
              <a:t>Memory Access Partition, the Program Flash Memory </a:t>
            </a:r>
            <a:r>
              <a:rPr lang="en-GB" dirty="0" smtClean="0"/>
              <a:t>Partitioned </a:t>
            </a:r>
            <a:r>
              <a:rPr lang="en-GB" dirty="0"/>
              <a:t>into: </a:t>
            </a:r>
          </a:p>
          <a:p>
            <a:pPr lvl="1"/>
            <a:r>
              <a:rPr lang="en-GB" dirty="0" smtClean="0"/>
              <a:t>Application </a:t>
            </a:r>
            <a:r>
              <a:rPr lang="en-GB" dirty="0"/>
              <a:t>Block </a:t>
            </a:r>
          </a:p>
          <a:p>
            <a:pPr lvl="1"/>
            <a:r>
              <a:rPr lang="en-GB" dirty="0" smtClean="0"/>
              <a:t>Boot </a:t>
            </a:r>
            <a:r>
              <a:rPr lang="en-GB" dirty="0"/>
              <a:t>Block </a:t>
            </a:r>
          </a:p>
          <a:p>
            <a:pPr lvl="1"/>
            <a:r>
              <a:rPr lang="en-GB" dirty="0" smtClean="0"/>
              <a:t>Storage </a:t>
            </a:r>
            <a:r>
              <a:rPr lang="en-GB" dirty="0"/>
              <a:t>Area Flash (SAF) Block</a:t>
            </a:r>
          </a:p>
        </p:txBody>
      </p:sp>
      <p:sp>
        <p:nvSpPr>
          <p:cNvPr id="4" name="Rectangle 3"/>
          <p:cNvSpPr/>
          <p:nvPr/>
        </p:nvSpPr>
        <p:spPr>
          <a:xfrm>
            <a:off x="5148064" y="3507854"/>
            <a:ext cx="3024336" cy="2880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909927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 txBox="1">
            <a:spLocks/>
          </p:cNvSpPr>
          <p:nvPr/>
        </p:nvSpPr>
        <p:spPr>
          <a:xfrm>
            <a:off x="102005" y="346348"/>
            <a:ext cx="8229601" cy="857250"/>
          </a:xfrm>
          <a:prstGeom prst="rect">
            <a:avLst/>
          </a:prstGeom>
        </p:spPr>
        <p:txBody>
          <a:bodyPr vert="horz" lIns="68580" tIns="34290" rIns="68580" bIns="34290" rtlCol="0" anchor="t">
            <a:normAutofit/>
          </a:bodyPr>
          <a:lstStyle>
            <a:lvl1pPr defTabSz="342900">
              <a:spcBef>
                <a:spcPct val="0"/>
              </a:spcBef>
              <a:buNone/>
              <a:defRPr sz="27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r>
              <a:rPr lang="en-GB" dirty="0" err="1" smtClean="0"/>
              <a:t>EEProm</a:t>
            </a:r>
            <a:endParaRPr lang="en-GB" dirty="0"/>
          </a:p>
        </p:txBody>
      </p:sp>
      <p:sp>
        <p:nvSpPr>
          <p:cNvPr id="7" name="TextBox 6"/>
          <p:cNvSpPr txBox="1"/>
          <p:nvPr/>
        </p:nvSpPr>
        <p:spPr>
          <a:xfrm>
            <a:off x="467544" y="2067694"/>
            <a:ext cx="5040560" cy="2021066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defPPr>
              <a:defRPr lang="en-US"/>
            </a:defPPr>
            <a:lvl1pPr marL="257175" indent="-257175" defTabSz="342900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778521" lvl="1" indent="-478483" defTabSz="342900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857250" indent="-171450" defTabSz="342900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1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200150" indent="-171450" defTabSz="342900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9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543050" indent="-171450" defTabSz="342900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9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  <a:lvl6pPr marL="1885950" indent="-171450" defTabSz="342900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900">
                <a:solidFill>
                  <a:schemeClr val="tx1">
                    <a:lumMod val="75000"/>
                    <a:lumOff val="25000"/>
                  </a:schemeClr>
                </a:solidFill>
              </a:defRPr>
            </a:lvl6pPr>
            <a:lvl7pPr marL="2228850" indent="-171450" defTabSz="342900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900">
                <a:solidFill>
                  <a:schemeClr val="tx1">
                    <a:lumMod val="75000"/>
                    <a:lumOff val="25000"/>
                  </a:schemeClr>
                </a:solidFill>
              </a:defRPr>
            </a:lvl7pPr>
            <a:lvl8pPr marL="2571750" indent="-171450" defTabSz="342900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900">
                <a:solidFill>
                  <a:schemeClr val="tx1">
                    <a:lumMod val="75000"/>
                    <a:lumOff val="25000"/>
                  </a:schemeClr>
                </a:solidFill>
              </a:defRPr>
            </a:lvl8pPr>
            <a:lvl9pPr marL="2914650" indent="-171450" defTabSz="342900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900">
                <a:solidFill>
                  <a:schemeClr val="tx1">
                    <a:lumMod val="75000"/>
                    <a:lumOff val="25000"/>
                  </a:schemeClr>
                </a:solidFill>
              </a:defRPr>
            </a:lvl9pPr>
          </a:lstStyle>
          <a:p>
            <a:r>
              <a:rPr lang="en-GB" dirty="0"/>
              <a:t>Electrically Erasable Programmable Read-Only Memory </a:t>
            </a:r>
          </a:p>
          <a:p>
            <a:endParaRPr lang="en-GB" dirty="0"/>
          </a:p>
          <a:p>
            <a:r>
              <a:rPr lang="en-GB" dirty="0"/>
              <a:t>Non-volatile memory to store relatively small amounts of data but allowing individual bytes to be erased and reprogrammed.</a:t>
            </a:r>
          </a:p>
        </p:txBody>
      </p:sp>
    </p:spTree>
    <p:extLst>
      <p:ext uri="{BB962C8B-B14F-4D97-AF65-F5344CB8AC3E}">
        <p14:creationId xmlns:p14="http://schemas.microsoft.com/office/powerpoint/2010/main" val="16573672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GB" dirty="0" err="1" smtClean="0"/>
              <a:t>EEProm</a:t>
            </a:r>
            <a:endParaRPr lang="en-GB" dirty="0"/>
          </a:p>
        </p:txBody>
      </p:sp>
      <p:sp>
        <p:nvSpPr>
          <p:cNvPr id="6" name="Rectangle 5"/>
          <p:cNvSpPr/>
          <p:nvPr/>
        </p:nvSpPr>
        <p:spPr>
          <a:xfrm>
            <a:off x="199306" y="1779662"/>
            <a:ext cx="8892480" cy="13849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1400" dirty="0" smtClean="0">
                <a:latin typeface="Courier New" pitchFamily="49" charset="0"/>
                <a:cs typeface="Courier New" pitchFamily="49" charset="0"/>
              </a:rPr>
              <a:t>Type</a:t>
            </a:r>
            <a:r>
              <a:rPr lang="en-GB" sz="1400" dirty="0">
                <a:latin typeface="Courier New" pitchFamily="49" charset="0"/>
                <a:cs typeface="Courier New" pitchFamily="49" charset="0"/>
              </a:rPr>
              <a:t>	</a:t>
            </a:r>
            <a:r>
              <a:rPr lang="en-GB" sz="1400" dirty="0" smtClean="0">
                <a:latin typeface="Courier New" pitchFamily="49" charset="0"/>
                <a:cs typeface="Courier New" pitchFamily="49" charset="0"/>
              </a:rPr>
              <a:t>	Value          Explanation</a:t>
            </a:r>
          </a:p>
          <a:p>
            <a:endParaRPr lang="en-GB" sz="1400" dirty="0" smtClean="0">
              <a:latin typeface="Courier New" pitchFamily="49" charset="0"/>
              <a:cs typeface="Courier New" pitchFamily="49" charset="0"/>
            </a:endParaRPr>
          </a:p>
          <a:p>
            <a:r>
              <a:rPr lang="en-GB" sz="1400" dirty="0" err="1" smtClean="0">
                <a:latin typeface="Courier New" pitchFamily="49" charset="0"/>
                <a:cs typeface="Courier New" pitchFamily="49" charset="0"/>
              </a:rPr>
              <a:t>Prog</a:t>
            </a:r>
            <a:r>
              <a:rPr lang="en-GB" sz="1400" dirty="0" smtClean="0">
                <a:latin typeface="Courier New" pitchFamily="49" charset="0"/>
                <a:cs typeface="Courier New" pitchFamily="49" charset="0"/>
              </a:rPr>
              <a:t>            </a:t>
            </a:r>
            <a:r>
              <a:rPr lang="en-GB" sz="1400" dirty="0">
                <a:latin typeface="Courier New" pitchFamily="49" charset="0"/>
                <a:cs typeface="Courier New" pitchFamily="49" charset="0"/>
              </a:rPr>
              <a:t>16384          </a:t>
            </a:r>
            <a:r>
              <a:rPr lang="en-GB" sz="1400" dirty="0" err="1" smtClean="0">
                <a:latin typeface="Courier New" pitchFamily="49" charset="0"/>
                <a:cs typeface="Courier New" pitchFamily="49" charset="0"/>
              </a:rPr>
              <a:t>Prog</a:t>
            </a:r>
            <a:r>
              <a:rPr lang="en-GB" sz="1400" dirty="0" smtClean="0">
                <a:latin typeface="Courier New" pitchFamily="49" charset="0"/>
                <a:cs typeface="Courier New" pitchFamily="49" charset="0"/>
              </a:rPr>
              <a:t> is exposed as </a:t>
            </a:r>
            <a:r>
              <a:rPr lang="en-GB" sz="14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GB" sz="1400" dirty="0" smtClean="0">
                <a:latin typeface="Courier New" pitchFamily="49" charset="0"/>
                <a:cs typeface="Courier New" pitchFamily="49" charset="0"/>
              </a:rPr>
              <a:t>  </a:t>
            </a:r>
            <a:r>
              <a:rPr lang="en-GB" sz="1400" dirty="0" err="1" smtClean="0">
                <a:latin typeface="Courier New" pitchFamily="49" charset="0"/>
                <a:cs typeface="Courier New" pitchFamily="49" charset="0"/>
              </a:rPr>
              <a:t>ChipWORDS</a:t>
            </a:r>
            <a:endParaRPr lang="en-GB" sz="1400" dirty="0" smtClean="0">
              <a:latin typeface="Courier New" pitchFamily="49" charset="0"/>
              <a:cs typeface="Courier New" pitchFamily="49" charset="0"/>
            </a:endParaRPr>
          </a:p>
          <a:p>
            <a:r>
              <a:rPr lang="en-GB" sz="1400" dirty="0" err="1">
                <a:latin typeface="Courier New" pitchFamily="49" charset="0"/>
                <a:cs typeface="Courier New" pitchFamily="49" charset="0"/>
              </a:rPr>
              <a:t>SAFMemWords</a:t>
            </a:r>
            <a:r>
              <a:rPr lang="en-GB" sz="14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GB" sz="1400" dirty="0" smtClean="0">
                <a:latin typeface="Courier New" pitchFamily="49" charset="0"/>
                <a:cs typeface="Courier New" pitchFamily="49" charset="0"/>
              </a:rPr>
              <a:t>	128            </a:t>
            </a:r>
            <a:r>
              <a:rPr lang="en-GB" sz="1400" dirty="0" err="1">
                <a:latin typeface="Courier New" pitchFamily="49" charset="0"/>
                <a:cs typeface="Courier New" pitchFamily="49" charset="0"/>
              </a:rPr>
              <a:t>SAFMemWords</a:t>
            </a:r>
            <a:r>
              <a:rPr lang="en-GB" sz="14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GB" sz="1400" dirty="0" smtClean="0">
                <a:latin typeface="Courier New" pitchFamily="49" charset="0"/>
                <a:cs typeface="Courier New" pitchFamily="49" charset="0"/>
              </a:rPr>
              <a:t>exposed </a:t>
            </a:r>
            <a:r>
              <a:rPr lang="en-GB" sz="14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GB" sz="1400" dirty="0" smtClean="0">
                <a:latin typeface="Courier New" pitchFamily="49" charset="0"/>
                <a:cs typeface="Courier New" pitchFamily="49" charset="0"/>
              </a:rPr>
              <a:t> </a:t>
            </a:r>
            <a:r>
              <a:rPr lang="en-GB" sz="1400" dirty="0" err="1" smtClean="0">
                <a:latin typeface="Courier New" pitchFamily="49" charset="0"/>
                <a:cs typeface="Courier New" pitchFamily="49" charset="0"/>
              </a:rPr>
              <a:t>ChipSAFMemWords</a:t>
            </a:r>
            <a:r>
              <a:rPr lang="en-GB" sz="1400" dirty="0" smtClean="0">
                <a:latin typeface="Courier New" pitchFamily="49" charset="0"/>
                <a:cs typeface="Courier New" pitchFamily="49" charset="0"/>
              </a:rPr>
              <a:t> </a:t>
            </a:r>
            <a:r>
              <a:rPr lang="en-GB" sz="1400" dirty="0">
                <a:latin typeface="Courier New" pitchFamily="49" charset="0"/>
                <a:cs typeface="Courier New" pitchFamily="49" charset="0"/>
              </a:rPr>
              <a:t>		</a:t>
            </a:r>
            <a:endParaRPr lang="en-GB" sz="1400" dirty="0" smtClean="0">
              <a:latin typeface="Courier New" pitchFamily="49" charset="0"/>
              <a:cs typeface="Courier New" pitchFamily="49" charset="0"/>
            </a:endParaRPr>
          </a:p>
          <a:p>
            <a:r>
              <a:rPr lang="en-GB" sz="1400" b="1" dirty="0" smtClean="0">
                <a:latin typeface="Courier New" pitchFamily="49" charset="0"/>
                <a:cs typeface="Courier New" pitchFamily="49" charset="0"/>
              </a:rPr>
              <a:t>EEPROM          256            EEPROM is exposed as  </a:t>
            </a:r>
            <a:r>
              <a:rPr lang="en-GB" sz="1400" b="1" dirty="0" err="1" smtClean="0">
                <a:latin typeface="Courier New" pitchFamily="49" charset="0"/>
                <a:cs typeface="Courier New" pitchFamily="49" charset="0"/>
              </a:rPr>
              <a:t>ChipEEPROM</a:t>
            </a:r>
            <a:endParaRPr lang="en-GB" sz="1400" b="1" dirty="0" smtClean="0">
              <a:latin typeface="Courier New" pitchFamily="49" charset="0"/>
              <a:cs typeface="Courier New" pitchFamily="49" charset="0"/>
            </a:endParaRPr>
          </a:p>
          <a:p>
            <a:r>
              <a:rPr lang="en-GB" sz="1400" dirty="0" smtClean="0">
                <a:latin typeface="Courier New" pitchFamily="49" charset="0"/>
                <a:cs typeface="Courier New" pitchFamily="49" charset="0"/>
              </a:rPr>
              <a:t>RAM             2048           RAM is exposed as     </a:t>
            </a:r>
            <a:r>
              <a:rPr lang="en-GB" sz="1400" dirty="0" err="1" smtClean="0">
                <a:latin typeface="Courier New" pitchFamily="49" charset="0"/>
                <a:cs typeface="Courier New" pitchFamily="49" charset="0"/>
              </a:rPr>
              <a:t>ChipRAM</a:t>
            </a:r>
            <a:endParaRPr lang="en-GB" sz="1400" dirty="0" smtClean="0"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359151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/>
        <p:txBody>
          <a:bodyPr vert="horz" lIns="85064" tIns="42531" rIns="85064" bIns="42531" rtlCol="0" anchor="t">
            <a:normAutofit/>
          </a:bodyPr>
          <a:lstStyle/>
          <a:p>
            <a:pPr algn="l"/>
            <a:r>
              <a:rPr lang="en-GB" dirty="0" err="1" smtClean="0"/>
              <a:t>EEProm</a:t>
            </a:r>
            <a:r>
              <a:rPr lang="en-GB" dirty="0" smtClean="0"/>
              <a:t> – 3 ways</a:t>
            </a:r>
            <a:endParaRPr lang="en-GB" dirty="0"/>
          </a:p>
        </p:txBody>
      </p:sp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4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95536" y="987574"/>
            <a:ext cx="4657725" cy="13335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3" name="Picture 2"/>
          <p:cNvPicPr>
            <a:picLocks noChangeAspect="1" noChangeArrowheads="1"/>
          </p:cNvPicPr>
          <p:nvPr/>
        </p:nvPicPr>
        <p:blipFill>
          <a:blip r:embed="rId3" cstate="print"/>
          <a:srcRect b="21569"/>
          <a:stretch>
            <a:fillRect/>
          </a:stretch>
        </p:blipFill>
        <p:spPr bwMode="auto">
          <a:xfrm>
            <a:off x="1259632" y="2321074"/>
            <a:ext cx="3340100" cy="172819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029" name="Picture 5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5076056" y="0"/>
            <a:ext cx="4238625" cy="2162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030" name="Picture 6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6264230" y="1081087"/>
            <a:ext cx="2879770" cy="9361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68144" y="2898153"/>
            <a:ext cx="3820096" cy="22275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7" name="Picture 5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88224" y="3867894"/>
            <a:ext cx="2598542" cy="86182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4862496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vert="horz" lIns="85064" tIns="42531" rIns="85064" bIns="42531" rtlCol="0" anchor="t">
            <a:normAutofit/>
          </a:bodyPr>
          <a:lstStyle/>
          <a:p>
            <a:pPr algn="l"/>
            <a:r>
              <a:rPr lang="en-GB" dirty="0" smtClean="0"/>
              <a:t>Lab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>
            <a:off x="572771" y="1563638"/>
            <a:ext cx="6447501" cy="3384376"/>
          </a:xfrm>
          <a:solidFill>
            <a:schemeClr val="bg1"/>
          </a:solidFill>
        </p:spPr>
        <p:txBody>
          <a:bodyPr vert="horz" lIns="68580" tIns="34290" rIns="68580" bIns="34290" rtlCol="0">
            <a:noAutofit/>
          </a:bodyPr>
          <a:lstStyle/>
          <a:p>
            <a:r>
              <a:rPr lang="en-GB" sz="1200" dirty="0"/>
              <a:t>Sample code – write and read via terminal</a:t>
            </a:r>
          </a:p>
          <a:p>
            <a:pPr marL="778521" lvl="1" indent="-478483"/>
            <a:r>
              <a:rPr lang="en-GB" sz="1100" dirty="0"/>
              <a:t>Using PPS select the serial USART port</a:t>
            </a:r>
          </a:p>
          <a:p>
            <a:pPr marL="778521" lvl="1" indent="-478483"/>
            <a:r>
              <a:rPr lang="en-GB" sz="1100" dirty="0"/>
              <a:t>Write values to </a:t>
            </a:r>
            <a:r>
              <a:rPr lang="en-GB" sz="1100" dirty="0" err="1"/>
              <a:t>EEProm</a:t>
            </a:r>
            <a:endParaRPr lang="en-GB" sz="1100" dirty="0"/>
          </a:p>
          <a:p>
            <a:pPr marL="778521" lvl="1" indent="-478483"/>
            <a:r>
              <a:rPr lang="en-GB" sz="1100" dirty="0"/>
              <a:t>Read values to </a:t>
            </a:r>
            <a:r>
              <a:rPr lang="en-GB" sz="1100" dirty="0" err="1"/>
              <a:t>EEProm</a:t>
            </a:r>
            <a:endParaRPr lang="en-GB" sz="1100" dirty="0"/>
          </a:p>
          <a:p>
            <a:pPr marL="778521" lvl="1" indent="-478483"/>
            <a:r>
              <a:rPr lang="en-GB" sz="1100" dirty="0"/>
              <a:t>See the results on </a:t>
            </a:r>
            <a:r>
              <a:rPr lang="en-GB" sz="1100" dirty="0" smtClean="0"/>
              <a:t>terminal</a:t>
            </a:r>
          </a:p>
          <a:p>
            <a:pPr marL="778521" lvl="1" indent="-478483"/>
            <a:endParaRPr lang="en-GB" sz="1100" dirty="0"/>
          </a:p>
          <a:p>
            <a:r>
              <a:rPr lang="en-GB" sz="1200" dirty="0"/>
              <a:t>Sample code – write with read via programmer</a:t>
            </a:r>
          </a:p>
          <a:p>
            <a:pPr marL="778521" lvl="1" indent="-478483"/>
            <a:r>
              <a:rPr lang="en-GB" sz="1100" dirty="0"/>
              <a:t>Write values to </a:t>
            </a:r>
            <a:r>
              <a:rPr lang="en-GB" sz="1100" dirty="0" err="1"/>
              <a:t>EEProm</a:t>
            </a:r>
            <a:endParaRPr lang="en-GB" sz="1100" dirty="0"/>
          </a:p>
          <a:p>
            <a:pPr marL="778521" lvl="1" indent="-478483"/>
            <a:r>
              <a:rPr lang="en-GB" sz="1100" dirty="0"/>
              <a:t>See the results within </a:t>
            </a:r>
            <a:r>
              <a:rPr lang="en-GB" sz="1100" dirty="0" err="1" smtClean="0"/>
              <a:t>PICKitPlus</a:t>
            </a:r>
            <a:endParaRPr lang="en-GB" sz="1100" dirty="0" smtClean="0"/>
          </a:p>
          <a:p>
            <a:pPr marL="778521" lvl="1" indent="-478483"/>
            <a:endParaRPr lang="en-GB" sz="1100" dirty="0"/>
          </a:p>
          <a:p>
            <a:pPr marL="478483" indent="-478483"/>
            <a:r>
              <a:rPr lang="en-GB" sz="1200" dirty="0" smtClean="0"/>
              <a:t>Sample code – check the chip specific constant</a:t>
            </a:r>
          </a:p>
          <a:p>
            <a:pPr marL="478483" lvl="1" indent="-478483"/>
            <a:r>
              <a:rPr lang="en-GB" sz="1100" dirty="0"/>
              <a:t>See the results on </a:t>
            </a:r>
            <a:r>
              <a:rPr lang="en-GB" sz="1100" dirty="0" smtClean="0"/>
              <a:t>terminal</a:t>
            </a:r>
            <a:endParaRPr lang="en-GB" sz="1100" dirty="0"/>
          </a:p>
          <a:p>
            <a:endParaRPr lang="en-GB" sz="1200" dirty="0"/>
          </a:p>
        </p:txBody>
      </p:sp>
    </p:spTree>
    <p:extLst>
      <p:ext uri="{BB962C8B-B14F-4D97-AF65-F5344CB8AC3E}">
        <p14:creationId xmlns:p14="http://schemas.microsoft.com/office/powerpoint/2010/main" val="16448183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 smtClean="0"/>
              <a:t>Videos...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7544" y="987574"/>
            <a:ext cx="6447501" cy="4111476"/>
          </a:xfrm>
          <a:solidFill>
            <a:schemeClr val="bg1"/>
          </a:solidFill>
        </p:spPr>
        <p:txBody>
          <a:bodyPr>
            <a:noAutofit/>
          </a:bodyPr>
          <a:lstStyle/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Install the hardware and make the board work – three LED programs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Make  four LEDs flash in a sequence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Set the LEDs to represent the value of ADC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Sequence the LEDs with a delay using the value of ADC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an input to set the state of the LEDs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the reset switch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the switch, ADC – make the LEDs flash in a sequence with reverse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the serial to display values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the </a:t>
            </a:r>
            <a:r>
              <a:rPr lang="en-GB" sz="1100" dirty="0" smtClean="0"/>
              <a:t>timer0:  16bit timer, 8bit </a:t>
            </a:r>
            <a:r>
              <a:rPr lang="en-GB" sz="1100" dirty="0"/>
              <a:t>timer and overflow </a:t>
            </a:r>
            <a:r>
              <a:rPr lang="en-GB" sz="1100" dirty="0" smtClean="0"/>
              <a:t> to </a:t>
            </a:r>
            <a:r>
              <a:rPr lang="en-GB" sz="1100" dirty="0"/>
              <a:t>flash the LEDs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EEProm – showing values on the serial terminal, and more constants insights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b="1" dirty="0"/>
              <a:t>Using I2C with serial to discover I2C devices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an I2C GCLD display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a SPI GCLD display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PWM, </a:t>
            </a:r>
            <a:r>
              <a:rPr lang="en-GB" sz="1100" dirty="0" smtClean="0"/>
              <a:t>many </a:t>
            </a:r>
            <a:r>
              <a:rPr lang="en-GB" sz="1100" dirty="0"/>
              <a:t>ways,  to dim the LEDS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an external interrupt to control an LED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storage within the chip – Progmem, SAF memory, EEPROM and DATA blocks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CLC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The GCBASIC tool chain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Assembly , alternatives assemblers and MPLAB-X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Summary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endParaRPr lang="en-GB" sz="400" dirty="0" smtClean="0">
              <a:solidFill>
                <a:schemeClr val="bg1">
                  <a:lumMod val="75000"/>
                </a:schemeClr>
              </a:solidFill>
            </a:endParaRPr>
          </a:p>
          <a:p>
            <a:pPr marL="180000" indent="-478483">
              <a:spcBef>
                <a:spcPts val="300"/>
              </a:spcBef>
              <a:buNone/>
            </a:pPr>
            <a:endParaRPr lang="en-GB" sz="700" dirty="0" smtClean="0"/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endParaRPr lang="en-GB" sz="700" dirty="0" smtClean="0"/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endParaRPr lang="en-GB" sz="500" dirty="0" smtClean="0"/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endParaRPr lang="en-GB" sz="500" dirty="0" smtClean="0"/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endParaRPr lang="en-GB" sz="500" dirty="0" smtClean="0"/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endParaRPr lang="en-GB" sz="500" dirty="0"/>
          </a:p>
        </p:txBody>
      </p:sp>
    </p:spTree>
    <p:extLst>
      <p:ext uri="{BB962C8B-B14F-4D97-AF65-F5344CB8AC3E}">
        <p14:creationId xmlns:p14="http://schemas.microsoft.com/office/powerpoint/2010/main" val="14214165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075495" y="1203598"/>
            <a:ext cx="4124707" cy="1234727"/>
          </a:xfrm>
        </p:spPr>
        <p:txBody>
          <a:bodyPr/>
          <a:lstStyle/>
          <a:p>
            <a:r>
              <a:rPr lang="en-GB" dirty="0" smtClean="0"/>
              <a:t>GCBASIC</a:t>
            </a:r>
            <a:endParaRPr lang="en-GB" dirty="0"/>
          </a:p>
        </p:txBody>
      </p:sp>
      <p:pic>
        <p:nvPicPr>
          <p:cNvPr id="1026" name="Picture 2" descr="D:\Build\AnobiumTransparent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292080" y="911052"/>
            <a:ext cx="1828859" cy="771550"/>
          </a:xfrm>
          <a:prstGeom prst="rect">
            <a:avLst/>
          </a:prstGeom>
          <a:noFill/>
        </p:spPr>
      </p:pic>
      <p:sp>
        <p:nvSpPr>
          <p:cNvPr id="4" name="AutoShape 2" descr="ICSP connection"/>
          <p:cNvSpPr>
            <a:spLocks noChangeAspect="1" noChangeArrowheads="1"/>
          </p:cNvSpPr>
          <p:nvPr/>
        </p:nvSpPr>
        <p:spPr bwMode="auto">
          <a:xfrm>
            <a:off x="155575" y="-144462"/>
            <a:ext cx="304800" cy="304801"/>
          </a:xfrm>
          <a:prstGeom prst="rect">
            <a:avLst/>
          </a:prstGeom>
          <a:noFill/>
        </p:spPr>
        <p:txBody>
          <a:bodyPr vert="horz" wrap="square" lIns="85064" tIns="42531" rIns="85064" bIns="42531" numCol="1" anchor="t" anchorCtr="0" compatLnSpc="1">
            <a:prstTxWarp prst="textNoShape">
              <a:avLst/>
            </a:prstTxWarp>
          </a:bodyPr>
          <a:lstStyle/>
          <a:p>
            <a:endParaRPr lang="en-GB" dirty="0"/>
          </a:p>
        </p:txBody>
      </p:sp>
      <p:sp>
        <p:nvSpPr>
          <p:cNvPr id="7" name="Text Placeholder 4"/>
          <p:cNvSpPr txBox="1">
            <a:spLocks/>
          </p:cNvSpPr>
          <p:nvPr/>
        </p:nvSpPr>
        <p:spPr>
          <a:xfrm>
            <a:off x="3995936" y="2692028"/>
            <a:ext cx="3342861" cy="645300"/>
          </a:xfrm>
          <a:prstGeom prst="rect">
            <a:avLst/>
          </a:prstGeom>
        </p:spPr>
        <p:txBody>
          <a:bodyPr vert="horz" lIns="68580" tIns="34290" rIns="68580" bIns="34290" rtlCol="0" anchor="t">
            <a:noAutofit/>
          </a:bodyPr>
          <a:lstStyle>
            <a:lvl1pPr marL="0" indent="0" algn="r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1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 smtClean="0"/>
              <a:t>PIC18FxxQ35chip Family</a:t>
            </a:r>
          </a:p>
          <a:p>
            <a:r>
              <a:rPr lang="en-GB" dirty="0"/>
              <a:t>Part 10 - EEPROM Operations</a:t>
            </a:r>
            <a:endParaRPr lang="en-GB" dirty="0"/>
          </a:p>
        </p:txBody>
      </p:sp>
      <p:pic>
        <p:nvPicPr>
          <p:cNvPr id="6" name="Picture 2" descr="PIC18F46Q35-NHX-Regular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7704" y="3795886"/>
            <a:ext cx="1280591" cy="11280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8" descr="PIC18F46Q35-S2X-Regular.pn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28316" y="3540195"/>
            <a:ext cx="2692623" cy="12569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224700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smtClean="0"/>
              <a:t>GCBASIC</a:t>
            </a:r>
            <a:endParaRPr lang="en-GB" dirty="0"/>
          </a:p>
        </p:txBody>
      </p:sp>
      <p:pic>
        <p:nvPicPr>
          <p:cNvPr id="1026" name="Picture 2" descr="D:\Build\AnobiumTransparent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315141" y="79363"/>
            <a:ext cx="1828859" cy="771550"/>
          </a:xfrm>
          <a:prstGeom prst="rect">
            <a:avLst/>
          </a:prstGeom>
          <a:noFill/>
        </p:spPr>
      </p:pic>
      <p:sp>
        <p:nvSpPr>
          <p:cNvPr id="4" name="AutoShape 2" descr="ICSP connection"/>
          <p:cNvSpPr>
            <a:spLocks noChangeAspect="1" noChangeArrowheads="1"/>
          </p:cNvSpPr>
          <p:nvPr/>
        </p:nvSpPr>
        <p:spPr bwMode="auto">
          <a:xfrm>
            <a:off x="155575" y="-144462"/>
            <a:ext cx="304800" cy="304801"/>
          </a:xfrm>
          <a:prstGeom prst="rect">
            <a:avLst/>
          </a:prstGeom>
          <a:noFill/>
        </p:spPr>
        <p:txBody>
          <a:bodyPr vert="horz" wrap="square" lIns="85064" tIns="42531" rIns="85064" bIns="42531" numCol="1" anchor="t" anchorCtr="0" compatLnSpc="1">
            <a:prstTxWarp prst="textNoShape">
              <a:avLst/>
            </a:prstTxWarp>
          </a:bodyPr>
          <a:lstStyle/>
          <a:p>
            <a:endParaRPr lang="en-GB" dirty="0"/>
          </a:p>
        </p:txBody>
      </p:sp>
      <p:sp>
        <p:nvSpPr>
          <p:cNvPr id="7" name="Rectangle 6"/>
          <p:cNvSpPr/>
          <p:nvPr/>
        </p:nvSpPr>
        <p:spPr>
          <a:xfrm>
            <a:off x="539552" y="2067694"/>
            <a:ext cx="7367888" cy="707886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4000" b="1" dirty="0" smtClean="0">
                <a:ln w="10541" cmpd="sng">
                  <a:solidFill>
                    <a:srgbClr val="7D7D7D">
                      <a:tint val="100000"/>
                      <a:shade val="100000"/>
                      <a:satMod val="110000"/>
                    </a:srgbClr>
                  </a:solidFill>
                  <a:prstDash val="solid"/>
                </a:ln>
                <a:solidFill>
                  <a:srgbClr val="FF0000"/>
                </a:solidFill>
              </a:rPr>
              <a:t>Like and subscribe!</a:t>
            </a:r>
          </a:p>
        </p:txBody>
      </p:sp>
      <p:pic>
        <p:nvPicPr>
          <p:cNvPr id="2050" name="Picture 2" descr="PIC18F46Q35-NHX-Regular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7704" y="3795886"/>
            <a:ext cx="1280591" cy="11280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AutoShape 4" descr="PIC18F46Q35-S2X-Regular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5" name="AutoShape 6" descr="PIC18F46Q35-S2X-Regular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pic>
        <p:nvPicPr>
          <p:cNvPr id="2056" name="Picture 8" descr="PIC18F46Q35-S2X-Regular.pn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28316" y="3540195"/>
            <a:ext cx="2692623" cy="12569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669780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GCstudioThemeLight">
  <a:themeElements>
    <a:clrScheme name="Blue">
      <a:dk1>
        <a:sysClr val="windowText" lastClr="000000"/>
      </a:dk1>
      <a:lt1>
        <a:sysClr val="window" lastClr="FFFFFF"/>
      </a:lt1>
      <a:dk2>
        <a:srgbClr val="17406D"/>
      </a:dk2>
      <a:lt2>
        <a:srgbClr val="DBEFF9"/>
      </a:lt2>
      <a:accent1>
        <a:srgbClr val="0F6FC6"/>
      </a:accent1>
      <a:accent2>
        <a:srgbClr val="009DD9"/>
      </a:accent2>
      <a:accent3>
        <a:srgbClr val="0BD0D9"/>
      </a:accent3>
      <a:accent4>
        <a:srgbClr val="10CF9B"/>
      </a:accent4>
      <a:accent5>
        <a:srgbClr val="7CCA62"/>
      </a:accent5>
      <a:accent6>
        <a:srgbClr val="A5C249"/>
      </a:accent6>
      <a:hlink>
        <a:srgbClr val="F49100"/>
      </a:hlink>
      <a:folHlink>
        <a:srgbClr val="85DFD0"/>
      </a:folHlink>
    </a:clrScheme>
    <a:fontScheme name="GC Basic Fonts">
      <a:majorFont>
        <a:latin typeface="Microsoft YaHei"/>
        <a:ea typeface=""/>
        <a:cs typeface=""/>
      </a:majorFont>
      <a:minorFont>
        <a:latin typeface="Corbel"/>
        <a:ea typeface=""/>
        <a:cs typeface="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="" xmlns:thm15="http://schemas.microsoft.com/office/thememl/2012/main" name="GCstudioThemeLight" id="{4C740F94-33C0-4EEC-9234-F56C348A0987}" vid="{A43F8B96-90D8-489D-B80F-92F9D6F351C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14427</TotalTime>
  <Words>810</Words>
  <Application>Microsoft Office PowerPoint</Application>
  <PresentationFormat>On-screen Show (16:9)</PresentationFormat>
  <Paragraphs>147</Paragraphs>
  <Slides>19</Slides>
  <Notes>0</Notes>
  <HiddenSlides>2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0" baseType="lpstr">
      <vt:lpstr>GCstudioThemeLight</vt:lpstr>
      <vt:lpstr>GCBASIC</vt:lpstr>
      <vt:lpstr>GCBASIC</vt:lpstr>
      <vt:lpstr>GCBASIC</vt:lpstr>
      <vt:lpstr>PIC18FxxQ35</vt:lpstr>
      <vt:lpstr>Videos...</vt:lpstr>
      <vt:lpstr>GCBASIC Compiler</vt:lpstr>
      <vt:lpstr>PowerPoint Presentation</vt:lpstr>
      <vt:lpstr>PowerPoint Presentation</vt:lpstr>
      <vt:lpstr>Schematic</vt:lpstr>
      <vt:lpstr>VDDIO2 Domain Power</vt:lpstr>
      <vt:lpstr>Memory</vt:lpstr>
      <vt:lpstr>PowerPoint Presentation</vt:lpstr>
      <vt:lpstr>EEProm</vt:lpstr>
      <vt:lpstr>EEProm – 3 ways</vt:lpstr>
      <vt:lpstr>Lab</vt:lpstr>
      <vt:lpstr>PowerPoint Presentation</vt:lpstr>
      <vt:lpstr>Videos...</vt:lpstr>
      <vt:lpstr>GCBASIC</vt:lpstr>
      <vt:lpstr>GCBASIC</vt:lpstr>
    </vt:vector>
  </TitlesOfParts>
  <Company>Hewlett-Packard Company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Great Cow BASIC</dc:title>
  <dc:creator>admin</dc:creator>
  <cp:lastModifiedBy>admin</cp:lastModifiedBy>
  <cp:revision>757</cp:revision>
  <dcterms:created xsi:type="dcterms:W3CDTF">2019-01-08T20:03:06Z</dcterms:created>
  <dcterms:modified xsi:type="dcterms:W3CDTF">2026-08-12T07:04:17Z</dcterms:modified>
</cp:coreProperties>
</file>