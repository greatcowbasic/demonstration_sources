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345" r:id="rId2"/>
    <p:sldId id="346" r:id="rId3"/>
    <p:sldId id="347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37" r:id="rId12"/>
    <p:sldId id="338" r:id="rId13"/>
    <p:sldId id="339" r:id="rId14"/>
    <p:sldId id="340" r:id="rId15"/>
    <p:sldId id="341" r:id="rId16"/>
    <p:sldId id="288" r:id="rId17"/>
    <p:sldId id="344" r:id="rId18"/>
    <p:sldId id="355" r:id="rId19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>
      <p:cViewPr>
        <p:scale>
          <a:sx n="125" d="100"/>
          <a:sy n="125" d="100"/>
        </p:scale>
        <p:origin x="-1230" y="-77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r>
              <a:rPr lang="en-GB" sz="1400" dirty="0"/>
              <a:t>Part 10 - EEPROM Operations</a:t>
            </a:r>
          </a:p>
        </p:txBody>
      </p:sp>
    </p:spTree>
    <p:extLst>
      <p:ext uri="{BB962C8B-B14F-4D97-AF65-F5344CB8AC3E}">
        <p14:creationId xmlns:p14="http://schemas.microsoft.com/office/powerpoint/2010/main" val="151357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329183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10 - EEPROM Operations</a:t>
            </a:r>
          </a:p>
        </p:txBody>
      </p:sp>
    </p:spTree>
    <p:extLst>
      <p:ext uri="{BB962C8B-B14F-4D97-AF65-F5344CB8AC3E}">
        <p14:creationId xmlns:p14="http://schemas.microsoft.com/office/powerpoint/2010/main" val="7004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934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414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</a:t>
            </a:r>
            <a:r>
              <a:rPr lang="en-GB" sz="1100" b="1" dirty="0" err="1"/>
              <a:t>EEProm</a:t>
            </a:r>
            <a:r>
              <a:rPr lang="en-GB" sz="1100" b="1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644636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347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47089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/>
              <a:t>1</a:t>
            </a:r>
            <a:r>
              <a:rPr lang="en-GB" sz="1000" dirty="0"/>
              <a:t>. 18-, 28- and 40-pin DIP sockets</a:t>
            </a:r>
          </a:p>
          <a:p>
            <a:r>
              <a:rPr lang="en-GB" sz="1000" dirty="0"/>
              <a:t>(although three sockets are provided, only one device may be used at a time)</a:t>
            </a:r>
          </a:p>
          <a:p>
            <a:r>
              <a:rPr lang="en-GB" sz="1000" dirty="0"/>
              <a:t>2. On-board, +5V regulator for direct input from 9V, 100 mA AC/DC wall adapter </a:t>
            </a:r>
            <a:r>
              <a:rPr lang="en-GB" sz="1000" dirty="0" smtClean="0"/>
              <a:t>or 9V </a:t>
            </a:r>
            <a:r>
              <a:rPr lang="en-GB" sz="1000" dirty="0"/>
              <a:t>battery, or hooks for a +5V, 100 mA regulated DC supply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3. RS-232 socket and associated hardware for direct connection to an </a:t>
            </a:r>
            <a:r>
              <a:rPr lang="en-GB" sz="1000" b="1" u="sng" dirty="0" smtClean="0">
                <a:solidFill>
                  <a:srgbClr val="FF0000"/>
                </a:solidFill>
              </a:rPr>
              <a:t>RS-232 interface</a:t>
            </a:r>
            <a:endParaRPr lang="en-GB" sz="1000" b="1" u="sng" dirty="0">
              <a:solidFill>
                <a:srgbClr val="FF0000"/>
              </a:solidFill>
            </a:endParaRPr>
          </a:p>
          <a:p>
            <a:r>
              <a:rPr lang="en-GB" sz="1000" dirty="0"/>
              <a:t>4. Programmer/debugger connectivity supporting MPLAB® ICD 3, MPLAB REAL</a:t>
            </a:r>
          </a:p>
          <a:p>
            <a:r>
              <a:rPr lang="en-GB" sz="1000" dirty="0"/>
              <a:t>ICE and </a:t>
            </a:r>
            <a:r>
              <a:rPr lang="en-GB" sz="1000" dirty="0" err="1"/>
              <a:t>PICkit</a:t>
            </a:r>
            <a:r>
              <a:rPr lang="en-GB" sz="1000" dirty="0"/>
              <a:t> 3</a:t>
            </a:r>
          </a:p>
          <a:p>
            <a:r>
              <a:rPr lang="en-GB" sz="1000" dirty="0"/>
              <a:t>5. </a:t>
            </a:r>
            <a:r>
              <a:rPr lang="en-GB" sz="1000" dirty="0" err="1"/>
              <a:t>PICkit</a:t>
            </a:r>
            <a:r>
              <a:rPr lang="en-GB" sz="1000" dirty="0"/>
              <a:t> Serial Connector for analysis of serial communications peripherals </a:t>
            </a:r>
            <a:r>
              <a:rPr lang="en-GB" sz="1000" dirty="0" smtClean="0"/>
              <a:t>such as </a:t>
            </a:r>
            <a:r>
              <a:rPr lang="en-GB" sz="1000" dirty="0"/>
              <a:t>SPI or I2C™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6. 5 </a:t>
            </a:r>
            <a:r>
              <a:rPr lang="en-GB" sz="1000" b="1" u="sng" dirty="0" smtClean="0">
                <a:solidFill>
                  <a:srgbClr val="FF0000"/>
                </a:solidFill>
              </a:rPr>
              <a:t>k </a:t>
            </a:r>
            <a:r>
              <a:rPr lang="en-GB" sz="1000" b="1" u="sng" dirty="0">
                <a:solidFill>
                  <a:srgbClr val="FF0000"/>
                </a:solidFill>
              </a:rPr>
              <a:t>pot for devices with </a:t>
            </a:r>
            <a:r>
              <a:rPr lang="en-GB" sz="1000" b="1" u="sng" dirty="0" err="1">
                <a:solidFill>
                  <a:srgbClr val="FF0000"/>
                </a:solidFill>
              </a:rPr>
              <a:t>analog</a:t>
            </a:r>
            <a:r>
              <a:rPr lang="en-GB" sz="1000" b="1" u="sng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7. Three push button switches for external stimulus and Reset</a:t>
            </a:r>
          </a:p>
          <a:p>
            <a:r>
              <a:rPr lang="en-GB" sz="1000" dirty="0"/>
              <a:t>8. 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</a:t>
            </a:r>
            <a:r>
              <a:rPr lang="en-GB" sz="1000" b="1" u="sng" dirty="0">
                <a:solidFill>
                  <a:srgbClr val="FF0000"/>
                </a:solidFill>
              </a:rPr>
              <a:t>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dirty="0"/>
              <a:t>11. 32K x 8 Serial EEPROM</a:t>
            </a:r>
          </a:p>
          <a:p>
            <a:r>
              <a:rPr lang="en-GB" sz="1000" dirty="0"/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to</a:t>
            </a:r>
          </a:p>
          <a:p>
            <a:r>
              <a:rPr lang="en-GB" sz="1000" dirty="0"/>
              <a:t>MCU pins</a:t>
            </a:r>
          </a:p>
          <a:p>
            <a:r>
              <a:rPr lang="en-GB" sz="1000" dirty="0"/>
              <a:t>16. Microchip TC74 thermal sensor</a:t>
            </a:r>
          </a:p>
        </p:txBody>
      </p:sp>
      <p:sp>
        <p:nvSpPr>
          <p:cNvPr id="2" name="Oval 1"/>
          <p:cNvSpPr/>
          <p:nvPr/>
        </p:nvSpPr>
        <p:spPr>
          <a:xfrm>
            <a:off x="1441760" y="2445270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23528" y="2565676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50" b="1" dirty="0" smtClean="0">
                <a:solidFill>
                  <a:srgbClr val="FF0000"/>
                </a:solidFill>
              </a:rPr>
              <a:t>3A</a:t>
            </a:r>
            <a:endParaRPr lang="en-GB" sz="1050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539552" y="2589286"/>
            <a:ext cx="902208" cy="12040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60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4000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53187"/>
            <a:ext cx="6480719" cy="4392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382635" y="1321402"/>
            <a:ext cx="1152128" cy="797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123728" y="1788318"/>
            <a:ext cx="963101" cy="783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012160" y="2787774"/>
            <a:ext cx="1440160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56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57014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Schematic</a:t>
            </a:r>
            <a:endParaRPr lang="en-GB" dirty="0"/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389392"/>
            <a:ext cx="2227213" cy="1894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834" y="2571750"/>
            <a:ext cx="2948491" cy="1847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41351"/>
            <a:ext cx="5146904" cy="2646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2123728" y="2211710"/>
            <a:ext cx="288032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2123728" y="2434084"/>
            <a:ext cx="288032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195736" y="1779662"/>
            <a:ext cx="0" cy="5043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25079" y="1412379"/>
            <a:ext cx="2028761" cy="35394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USART  TTL SIGNAL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201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VDDIO2 Domain Power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3995936" y="2100649"/>
            <a:ext cx="3372590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Think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No VDDIO2 power – no domain I/O!</a:t>
            </a:r>
            <a:endParaRPr lang="en-GB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68" y="987574"/>
            <a:ext cx="3213668" cy="3988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837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95486"/>
            <a:ext cx="4068108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Memory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179512" y="1550471"/>
            <a:ext cx="3600400" cy="274947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57175" indent="-257175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78521" lvl="1" indent="-478483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572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2001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5430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8859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2288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25717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29146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GB" dirty="0" smtClean="0"/>
              <a:t>Program </a:t>
            </a:r>
            <a:r>
              <a:rPr lang="en-GB" dirty="0"/>
              <a:t>Flash Memory </a:t>
            </a:r>
            <a:r>
              <a:rPr lang="en-GB" dirty="0" smtClean="0"/>
              <a:t>( PFM )</a:t>
            </a:r>
            <a:endParaRPr lang="en-GB" dirty="0"/>
          </a:p>
          <a:p>
            <a:r>
              <a:rPr lang="en-GB" dirty="0" smtClean="0"/>
              <a:t>Data </a:t>
            </a:r>
            <a:r>
              <a:rPr lang="en-GB" dirty="0"/>
              <a:t>SRAM Memory</a:t>
            </a:r>
          </a:p>
          <a:p>
            <a:r>
              <a:rPr lang="en-GB" b="1" dirty="0"/>
              <a:t>EEPROM 256 </a:t>
            </a:r>
            <a:r>
              <a:rPr lang="en-GB" b="1" dirty="0" smtClean="0"/>
              <a:t>Bytes</a:t>
            </a:r>
            <a:endParaRPr lang="en-GB" b="1" dirty="0"/>
          </a:p>
          <a:p>
            <a:endParaRPr lang="en-GB" dirty="0"/>
          </a:p>
          <a:p>
            <a:r>
              <a:rPr lang="en-GB" dirty="0"/>
              <a:t>Memory Access Partition, the Program Flash Memory </a:t>
            </a:r>
            <a:r>
              <a:rPr lang="en-GB" dirty="0" smtClean="0"/>
              <a:t>Partitioned </a:t>
            </a:r>
            <a:r>
              <a:rPr lang="en-GB" dirty="0"/>
              <a:t>into: </a:t>
            </a:r>
          </a:p>
          <a:p>
            <a:pPr lvl="1"/>
            <a:r>
              <a:rPr lang="en-GB" dirty="0" smtClean="0"/>
              <a:t>Application </a:t>
            </a:r>
            <a:r>
              <a:rPr lang="en-GB" dirty="0"/>
              <a:t>Block </a:t>
            </a:r>
          </a:p>
          <a:p>
            <a:pPr lvl="1"/>
            <a:r>
              <a:rPr lang="en-GB" dirty="0" smtClean="0"/>
              <a:t>Boot </a:t>
            </a:r>
            <a:r>
              <a:rPr lang="en-GB" dirty="0"/>
              <a:t>Block </a:t>
            </a:r>
          </a:p>
          <a:p>
            <a:pPr lvl="1"/>
            <a:r>
              <a:rPr lang="en-GB" dirty="0" smtClean="0"/>
              <a:t>Storage </a:t>
            </a:r>
            <a:r>
              <a:rPr lang="en-GB" dirty="0"/>
              <a:t>Area Flash (SAF) Block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148064" y="3507854"/>
            <a:ext cx="302433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992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2005" y="346348"/>
            <a:ext cx="8229601" cy="85725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defTabSz="342900">
              <a:spcBef>
                <a:spcPct val="0"/>
              </a:spcBef>
              <a:buNone/>
              <a:defRPr sz="27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 err="1" smtClean="0"/>
              <a:t>EEProm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467544" y="2067694"/>
            <a:ext cx="5040560" cy="202106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defPPr>
              <a:defRPr lang="en-US"/>
            </a:defPPr>
            <a:lvl1pPr marL="257175" indent="-257175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78521" lvl="1" indent="-478483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572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2001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5430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8859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2288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25717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29146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GB" dirty="0"/>
              <a:t>Electrically Erasable Programmable Read-Only Memory </a:t>
            </a:r>
          </a:p>
          <a:p>
            <a:endParaRPr lang="en-GB" dirty="0"/>
          </a:p>
          <a:p>
            <a:r>
              <a:rPr lang="en-GB" dirty="0"/>
              <a:t>Non-volatile memory to store relatively small amounts of data but allowing individual bytes to be erased and reprogrammed.</a:t>
            </a:r>
          </a:p>
        </p:txBody>
      </p:sp>
    </p:spTree>
    <p:extLst>
      <p:ext uri="{BB962C8B-B14F-4D97-AF65-F5344CB8AC3E}">
        <p14:creationId xmlns:p14="http://schemas.microsoft.com/office/powerpoint/2010/main" val="165736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err="1" smtClean="0"/>
              <a:t>EEProm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199306" y="1779662"/>
            <a:ext cx="889248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Type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Value          Explanation</a:t>
            </a:r>
          </a:p>
          <a:p>
            <a:endParaRPr lang="en-GB" sz="1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Prog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16384         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Prog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is exposed as 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ChipWORDS</a:t>
            </a:r>
            <a:endParaRPr lang="en-GB" sz="1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SAFMemWords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128            </a:t>
            </a:r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SAFMemWords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exposed 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ChipSAFMemWords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		</a:t>
            </a:r>
            <a:endParaRPr lang="en-GB" sz="1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EEPROM          256            EEPROM is exposed as  </a:t>
            </a:r>
            <a:r>
              <a:rPr lang="en-GB" sz="1400" b="1" dirty="0" err="1" smtClean="0">
                <a:latin typeface="Courier New" pitchFamily="49" charset="0"/>
                <a:cs typeface="Courier New" pitchFamily="49" charset="0"/>
              </a:rPr>
              <a:t>ChipEEPROM</a:t>
            </a:r>
            <a:endParaRPr lang="en-GB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RAM             2048           RAM is exposed as    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ChipRAM</a:t>
            </a:r>
            <a:endParaRPr lang="en-GB" sz="1400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1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err="1" smtClean="0"/>
              <a:t>EEProm</a:t>
            </a:r>
            <a:r>
              <a:rPr lang="en-GB" dirty="0" smtClean="0"/>
              <a:t> – 3 ways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987574"/>
            <a:ext cx="465772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 b="21569"/>
          <a:stretch>
            <a:fillRect/>
          </a:stretch>
        </p:blipFill>
        <p:spPr bwMode="auto">
          <a:xfrm>
            <a:off x="1259632" y="2321074"/>
            <a:ext cx="3340100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76056" y="0"/>
            <a:ext cx="4238625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64230" y="1081087"/>
            <a:ext cx="2879770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898153"/>
            <a:ext cx="3820096" cy="222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3867894"/>
            <a:ext cx="2598542" cy="861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624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Lab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72771" y="1563638"/>
            <a:ext cx="6447501" cy="3384376"/>
          </a:xfr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/>
          <a:p>
            <a:r>
              <a:rPr lang="en-GB" sz="1200" dirty="0"/>
              <a:t>Sample code – write and read via terminal</a:t>
            </a:r>
          </a:p>
          <a:p>
            <a:pPr marL="778521" lvl="1" indent="-478483"/>
            <a:r>
              <a:rPr lang="en-GB" sz="1100" dirty="0"/>
              <a:t>Using PPS select the serial USART port</a:t>
            </a:r>
          </a:p>
          <a:p>
            <a:pPr marL="778521" lvl="1" indent="-478483"/>
            <a:r>
              <a:rPr lang="en-GB" sz="1100" dirty="0"/>
              <a:t>Write values to </a:t>
            </a:r>
            <a:r>
              <a:rPr lang="en-GB" sz="1100" dirty="0" err="1"/>
              <a:t>EEProm</a:t>
            </a:r>
            <a:endParaRPr lang="en-GB" sz="1100" dirty="0"/>
          </a:p>
          <a:p>
            <a:pPr marL="778521" lvl="1" indent="-478483"/>
            <a:r>
              <a:rPr lang="en-GB" sz="1100" dirty="0"/>
              <a:t>Read values to </a:t>
            </a:r>
            <a:r>
              <a:rPr lang="en-GB" sz="1100" dirty="0" err="1"/>
              <a:t>EEProm</a:t>
            </a:r>
            <a:endParaRPr lang="en-GB" sz="1100" dirty="0"/>
          </a:p>
          <a:p>
            <a:pPr marL="778521" lvl="1" indent="-478483"/>
            <a:r>
              <a:rPr lang="en-GB" sz="1100" dirty="0"/>
              <a:t>See the results on </a:t>
            </a:r>
            <a:r>
              <a:rPr lang="en-GB" sz="1100" dirty="0" smtClean="0"/>
              <a:t>terminal</a:t>
            </a:r>
          </a:p>
          <a:p>
            <a:pPr marL="778521" lvl="1" indent="-478483"/>
            <a:endParaRPr lang="en-GB" sz="1100" dirty="0"/>
          </a:p>
          <a:p>
            <a:r>
              <a:rPr lang="en-GB" sz="1200" dirty="0"/>
              <a:t>Sample code – write with read via programmer</a:t>
            </a:r>
          </a:p>
          <a:p>
            <a:pPr marL="778521" lvl="1" indent="-478483"/>
            <a:r>
              <a:rPr lang="en-GB" sz="1100" dirty="0"/>
              <a:t>Write values to </a:t>
            </a:r>
            <a:r>
              <a:rPr lang="en-GB" sz="1100" dirty="0" err="1"/>
              <a:t>EEProm</a:t>
            </a:r>
            <a:endParaRPr lang="en-GB" sz="1100" dirty="0"/>
          </a:p>
          <a:p>
            <a:pPr marL="778521" lvl="1" indent="-478483"/>
            <a:r>
              <a:rPr lang="en-GB" sz="1100" dirty="0"/>
              <a:t>See the results within </a:t>
            </a:r>
            <a:r>
              <a:rPr lang="en-GB" sz="1100" dirty="0" err="1" smtClean="0"/>
              <a:t>PICKitPlus</a:t>
            </a:r>
            <a:endParaRPr lang="en-GB" sz="1100" dirty="0" smtClean="0"/>
          </a:p>
          <a:p>
            <a:pPr marL="778521" lvl="1" indent="-478483"/>
            <a:endParaRPr lang="en-GB" sz="1100" dirty="0"/>
          </a:p>
          <a:p>
            <a:pPr marL="478483" indent="-478483"/>
            <a:r>
              <a:rPr lang="en-GB" sz="1200" dirty="0" smtClean="0"/>
              <a:t>Sample code – check the chip specific constant</a:t>
            </a:r>
          </a:p>
          <a:p>
            <a:pPr marL="478483" lvl="1" indent="-478483"/>
            <a:r>
              <a:rPr lang="en-GB" sz="1100" dirty="0"/>
              <a:t>See the results on </a:t>
            </a:r>
            <a:r>
              <a:rPr lang="en-GB" sz="1100" dirty="0" smtClean="0"/>
              <a:t>terminal</a:t>
            </a:r>
            <a:endParaRPr lang="en-GB" sz="11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644818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timer0:  16bit timer, 8bit </a:t>
            </a:r>
            <a:r>
              <a:rPr lang="en-GB" sz="1100" dirty="0"/>
              <a:t>timer and overflow </a:t>
            </a:r>
            <a:r>
              <a:rPr lang="en-GB" sz="1100" dirty="0" smtClean="0"/>
              <a:t> to </a:t>
            </a:r>
            <a:r>
              <a:rPr lang="en-GB" sz="1100" dirty="0"/>
              <a:t>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42141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203598"/>
            <a:ext cx="4124707" cy="1234727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2692028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10 - EEPROM Operations</a:t>
            </a:r>
          </a:p>
        </p:txBody>
      </p:sp>
      <p:pic>
        <p:nvPicPr>
          <p:cNvPr id="6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47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14449</TotalTime>
  <Words>805</Words>
  <Application>Microsoft Office PowerPoint</Application>
  <PresentationFormat>On-screen Show (16:9)</PresentationFormat>
  <Paragraphs>145</Paragraphs>
  <Slides>18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PowerPoint Presentation</vt:lpstr>
      <vt:lpstr>PowerPoint Presentation</vt:lpstr>
      <vt:lpstr>Schematic</vt:lpstr>
      <vt:lpstr>VDDIO2 Domain Power</vt:lpstr>
      <vt:lpstr>Memory</vt:lpstr>
      <vt:lpstr>PowerPoint Presentation</vt:lpstr>
      <vt:lpstr>EEProm</vt:lpstr>
      <vt:lpstr>EEProm – 3 ways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758</cp:revision>
  <dcterms:created xsi:type="dcterms:W3CDTF">2019-01-08T20:03:06Z</dcterms:created>
  <dcterms:modified xsi:type="dcterms:W3CDTF">2026-08-13T06:24:21Z</dcterms:modified>
</cp:coreProperties>
</file>