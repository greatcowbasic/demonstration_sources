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365" r:id="rId2"/>
    <p:sldId id="366" r:id="rId3"/>
    <p:sldId id="367" r:id="rId4"/>
    <p:sldId id="368" r:id="rId5"/>
    <p:sldId id="369" r:id="rId6"/>
    <p:sldId id="371" r:id="rId7"/>
    <p:sldId id="355" r:id="rId8"/>
    <p:sldId id="356" r:id="rId9"/>
    <p:sldId id="357" r:id="rId10"/>
    <p:sldId id="358" r:id="rId11"/>
    <p:sldId id="359" r:id="rId12"/>
    <p:sldId id="360" r:id="rId13"/>
    <p:sldId id="364" r:id="rId14"/>
    <p:sldId id="361" r:id="rId15"/>
    <p:sldId id="372" r:id="rId16"/>
    <p:sldId id="373" r:id="rId17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164" d="100"/>
          <a:sy n="164" d="100"/>
        </p:scale>
        <p:origin x="-120" y="-1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21/08/2026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cbasic.com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cbasic.com/learn-more-gc-code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ww1.microchip.com/downloads/en/DeviceDoc/PICkit3%20Programmer%20Application%20v3.10.zip" TargetMode="External"/><Relationship Id="rId13" Type="http://schemas.openxmlformats.org/officeDocument/2006/relationships/hyperlink" Target="https://sourceforge.net/p/gcbasic/code/HEAD/tree/utils/" TargetMode="External"/><Relationship Id="rId3" Type="http://schemas.openxmlformats.org/officeDocument/2006/relationships/hyperlink" Target="https://github.com/Anobium/Great-Cow-BASIC-Library-Development/tree/master/USB_Serial/USB_DFU/PIC16F1-USB-DFU-Bootloader-Resource/tools/GCB" TargetMode="External"/><Relationship Id="rId7" Type="http://schemas.openxmlformats.org/officeDocument/2006/relationships/hyperlink" Target="https://www.microchip.com/DevelopmentTools/ProductDetails/PartNO/PG164120" TargetMode="External"/><Relationship Id="rId12" Type="http://schemas.openxmlformats.org/officeDocument/2006/relationships/hyperlink" Target="http://tinypicbootload.sourceforge.net/" TargetMode="External"/><Relationship Id="rId2" Type="http://schemas.openxmlformats.org/officeDocument/2006/relationships/hyperlink" Target="http://savannah.nongnu.org/projects/avrdud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orthernsoftware.com/" TargetMode="External"/><Relationship Id="rId11" Type="http://schemas.openxmlformats.org/officeDocument/2006/relationships/hyperlink" Target="http://picpgm.picprojects.net/" TargetMode="External"/><Relationship Id="rId5" Type="http://schemas.openxmlformats.org/officeDocument/2006/relationships/hyperlink" Target="https://github.com/micronucleus/micronucleus" TargetMode="External"/><Relationship Id="rId10" Type="http://schemas.openxmlformats.org/officeDocument/2006/relationships/hyperlink" Target="http://www.pickitplus.co.uk/" TargetMode="External"/><Relationship Id="rId4" Type="http://schemas.openxmlformats.org/officeDocument/2006/relationships/hyperlink" Target="http://www.kitsrus.com/pic.html" TargetMode="External"/><Relationship Id="rId9" Type="http://schemas.openxmlformats.org/officeDocument/2006/relationships/hyperlink" Target="http://www.autoitscript.com/" TargetMode="External"/><Relationship Id="rId14" Type="http://schemas.openxmlformats.org/officeDocument/2006/relationships/hyperlink" Target="https://www.microchip.com/mplab/mplab-x-id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 smtClean="0"/>
              <a:t>Part 18 </a:t>
            </a:r>
            <a:r>
              <a:rPr lang="en-GB" sz="1400" dirty="0"/>
              <a:t>– The GCBASIC tool </a:t>
            </a:r>
            <a:r>
              <a:rPr lang="en-GB" sz="1400" dirty="0" smtClean="0"/>
              <a:t>chain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8743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918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 smtClean="0"/>
              <a:t>PIC18FxxQ35chip Family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Part </a:t>
            </a:r>
            <a:r>
              <a:rPr lang="en-GB" dirty="0"/>
              <a:t>18 – The GCBASIC tool chain</a:t>
            </a:r>
          </a:p>
        </p:txBody>
      </p:sp>
    </p:spTree>
    <p:extLst>
      <p:ext uri="{BB962C8B-B14F-4D97-AF65-F5344CB8AC3E}">
        <p14:creationId xmlns:p14="http://schemas.microsoft.com/office/powerpoint/2010/main" val="55650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560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028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Millis and Interrupts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/>
              <a:t>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405931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45550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>
                <a:solidFill>
                  <a:srgbClr val="FF0000"/>
                </a:solidFill>
              </a:rPr>
              <a:t>1</a:t>
            </a:r>
            <a:r>
              <a:rPr lang="en-GB" sz="1000" dirty="0">
                <a:solidFill>
                  <a:srgbClr val="FF0000"/>
                </a:solidFill>
              </a:rPr>
              <a:t>. 18-, 28- and 40-pin DIP sockets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(although three sockets are provided, only one device may be used at a time)</a:t>
            </a:r>
          </a:p>
          <a:p>
            <a:r>
              <a:rPr lang="en-GB" sz="1000" dirty="0">
                <a:solidFill>
                  <a:srgbClr val="FF0000"/>
                </a:solidFill>
              </a:rPr>
              <a:t>2. On-board, +5V regulator for direct input from 9V, 100 mA AC/DC wall adapter </a:t>
            </a:r>
            <a:r>
              <a:rPr lang="en-GB" sz="1000" dirty="0" smtClean="0">
                <a:solidFill>
                  <a:srgbClr val="FF0000"/>
                </a:solidFill>
              </a:rPr>
              <a:t>or 9V </a:t>
            </a:r>
            <a:r>
              <a:rPr lang="en-GB" sz="1000" dirty="0">
                <a:solidFill>
                  <a:srgbClr val="FF0000"/>
                </a:solidFill>
              </a:rPr>
              <a:t>battery, or hooks for a +5V, 100 mA regulated DC supply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3. </a:t>
            </a:r>
            <a:r>
              <a:rPr lang="en-GB" sz="1000" dirty="0">
                <a:solidFill>
                  <a:srgbClr val="FF0000"/>
                </a:solidFill>
              </a:rPr>
              <a:t>RS-232 socket and associated hardware for direct connection to an </a:t>
            </a:r>
            <a:r>
              <a:rPr lang="en-GB" sz="1000" dirty="0" smtClean="0">
                <a:solidFill>
                  <a:srgbClr val="FF0000"/>
                </a:solidFill>
              </a:rPr>
              <a:t>RS-232 interface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4. Programmer/debugger connectivity supporting MPLAB® ICD 3, MPLAB </a:t>
            </a:r>
            <a:r>
              <a:rPr lang="en-GB" sz="1000" dirty="0" smtClean="0">
                <a:solidFill>
                  <a:srgbClr val="FF0000"/>
                </a:solidFill>
              </a:rPr>
              <a:t>REAL ICE </a:t>
            </a:r>
            <a:r>
              <a:rPr lang="en-GB" sz="1000" dirty="0">
                <a:solidFill>
                  <a:srgbClr val="FF0000"/>
                </a:solidFill>
              </a:rPr>
              <a:t>and </a:t>
            </a:r>
            <a:r>
              <a:rPr lang="en-GB" sz="1000" dirty="0" err="1" smtClean="0">
                <a:solidFill>
                  <a:srgbClr val="FF0000"/>
                </a:solidFill>
              </a:rPr>
              <a:t>PICkitPlus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5. </a:t>
            </a:r>
            <a:r>
              <a:rPr lang="en-GB" sz="1000" dirty="0" err="1">
                <a:solidFill>
                  <a:srgbClr val="FF0000"/>
                </a:solidFill>
              </a:rPr>
              <a:t>PICkit</a:t>
            </a:r>
            <a:r>
              <a:rPr lang="en-GB" sz="1000" dirty="0">
                <a:solidFill>
                  <a:srgbClr val="FF0000"/>
                </a:solidFill>
              </a:rPr>
              <a:t> Serial Connector for analysis of serial communications peripherals </a:t>
            </a:r>
            <a:r>
              <a:rPr lang="en-GB" sz="1000" dirty="0" smtClean="0">
                <a:solidFill>
                  <a:srgbClr val="FF0000"/>
                </a:solidFill>
              </a:rPr>
              <a:t>such as </a:t>
            </a:r>
            <a:r>
              <a:rPr lang="en-GB" sz="1000" dirty="0">
                <a:solidFill>
                  <a:srgbClr val="FF0000"/>
                </a:solidFill>
              </a:rPr>
              <a:t>SPI or I2C™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6. </a:t>
            </a:r>
            <a:r>
              <a:rPr lang="en-GB" sz="1000" dirty="0">
                <a:solidFill>
                  <a:srgbClr val="FF0000"/>
                </a:solidFill>
              </a:rPr>
              <a:t>5 </a:t>
            </a:r>
            <a:r>
              <a:rPr lang="en-GB" sz="1000" dirty="0" smtClean="0">
                <a:solidFill>
                  <a:srgbClr val="FF0000"/>
                </a:solidFill>
              </a:rPr>
              <a:t>k </a:t>
            </a:r>
            <a:r>
              <a:rPr lang="en-GB" sz="1000" dirty="0">
                <a:solidFill>
                  <a:srgbClr val="FF0000"/>
                </a:solidFill>
              </a:rPr>
              <a:t>pot for devices with </a:t>
            </a:r>
            <a:r>
              <a:rPr lang="en-GB" sz="1000" dirty="0" err="1">
                <a:solidFill>
                  <a:srgbClr val="FF0000"/>
                </a:solidFill>
              </a:rPr>
              <a:t>analog</a:t>
            </a:r>
            <a:r>
              <a:rPr lang="en-GB" sz="1000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</a:t>
            </a:r>
            <a:r>
              <a:rPr lang="en-GB" sz="1000" dirty="0">
                <a:solidFill>
                  <a:srgbClr val="FF0000"/>
                </a:solidFill>
              </a:rPr>
              <a:t>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b="1" dirty="0">
                <a:solidFill>
                  <a:srgbClr val="FF0000"/>
                </a:solidFill>
              </a:rPr>
              <a:t>11. 32K x 8 Serial EEPROM</a:t>
            </a:r>
          </a:p>
          <a:p>
            <a:r>
              <a:rPr lang="en-GB" sz="1000" dirty="0">
                <a:solidFill>
                  <a:srgbClr val="FF0000"/>
                </a:solidFill>
              </a:rPr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</a:t>
            </a:r>
            <a:r>
              <a:rPr lang="en-GB" sz="1000" dirty="0" smtClean="0"/>
              <a:t>to MCU </a:t>
            </a:r>
            <a:r>
              <a:rPr lang="en-GB" sz="1000" dirty="0"/>
              <a:t>pins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16. Microchip TC74 thermal </a:t>
            </a:r>
            <a:r>
              <a:rPr lang="en-GB" sz="1000" b="1" u="sng" dirty="0" smtClean="0">
                <a:solidFill>
                  <a:srgbClr val="FF0000"/>
                </a:solidFill>
              </a:rPr>
              <a:t>sensor</a:t>
            </a:r>
            <a:br>
              <a:rPr lang="en-GB" sz="1000" b="1" u="sng" dirty="0" smtClean="0">
                <a:solidFill>
                  <a:srgbClr val="FF0000"/>
                </a:solidFill>
              </a:rPr>
            </a:br>
            <a:endParaRPr lang="en-GB" sz="1000" b="1" u="sng" dirty="0" smtClean="0">
              <a:solidFill>
                <a:srgbClr val="FF0000"/>
              </a:solidFill>
            </a:endParaRPr>
          </a:p>
          <a:p>
            <a:r>
              <a:rPr lang="en-GB" sz="1000" b="1" u="sng" dirty="0" smtClean="0">
                <a:solidFill>
                  <a:srgbClr val="FF0000"/>
                </a:solidFill>
              </a:rPr>
              <a:t>Plus SPI GLCD</a:t>
            </a:r>
            <a:endParaRPr lang="en-GB" sz="1000" b="1" u="sng" dirty="0">
              <a:solidFill>
                <a:srgbClr val="FF0000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1441760" y="244527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528" y="2565676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 dirty="0" smtClean="0">
                <a:solidFill>
                  <a:srgbClr val="FF0000"/>
                </a:solidFill>
              </a:rPr>
              <a:t>3A</a:t>
            </a:r>
            <a:endParaRPr lang="en-GB" sz="105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9552" y="2589286"/>
            <a:ext cx="902208" cy="1204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73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9" y="170765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788024" cy="555526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4139952" y="1491632"/>
            <a:ext cx="3960440" cy="2178773"/>
          </a:xfrm>
          <a:prstGeom prst="rect">
            <a:avLst/>
          </a:prstGeom>
          <a:solidFill>
            <a:schemeClr val="bg1"/>
          </a:solidFill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</a:t>
            </a:r>
          </a:p>
          <a:p>
            <a:endParaRPr lang="en-GB" dirty="0" smtClean="0"/>
          </a:p>
          <a:p>
            <a:r>
              <a:rPr lang="en-GB" dirty="0" smtClean="0"/>
              <a:t>GCBASIC is a cross platform with common code translation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331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9542" y="915566"/>
            <a:ext cx="5028777" cy="3132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1835695" y="2475300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grpSp>
        <p:nvGrpSpPr>
          <p:cNvPr id="2" name="Group 15"/>
          <p:cNvGrpSpPr/>
          <p:nvPr/>
        </p:nvGrpSpPr>
        <p:grpSpPr>
          <a:xfrm>
            <a:off x="1783854" y="2366980"/>
            <a:ext cx="3313129" cy="1754113"/>
            <a:chOff x="1783854" y="2366980"/>
            <a:chExt cx="3313129" cy="1754113"/>
          </a:xfrm>
        </p:grpSpPr>
        <p:sp>
          <p:nvSpPr>
            <p:cNvPr id="5" name="Oval 4"/>
            <p:cNvSpPr/>
            <p:nvPr/>
          </p:nvSpPr>
          <p:spPr>
            <a:xfrm>
              <a:off x="1783854" y="2366980"/>
              <a:ext cx="1852042" cy="175411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smtClean="0"/>
                <a:t>GCBASIC IDE</a:t>
              </a:r>
              <a:endParaRPr lang="en-GB" sz="1200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3491880" y="2859782"/>
              <a:ext cx="1605103" cy="8770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smtClean="0"/>
                <a:t>GC Studio</a:t>
              </a:r>
              <a:endParaRPr lang="en-GB" sz="1200" dirty="0"/>
            </a:p>
          </p:txBody>
        </p:sp>
      </p:grpSp>
      <p:sp>
        <p:nvSpPr>
          <p:cNvPr id="6" name="Oval 5"/>
          <p:cNvSpPr/>
          <p:nvPr/>
        </p:nvSpPr>
        <p:spPr>
          <a:xfrm>
            <a:off x="323528" y="2805508"/>
            <a:ext cx="1605103" cy="877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Programmers</a:t>
            </a:r>
            <a:endParaRPr lang="en-GB" sz="1200" dirty="0"/>
          </a:p>
        </p:txBody>
      </p:sp>
      <p:sp>
        <p:nvSpPr>
          <p:cNvPr id="7" name="Oval 6"/>
          <p:cNvSpPr/>
          <p:nvPr/>
        </p:nvSpPr>
        <p:spPr>
          <a:xfrm rot="2221719">
            <a:off x="857817" y="1707654"/>
            <a:ext cx="1605103" cy="877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err="1" smtClean="0"/>
              <a:t>PPSTool</a:t>
            </a:r>
            <a:endParaRPr lang="en-GB" sz="1200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808" y="11336"/>
            <a:ext cx="5436604" cy="504056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GB" dirty="0" smtClean="0"/>
              <a:t>The GCBASIC </a:t>
            </a:r>
            <a:r>
              <a:rPr lang="en-GB" dirty="0" err="1" smtClean="0"/>
              <a:t>Toolchain</a:t>
            </a:r>
            <a:endParaRPr lang="en-GB" dirty="0"/>
          </a:p>
        </p:txBody>
      </p:sp>
      <p:grpSp>
        <p:nvGrpSpPr>
          <p:cNvPr id="3" name="Tools"/>
          <p:cNvGrpSpPr/>
          <p:nvPr/>
        </p:nvGrpSpPr>
        <p:grpSpPr>
          <a:xfrm>
            <a:off x="2919440" y="1765436"/>
            <a:ext cx="1641041" cy="3057911"/>
            <a:chOff x="2805657" y="1165157"/>
            <a:chExt cx="1641041" cy="3057911"/>
          </a:xfrm>
        </p:grpSpPr>
        <p:sp>
          <p:nvSpPr>
            <p:cNvPr id="9" name="Oval 8"/>
            <p:cNvSpPr/>
            <p:nvPr/>
          </p:nvSpPr>
          <p:spPr>
            <a:xfrm rot="19275749">
              <a:off x="2841595" y="1165157"/>
              <a:ext cx="1605103" cy="8770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err="1" smtClean="0"/>
                <a:t>AVRInfo</a:t>
              </a:r>
              <a:endParaRPr lang="en-GB" sz="1200" dirty="0" smtClean="0"/>
            </a:p>
            <a:p>
              <a:pPr algn="ctr"/>
              <a:r>
                <a:rPr lang="en-GB" sz="1200" dirty="0" smtClean="0"/>
                <a:t>CLC</a:t>
              </a:r>
            </a:p>
            <a:p>
              <a:pPr algn="ctr"/>
              <a:r>
                <a:rPr lang="en-GB" sz="1200" dirty="0" err="1" smtClean="0"/>
                <a:t>PicInfo</a:t>
              </a:r>
              <a:r>
                <a:rPr lang="en-GB" sz="1200" dirty="0" smtClean="0"/>
                <a:t> </a:t>
              </a:r>
            </a:p>
            <a:p>
              <a:pPr algn="ctr"/>
              <a:r>
                <a:rPr lang="en-GB" sz="1200" dirty="0" smtClean="0"/>
                <a:t>PSMC</a:t>
              </a:r>
              <a:endParaRPr lang="en-GB" sz="1200" dirty="0"/>
            </a:p>
          </p:txBody>
        </p:sp>
        <p:sp>
          <p:nvSpPr>
            <p:cNvPr id="10" name="Oval 9"/>
            <p:cNvSpPr/>
            <p:nvPr/>
          </p:nvSpPr>
          <p:spPr>
            <a:xfrm rot="2691868">
              <a:off x="2805657" y="3346011"/>
              <a:ext cx="1605103" cy="8770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smtClean="0"/>
                <a:t>Terminal</a:t>
              </a:r>
              <a:endParaRPr lang="en-GB" sz="1200" dirty="0"/>
            </a:p>
          </p:txBody>
        </p:sp>
      </p:grpSp>
      <p:grpSp>
        <p:nvGrpSpPr>
          <p:cNvPr id="8" name="Group 23"/>
          <p:cNvGrpSpPr/>
          <p:nvPr/>
        </p:nvGrpSpPr>
        <p:grpSpPr>
          <a:xfrm>
            <a:off x="38100" y="3314700"/>
            <a:ext cx="2426025" cy="1466850"/>
            <a:chOff x="38100" y="3314700"/>
            <a:chExt cx="2426025" cy="1466850"/>
          </a:xfrm>
        </p:grpSpPr>
        <p:sp>
          <p:nvSpPr>
            <p:cNvPr id="11" name="Oval 10"/>
            <p:cNvSpPr/>
            <p:nvPr/>
          </p:nvSpPr>
          <p:spPr>
            <a:xfrm rot="19109505">
              <a:off x="859022" y="3875123"/>
              <a:ext cx="1605103" cy="8770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smtClean="0"/>
                <a:t>Program Editor</a:t>
              </a:r>
            </a:p>
          </p:txBody>
        </p:sp>
        <p:sp>
          <p:nvSpPr>
            <p:cNvPr id="23" name="Freeform 22"/>
            <p:cNvSpPr/>
            <p:nvPr/>
          </p:nvSpPr>
          <p:spPr>
            <a:xfrm>
              <a:off x="38100" y="3314700"/>
              <a:ext cx="971550" cy="1466850"/>
            </a:xfrm>
            <a:custGeom>
              <a:avLst/>
              <a:gdLst>
                <a:gd name="connsiteX0" fmla="*/ 971550 w 971550"/>
                <a:gd name="connsiteY0" fmla="*/ 1466850 h 1466850"/>
                <a:gd name="connsiteX1" fmla="*/ 114300 w 971550"/>
                <a:gd name="connsiteY1" fmla="*/ 971550 h 1466850"/>
                <a:gd name="connsiteX2" fmla="*/ 285750 w 971550"/>
                <a:gd name="connsiteY2" fmla="*/ 0 h 146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71550" h="1466850">
                  <a:moveTo>
                    <a:pt x="971550" y="1466850"/>
                  </a:moveTo>
                  <a:cubicBezTo>
                    <a:pt x="600075" y="1341437"/>
                    <a:pt x="228600" y="1216025"/>
                    <a:pt x="114300" y="971550"/>
                  </a:cubicBezTo>
                  <a:cubicBezTo>
                    <a:pt x="0" y="727075"/>
                    <a:pt x="239713" y="144463"/>
                    <a:pt x="285750" y="0"/>
                  </a:cubicBezTo>
                </a:path>
              </a:pathLst>
            </a:custGeom>
            <a:ln w="38100">
              <a:solidFill>
                <a:srgbClr val="FF00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6156176" y="4207846"/>
            <a:ext cx="202311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https://gcbasic.com/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407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23478"/>
            <a:ext cx="5628260" cy="489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77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400600" cy="990600"/>
          </a:xfrm>
        </p:spPr>
        <p:txBody>
          <a:bodyPr/>
          <a:lstStyle/>
          <a:p>
            <a:pPr algn="l"/>
            <a:r>
              <a:rPr lang="en-GB" dirty="0" smtClean="0"/>
              <a:t>Tool chain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895496"/>
              </p:ext>
            </p:extLst>
          </p:nvPr>
        </p:nvGraphicFramePr>
        <p:xfrm>
          <a:off x="1187624" y="771550"/>
          <a:ext cx="7272808" cy="4210392"/>
        </p:xfrm>
        <a:graphic>
          <a:graphicData uri="http://schemas.openxmlformats.org/drawingml/2006/table">
            <a:tbl>
              <a:tblPr/>
              <a:tblGrid>
                <a:gridCol w="1991774"/>
                <a:gridCol w="1032562"/>
                <a:gridCol w="467340"/>
                <a:gridCol w="1084950"/>
                <a:gridCol w="388639"/>
                <a:gridCol w="2307543"/>
              </a:tblGrid>
              <a:tr h="140531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APPLICATION TITLE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CLASS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CORE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SEEN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MAINTAINED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509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GCBASIC  compiler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Compiler/Linker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GCSTUDIO and GCODE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IDE/Compiler/Linker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AVRInfo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Generator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AVRDude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2"/>
                        </a:rPr>
                        <a:t>http://savannah.nongnu.org\projects\avrdude</a:t>
                      </a:r>
                      <a:endParaRPr lang="en-GB" sz="700" b="1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CLC Designer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Generator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Converters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Converter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CoolTerm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Terminal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Yes, see website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DFU Bootloader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3"/>
                        </a:rPr>
                        <a:t>Anobium..GITHub</a:t>
                      </a:r>
                      <a:endParaRPr lang="en-GB" sz="700" b="1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GC Code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GC Studio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294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G+Stool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Management Supervisor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K150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4"/>
                        </a:rPr>
                        <a:t>http://www.kitsrus.com/pic.html</a:t>
                      </a:r>
                      <a:endParaRPr lang="en-GB" sz="700" b="1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Micronucleus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5"/>
                        </a:rPr>
                        <a:t>Micronucleus..GitHub</a:t>
                      </a:r>
                      <a:endParaRPr lang="en-GB" sz="700" b="1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Northern Software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6"/>
                        </a:rPr>
                        <a:t>https://www.northernsoftware.com/</a:t>
                      </a:r>
                      <a:endParaRPr lang="en-GB" sz="700" b="1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PICInfo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Generator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PicKit2 command line – for older chips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7"/>
                        </a:rPr>
                        <a:t>Microchip website</a:t>
                      </a:r>
                      <a:endParaRPr lang="en-GB" sz="700" b="1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PicKit2 GUI – for older chips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7"/>
                        </a:rPr>
                        <a:t>Microchip website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PicKit3 GUI – for older chips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8"/>
                        </a:rPr>
                        <a:t>Microchip Website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PicKit3 MPLAB-IPE integration tool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9"/>
                        </a:rPr>
                        <a:t>http://www.autoitscript.com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PICKitPlus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– PICkit2 and PICKit3 suite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0"/>
                        </a:rPr>
                        <a:t>www.pickitplus.co.uk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PKX</a:t>
                      </a:r>
                      <a:r>
                        <a:rPr lang="en-GB" sz="7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– Programmer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0"/>
                        </a:rPr>
                        <a:t>www.pickitplus.co.uk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PICPgm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1"/>
                        </a:rPr>
                        <a:t>http://picpgm.picprojects.net/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PPS Tool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Generator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 editor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PSMC Designer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Generator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Putty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Terminal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Yes, see website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SynWrite IDE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Terminal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Terminal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Yes, see website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TinyBootLoader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2"/>
                        </a:rPr>
                        <a:t>http://tinypicbootload.sourceforge.net/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XpressLoader  for Microchip Xpress boards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3"/>
                        </a:rPr>
                        <a:t>https://sourceforge.net/p/gcbasic/code/HEAD/tree/utils/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MPLAB_IPE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4"/>
                        </a:rPr>
                        <a:t>https://www.microchip.com/mplab/mplab-x-ide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GCASM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Compiler/Linker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PIC-AS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Linker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4"/>
                        </a:rPr>
                        <a:t>https://www.microchip.com/mplab/mplab-x-ide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MPASM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Linker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4"/>
                        </a:rPr>
                        <a:t>https://www.microchip.com/mplab/mplab-x-ide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GPASM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Linker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4"/>
                        </a:rPr>
                        <a:t>https://www.microchip.com/mplab/mplab-x-ide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06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6480720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0" name="Flowchart: Process 19"/>
          <p:cNvSpPr/>
          <p:nvPr/>
        </p:nvSpPr>
        <p:spPr>
          <a:xfrm>
            <a:off x="6948264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Linker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3"/>
            <a:endCxn id="20" idx="1"/>
          </p:cNvCxnSpPr>
          <p:nvPr/>
        </p:nvCxnSpPr>
        <p:spPr>
          <a:xfrm>
            <a:off x="6660232" y="2737252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ASM 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8172400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92548" y="4659982"/>
            <a:ext cx="275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PIC, AVR, AVR-DX and LGT</a:t>
            </a:r>
            <a:endParaRPr lang="en-GB" sz="1600" dirty="0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13781" y="0"/>
            <a:ext cx="5400600" cy="990600"/>
          </a:xfrm>
        </p:spPr>
        <p:txBody>
          <a:bodyPr/>
          <a:lstStyle/>
          <a:p>
            <a:pPr algn="l"/>
            <a:r>
              <a:rPr lang="en-GB" dirty="0" smtClean="0"/>
              <a:t>The core compiler</a:t>
            </a:r>
            <a:endParaRPr lang="en-GB" dirty="0"/>
          </a:p>
        </p:txBody>
      </p:sp>
      <p:sp>
        <p:nvSpPr>
          <p:cNvPr id="48" name="Flowchart: Document 47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208537" y="1948959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630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4796755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0" name="Flowchart: Process 19"/>
          <p:cNvSpPr/>
          <p:nvPr/>
        </p:nvSpPr>
        <p:spPr>
          <a:xfrm>
            <a:off x="6948264" y="2449220"/>
            <a:ext cx="1224136" cy="576064"/>
          </a:xfrm>
          <a:prstGeom prst="flowChartProcess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Linker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8172400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400600" cy="990600"/>
          </a:xfrm>
        </p:spPr>
        <p:txBody>
          <a:bodyPr/>
          <a:lstStyle/>
          <a:p>
            <a:pPr algn="l"/>
            <a:r>
              <a:rPr lang="en-GB" dirty="0" smtClean="0"/>
              <a:t>Compiler options</a:t>
            </a:r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6932476" y="1554068"/>
            <a:ext cx="1255712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PIC-AS, MPASM, </a:t>
            </a:r>
          </a:p>
          <a:p>
            <a:pPr algn="ctr"/>
            <a:r>
              <a:rPr lang="en-GB" sz="1200" dirty="0" smtClean="0"/>
              <a:t>MPLAB-IDE,</a:t>
            </a:r>
          </a:p>
          <a:p>
            <a:pPr algn="ctr"/>
            <a:r>
              <a:rPr lang="en-GB" sz="1200" dirty="0" smtClean="0"/>
              <a:t>GPASM, AVRASM2</a:t>
            </a:r>
            <a:endParaRPr lang="en-GB" sz="1200" dirty="0"/>
          </a:p>
        </p:txBody>
      </p:sp>
      <p:cxnSp>
        <p:nvCxnSpPr>
          <p:cNvPr id="28" name="Shape 27"/>
          <p:cNvCxnSpPr>
            <a:stCxn id="37" idx="3"/>
            <a:endCxn id="20" idx="2"/>
          </p:cNvCxnSpPr>
          <p:nvPr/>
        </p:nvCxnSpPr>
        <p:spPr>
          <a:xfrm flipV="1">
            <a:off x="7452320" y="3025284"/>
            <a:ext cx="108012" cy="9361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Document 32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64310" y="1905000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26" name="TextBox 25"/>
          <p:cNvSpPr txBox="1"/>
          <p:nvPr/>
        </p:nvSpPr>
        <p:spPr>
          <a:xfrm>
            <a:off x="5492548" y="4659982"/>
            <a:ext cx="275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PIC, AVR, AVR-DX and LGT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4957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4796755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274658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Simulator or</a:t>
            </a:r>
          </a:p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endCxn id="38" idx="0"/>
          </p:cNvCxnSpPr>
          <p:nvPr/>
        </p:nvCxnSpPr>
        <p:spPr>
          <a:xfrm rot="16200000" flipH="1">
            <a:off x="7884368" y="3025284"/>
            <a:ext cx="720080" cy="14401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400600" cy="990600"/>
          </a:xfrm>
        </p:spPr>
        <p:txBody>
          <a:bodyPr/>
          <a:lstStyle/>
          <a:p>
            <a:pPr algn="l"/>
            <a:r>
              <a:rPr lang="en-GB" dirty="0" smtClean="0"/>
              <a:t>Debugger options</a:t>
            </a:r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6915004" y="2183082"/>
            <a:ext cx="1255712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GC CODE DEBUGGER</a:t>
            </a:r>
            <a:br>
              <a:rPr lang="en-GB" sz="1200" dirty="0" smtClean="0"/>
            </a:br>
            <a:r>
              <a:rPr lang="en-GB" sz="1200" dirty="0" smtClean="0"/>
              <a:t>-------------</a:t>
            </a:r>
            <a:br>
              <a:rPr lang="en-GB" sz="1200" dirty="0" smtClean="0"/>
            </a:br>
            <a:r>
              <a:rPr lang="en-GB" sz="1200" dirty="0" smtClean="0"/>
              <a:t>PIC-AS </a:t>
            </a:r>
            <a:endParaRPr lang="en-GB" sz="1200" dirty="0"/>
          </a:p>
        </p:txBody>
      </p:sp>
      <p:cxnSp>
        <p:nvCxnSpPr>
          <p:cNvPr id="28" name="Shape 27"/>
          <p:cNvCxnSpPr>
            <a:stCxn id="37" idx="3"/>
          </p:cNvCxnSpPr>
          <p:nvPr/>
        </p:nvCxnSpPr>
        <p:spPr>
          <a:xfrm flipV="1">
            <a:off x="7452320" y="3025284"/>
            <a:ext cx="108012" cy="9361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Document 32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64310" y="1905000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26" name="TextBox 25"/>
          <p:cNvSpPr txBox="1"/>
          <p:nvPr/>
        </p:nvSpPr>
        <p:spPr>
          <a:xfrm>
            <a:off x="6836009" y="4659982"/>
            <a:ext cx="8899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60641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5" y="2475300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grpSp>
        <p:nvGrpSpPr>
          <p:cNvPr id="2" name="Group 15"/>
          <p:cNvGrpSpPr/>
          <p:nvPr/>
        </p:nvGrpSpPr>
        <p:grpSpPr>
          <a:xfrm>
            <a:off x="1783854" y="2366980"/>
            <a:ext cx="3313129" cy="1754113"/>
            <a:chOff x="1783854" y="2366980"/>
            <a:chExt cx="3313129" cy="1754113"/>
          </a:xfrm>
        </p:grpSpPr>
        <p:sp>
          <p:nvSpPr>
            <p:cNvPr id="5" name="Oval 4"/>
            <p:cNvSpPr/>
            <p:nvPr/>
          </p:nvSpPr>
          <p:spPr>
            <a:xfrm>
              <a:off x="1783854" y="2366980"/>
              <a:ext cx="1852042" cy="175411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smtClean="0"/>
                <a:t>An Editor</a:t>
              </a:r>
              <a:endParaRPr lang="en-GB" sz="1200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3491880" y="2931790"/>
              <a:ext cx="1605103" cy="8770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smtClean="0"/>
                <a:t>Scripts</a:t>
              </a:r>
              <a:endParaRPr lang="en-GB" sz="1200" dirty="0"/>
            </a:p>
          </p:txBody>
        </p:sp>
      </p:grpSp>
      <p:sp>
        <p:nvSpPr>
          <p:cNvPr id="6" name="Oval 5"/>
          <p:cNvSpPr/>
          <p:nvPr/>
        </p:nvSpPr>
        <p:spPr>
          <a:xfrm>
            <a:off x="323528" y="2805508"/>
            <a:ext cx="1605103" cy="877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Programmers</a:t>
            </a:r>
            <a:endParaRPr lang="en-GB" sz="1200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Variants for Linux, BSD &amp; Mac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5436096" y="1563638"/>
            <a:ext cx="3528392" cy="22929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dirty="0" smtClean="0"/>
              <a:t>$ time LC_ALL=C  /opt/GCBASIC/makehex.sh code9.gcb</a:t>
            </a:r>
            <a:br>
              <a:rPr lang="en-GB" sz="1100" dirty="0" smtClean="0"/>
            </a:br>
            <a:r>
              <a:rPr lang="en-GB" sz="1100" dirty="0" smtClean="0"/>
              <a:t>GCBASIC (0.98.07 RC07 2020-04-01 (Linux 64 bit))</a:t>
            </a:r>
            <a:br>
              <a:rPr lang="en-GB" sz="1100" dirty="0" smtClean="0"/>
            </a:br>
            <a:r>
              <a:rPr lang="en-GB" sz="1100" dirty="0" smtClean="0"/>
              <a:t/>
            </a:r>
            <a:br>
              <a:rPr lang="en-GB" sz="1100" dirty="0" smtClean="0"/>
            </a:br>
            <a:r>
              <a:rPr lang="en-GB" sz="1100" dirty="0" smtClean="0"/>
              <a:t>Compiling code9.gcb ...</a:t>
            </a:r>
            <a:br>
              <a:rPr lang="en-GB" sz="1100" dirty="0" smtClean="0"/>
            </a:br>
            <a:r>
              <a:rPr lang="en-GB" sz="1100" dirty="0" smtClean="0"/>
              <a:t>Done</a:t>
            </a:r>
            <a:br>
              <a:rPr lang="en-GB" sz="1100" dirty="0" smtClean="0"/>
            </a:br>
            <a:r>
              <a:rPr lang="en-GB" sz="1100" dirty="0" smtClean="0"/>
              <a:t/>
            </a:r>
            <a:br>
              <a:rPr lang="en-GB" sz="1100" dirty="0" smtClean="0"/>
            </a:br>
            <a:r>
              <a:rPr lang="en-GB" sz="1100" dirty="0" smtClean="0"/>
              <a:t>Assembling program ...</a:t>
            </a:r>
            <a:br>
              <a:rPr lang="en-GB" sz="1100" dirty="0" smtClean="0"/>
            </a:br>
            <a:r>
              <a:rPr lang="en-GB" sz="1100" dirty="0" smtClean="0"/>
              <a:t/>
            </a:r>
            <a:br>
              <a:rPr lang="en-GB" sz="1100" dirty="0" smtClean="0"/>
            </a:br>
            <a:r>
              <a:rPr lang="en-GB" sz="1100" dirty="0" smtClean="0"/>
              <a:t>Program assembled successfully!</a:t>
            </a:r>
            <a:br>
              <a:rPr lang="en-GB" sz="1100" dirty="0" smtClean="0"/>
            </a:br>
            <a:r>
              <a:rPr lang="en-GB" sz="1100" dirty="0" smtClean="0"/>
              <a:t/>
            </a:r>
            <a:br>
              <a:rPr lang="en-GB" sz="1100" dirty="0" smtClean="0"/>
            </a:br>
            <a:r>
              <a:rPr lang="en-GB" sz="1100" dirty="0" smtClean="0"/>
              <a:t>real 0m2,947s</a:t>
            </a:r>
            <a:br>
              <a:rPr lang="en-GB" sz="1100" dirty="0" smtClean="0"/>
            </a:br>
            <a:r>
              <a:rPr lang="en-GB" sz="1100" dirty="0" smtClean="0"/>
              <a:t>user 0m2,886s</a:t>
            </a:r>
            <a:br>
              <a:rPr lang="en-GB" sz="1100" dirty="0" smtClean="0"/>
            </a:br>
            <a:r>
              <a:rPr lang="en-GB" sz="1100" dirty="0" smtClean="0"/>
              <a:t>sys 0m0,045s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123196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</a:t>
            </a:r>
            <a:r>
              <a:rPr lang="en-GB" dirty="0" smtClean="0"/>
              <a:t>ab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2335807" cy="2744167"/>
          </a:xfrm>
        </p:spPr>
        <p:txBody>
          <a:bodyPr/>
          <a:lstStyle/>
          <a:p>
            <a:r>
              <a:rPr lang="en-GB" dirty="0" smtClean="0"/>
              <a:t>PIC tools available</a:t>
            </a:r>
          </a:p>
          <a:p>
            <a:pPr lvl="1"/>
            <a:r>
              <a:rPr lang="en-GB" b="1" dirty="0" smtClean="0"/>
              <a:t>Legacy IDE</a:t>
            </a:r>
            <a:br>
              <a:rPr lang="en-GB" b="1" dirty="0" smtClean="0"/>
            </a:br>
            <a:endParaRPr lang="en-GB" b="1" dirty="0" smtClean="0"/>
          </a:p>
          <a:p>
            <a:pPr lvl="1"/>
            <a:r>
              <a:rPr lang="en-GB" b="1" dirty="0" err="1" smtClean="0"/>
              <a:t>PICInfo</a:t>
            </a:r>
            <a:endParaRPr lang="en-GB" b="1" dirty="0" smtClean="0"/>
          </a:p>
          <a:p>
            <a:pPr lvl="1"/>
            <a:r>
              <a:rPr lang="en-GB" b="1" dirty="0" err="1" smtClean="0"/>
              <a:t>PPSTool</a:t>
            </a:r>
            <a:endParaRPr lang="en-GB" b="1" dirty="0"/>
          </a:p>
          <a:p>
            <a:pPr lvl="1"/>
            <a:r>
              <a:rPr lang="en-GB" b="1" dirty="0" smtClean="0"/>
              <a:t>CLC Designer</a:t>
            </a:r>
          </a:p>
          <a:p>
            <a:pPr lvl="1"/>
            <a:r>
              <a:rPr lang="en-GB" b="1" dirty="0" smtClean="0"/>
              <a:t>Edit Preferences</a:t>
            </a:r>
          </a:p>
          <a:p>
            <a:pPr lvl="1"/>
            <a:endParaRPr lang="en-GB" b="1" dirty="0" smtClean="0"/>
          </a:p>
          <a:p>
            <a:pPr lvl="1"/>
            <a:r>
              <a:rPr lang="en-GB" b="1" dirty="0" smtClean="0"/>
              <a:t>Clean Solution</a:t>
            </a:r>
            <a:endParaRPr lang="en-GB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491880" y="1779662"/>
            <a:ext cx="2335807" cy="274416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Add your own tools!</a:t>
            </a:r>
          </a:p>
          <a:p>
            <a:pPr lvl="1"/>
            <a:r>
              <a:rPr lang="en-GB" b="1" dirty="0"/>
              <a:t>C:\</a:t>
            </a:r>
            <a:r>
              <a:rPr lang="en-GB" b="1" dirty="0" smtClean="0"/>
              <a:t>GCstudio\Tasks </a:t>
            </a:r>
          </a:p>
          <a:p>
            <a:pPr lvl="2"/>
            <a:r>
              <a:rPr lang="en-GB" b="1" dirty="0" smtClean="0"/>
              <a:t>Putty</a:t>
            </a:r>
          </a:p>
          <a:p>
            <a:pPr lvl="2"/>
            <a:endParaRPr lang="en-GB" b="1" dirty="0"/>
          </a:p>
          <a:p>
            <a:pPr lvl="2"/>
            <a:r>
              <a:rPr lang="en-GB" b="1" smtClean="0"/>
              <a:t>Claude.io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05492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0431" y="1086092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4000872" y="2574522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 smtClean="0"/>
              <a:t>PIC18FxxQ35chip Family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Part </a:t>
            </a:r>
            <a:r>
              <a:rPr lang="en-GB" dirty="0"/>
              <a:t>18 – The GCBASIC tool chain</a:t>
            </a:r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28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15241</TotalTime>
  <Words>1101</Words>
  <Application>Microsoft Office PowerPoint</Application>
  <PresentationFormat>On-screen Show (16:9)</PresentationFormat>
  <Paragraphs>381</Paragraphs>
  <Slides>16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GCstudioThemeLight</vt:lpstr>
      <vt:lpstr>GCBASIC</vt:lpstr>
      <vt:lpstr>GCBASIC</vt:lpstr>
      <vt:lpstr>GCBASIC</vt:lpstr>
      <vt:lpstr>PIC18FxxQ35</vt:lpstr>
      <vt:lpstr>Videos...</vt:lpstr>
      <vt:lpstr>PowerPoint Presentation</vt:lpstr>
      <vt:lpstr>GCBASIC Compiler</vt:lpstr>
      <vt:lpstr>The GCBASIC Toolchain</vt:lpstr>
      <vt:lpstr>PowerPoint Presentation</vt:lpstr>
      <vt:lpstr>Tool chain</vt:lpstr>
      <vt:lpstr>The core compiler</vt:lpstr>
      <vt:lpstr>Compiler options</vt:lpstr>
      <vt:lpstr>Debugger options</vt:lpstr>
      <vt:lpstr>The Variants for Linux, BSD &amp; Mac</vt:lpstr>
      <vt:lpstr>Lab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793</cp:revision>
  <dcterms:created xsi:type="dcterms:W3CDTF">2019-01-08T20:03:06Z</dcterms:created>
  <dcterms:modified xsi:type="dcterms:W3CDTF">2026-08-21T08:49:38Z</dcterms:modified>
</cp:coreProperties>
</file>