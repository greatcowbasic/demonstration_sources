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24" r:id="rId2"/>
    <p:sldId id="325" r:id="rId3"/>
    <p:sldId id="326" r:id="rId4"/>
    <p:sldId id="327" r:id="rId5"/>
    <p:sldId id="328" r:id="rId6"/>
    <p:sldId id="329" r:id="rId7"/>
    <p:sldId id="330" r:id="rId8"/>
    <p:sldId id="331" r:id="rId9"/>
    <p:sldId id="333" r:id="rId10"/>
    <p:sldId id="321" r:id="rId11"/>
    <p:sldId id="322" r:id="rId12"/>
    <p:sldId id="288" r:id="rId13"/>
    <p:sldId id="305" r:id="rId14"/>
    <p:sldId id="334" r:id="rId15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150" d="100"/>
          <a:sy n="150" d="100"/>
        </p:scale>
        <p:origin x="-510" y="-3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09/08/2026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5 – a switch  sets the LEDs state</a:t>
            </a:r>
          </a:p>
        </p:txBody>
      </p:sp>
    </p:spTree>
    <p:extLst>
      <p:ext uri="{BB962C8B-B14F-4D97-AF65-F5344CB8AC3E}">
        <p14:creationId xmlns:p14="http://schemas.microsoft.com/office/powerpoint/2010/main" val="203808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552727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PIC18FxxQ35 </a:t>
            </a:r>
            <a:r>
              <a:rPr lang="en-GB" dirty="0"/>
              <a:t>chip Family</a:t>
            </a:r>
          </a:p>
          <a:p>
            <a:r>
              <a:rPr lang="en-GB" dirty="0"/>
              <a:t>Part 5 – a switch  sets the LEDs state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93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66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908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36421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085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50167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/>
              <a:t>1</a:t>
            </a:r>
            <a:r>
              <a:rPr lang="en-GB" sz="1000" dirty="0"/>
              <a:t>. 18-, 28- and 40-pin DIP sockets</a:t>
            </a:r>
          </a:p>
          <a:p>
            <a:r>
              <a:rPr lang="en-GB" sz="1000" dirty="0"/>
              <a:t>(although three sockets are provided, only one device may be used at a time)</a:t>
            </a:r>
          </a:p>
          <a:p>
            <a:r>
              <a:rPr lang="en-GB" sz="1000" dirty="0"/>
              <a:t>2. On-board, +5V regulator for direct input from 9V, 100 mA AC/DC wall adapter or</a:t>
            </a:r>
          </a:p>
          <a:p>
            <a:r>
              <a:rPr lang="en-GB" sz="1000" dirty="0"/>
              <a:t>9V battery, or hooks for a +5V, 100 mA regulated DC supply</a:t>
            </a:r>
          </a:p>
          <a:p>
            <a:r>
              <a:rPr lang="en-GB" sz="1000" dirty="0"/>
              <a:t>3. RS-232 socket and associated hardware for direct connection to an RS-232</a:t>
            </a:r>
          </a:p>
          <a:p>
            <a:r>
              <a:rPr lang="en-GB" sz="1000" dirty="0"/>
              <a:t>interface</a:t>
            </a:r>
          </a:p>
          <a:p>
            <a:r>
              <a:rPr lang="en-GB" sz="1000" dirty="0"/>
              <a:t>4. Programmer/debugger connectivity supporting MPLAB® ICD 3, MPLAB REAL</a:t>
            </a:r>
          </a:p>
          <a:p>
            <a:r>
              <a:rPr lang="en-GB" sz="1000" dirty="0"/>
              <a:t>ICE and </a:t>
            </a:r>
            <a:r>
              <a:rPr lang="en-GB" sz="1000" dirty="0" err="1"/>
              <a:t>PICkit</a:t>
            </a:r>
            <a:r>
              <a:rPr lang="en-GB" sz="1000" dirty="0"/>
              <a:t> 3</a:t>
            </a:r>
          </a:p>
          <a:p>
            <a:r>
              <a:rPr lang="en-GB" sz="1000" dirty="0"/>
              <a:t>5. </a:t>
            </a:r>
            <a:r>
              <a:rPr lang="en-GB" sz="1000" dirty="0" err="1"/>
              <a:t>PICkit</a:t>
            </a:r>
            <a:r>
              <a:rPr lang="en-GB" sz="1000" dirty="0"/>
              <a:t> Serial Connector for analysis of serial communications peripherals such</a:t>
            </a:r>
          </a:p>
          <a:p>
            <a:r>
              <a:rPr lang="en-GB" sz="1000" dirty="0"/>
              <a:t>as SPI or I2C™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6. 5 </a:t>
            </a:r>
            <a:r>
              <a:rPr lang="en-GB" sz="1000" b="1" u="sng" dirty="0" smtClean="0">
                <a:solidFill>
                  <a:srgbClr val="FF0000"/>
                </a:solidFill>
              </a:rPr>
              <a:t>k </a:t>
            </a:r>
            <a:r>
              <a:rPr lang="en-GB" sz="1000" b="1" u="sng" dirty="0">
                <a:solidFill>
                  <a:srgbClr val="FF0000"/>
                </a:solidFill>
              </a:rPr>
              <a:t>pot for devices with </a:t>
            </a:r>
            <a:r>
              <a:rPr lang="en-GB" sz="1000" b="1" u="sng" dirty="0" err="1">
                <a:solidFill>
                  <a:srgbClr val="FF0000"/>
                </a:solidFill>
              </a:rPr>
              <a:t>analog</a:t>
            </a:r>
            <a:r>
              <a:rPr lang="en-GB" sz="1000" b="1" u="sng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</a:t>
            </a:r>
            <a:r>
              <a:rPr lang="en-GB" sz="1000" b="1" u="sng" dirty="0">
                <a:solidFill>
                  <a:srgbClr val="FF0000"/>
                </a:solidFill>
              </a:rPr>
              <a:t>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dirty="0"/>
              <a:t>11. 32K x 8 Serial EEPROM</a:t>
            </a:r>
          </a:p>
          <a:p>
            <a:r>
              <a:rPr lang="en-GB" sz="1000" dirty="0"/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to</a:t>
            </a:r>
          </a:p>
          <a:p>
            <a:r>
              <a:rPr lang="en-GB" sz="1000" dirty="0"/>
              <a:t>MCU pins</a:t>
            </a:r>
          </a:p>
          <a:p>
            <a:r>
              <a:rPr lang="en-GB" sz="1000" dirty="0"/>
              <a:t>16. Microchip TC74 thermal sensor</a:t>
            </a:r>
          </a:p>
        </p:txBody>
      </p:sp>
    </p:spTree>
    <p:extLst>
      <p:ext uri="{BB962C8B-B14F-4D97-AF65-F5344CB8AC3E}">
        <p14:creationId xmlns:p14="http://schemas.microsoft.com/office/powerpoint/2010/main" val="192161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195737" y="1779662"/>
            <a:ext cx="891092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08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Schematic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823911"/>
            <a:ext cx="2659261" cy="2262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403648" y="1347614"/>
            <a:ext cx="3240360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771800" y="1689098"/>
            <a:ext cx="1296144" cy="738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99592" y="2643758"/>
            <a:ext cx="4792242" cy="917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80" y="1532637"/>
            <a:ext cx="3324026" cy="2765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491880" y="3033713"/>
            <a:ext cx="864096" cy="12905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2771800" y="1347614"/>
            <a:ext cx="1856534" cy="858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2195736" y="1476394"/>
            <a:ext cx="792088" cy="5820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3493308" y="2391782"/>
            <a:ext cx="612068" cy="46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1259632" y="2391782"/>
            <a:ext cx="2304256" cy="3239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259632" y="2574888"/>
            <a:ext cx="288032" cy="71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 rot="16200000">
            <a:off x="705344" y="2789342"/>
            <a:ext cx="288032" cy="71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3931218" y="2206138"/>
            <a:ext cx="424758" cy="858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21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20072" y="51470"/>
            <a:ext cx="3024336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Tutorial overview</a:t>
            </a:r>
            <a:endParaRPr lang="en-GB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4856087" cy="2744167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Initialise microcontroller</a:t>
            </a:r>
          </a:p>
          <a:p>
            <a:endParaRPr lang="en-GB" dirty="0" smtClean="0"/>
          </a:p>
          <a:p>
            <a:r>
              <a:rPr lang="en-GB" dirty="0" smtClean="0"/>
              <a:t>Check the switch </a:t>
            </a:r>
          </a:p>
          <a:p>
            <a:pPr lvl="1"/>
            <a:r>
              <a:rPr lang="en-GB" dirty="0" smtClean="0"/>
              <a:t>If pushed then toggle LED</a:t>
            </a:r>
          </a:p>
          <a:p>
            <a:pPr lvl="1"/>
            <a:r>
              <a:rPr lang="en-GB" dirty="0" smtClean="0"/>
              <a:t>If not pushed then do it again</a:t>
            </a:r>
          </a:p>
          <a:p>
            <a:pPr lvl="1"/>
            <a:endParaRPr lang="en-GB" dirty="0" smtClean="0"/>
          </a:p>
          <a:p>
            <a:r>
              <a:rPr lang="en-GB" dirty="0" smtClean="0"/>
              <a:t>Checking the switch by using function to inspect the switch state</a:t>
            </a:r>
          </a:p>
          <a:p>
            <a:endParaRPr lang="en-GB" dirty="0"/>
          </a:p>
          <a:p>
            <a:r>
              <a:rPr lang="en-GB" dirty="0" smtClean="0"/>
              <a:t>Repeat</a:t>
            </a:r>
            <a:endParaRPr lang="en-GB" dirty="0"/>
          </a:p>
        </p:txBody>
      </p:sp>
      <p:sp>
        <p:nvSpPr>
          <p:cNvPr id="4" name="Flowchart: Alternate Process 3"/>
          <p:cNvSpPr/>
          <p:nvPr/>
        </p:nvSpPr>
        <p:spPr>
          <a:xfrm>
            <a:off x="5580112" y="33950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Initialise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5580112" y="98757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LEDs off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8" name="Flowchart: Decision 7"/>
          <p:cNvSpPr/>
          <p:nvPr/>
        </p:nvSpPr>
        <p:spPr>
          <a:xfrm>
            <a:off x="5693268" y="1633984"/>
            <a:ext cx="1357865" cy="57606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dirty="0" smtClean="0">
                <a:solidFill>
                  <a:schemeClr val="tx1"/>
                </a:solidFill>
              </a:rPr>
              <a:t>Keypressed = TRUE</a:t>
            </a:r>
            <a:endParaRPr lang="en-GB" sz="12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300192" y="699542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300192" y="134761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Alternate Process 21"/>
          <p:cNvSpPr/>
          <p:nvPr/>
        </p:nvSpPr>
        <p:spPr>
          <a:xfrm>
            <a:off x="5580112" y="4443958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Loop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26" name="Elbow Connector 25"/>
          <p:cNvCxnSpPr>
            <a:stCxn id="22" idx="1"/>
            <a:endCxn id="8" idx="1"/>
          </p:cNvCxnSpPr>
          <p:nvPr/>
        </p:nvCxnSpPr>
        <p:spPr>
          <a:xfrm rot="10800000" flipH="1">
            <a:off x="5580112" y="1922016"/>
            <a:ext cx="113156" cy="2701962"/>
          </a:xfrm>
          <a:prstGeom prst="bentConnector3">
            <a:avLst>
              <a:gd name="adj1" fmla="val -20202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Alternate Process 32"/>
          <p:cNvSpPr/>
          <p:nvPr/>
        </p:nvSpPr>
        <p:spPr>
          <a:xfrm>
            <a:off x="7164288" y="3075806"/>
            <a:ext cx="1008112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Toggle LEDs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>
            <a:stCxn id="8" idx="2"/>
            <a:endCxn id="22" idx="0"/>
          </p:cNvCxnSpPr>
          <p:nvPr/>
        </p:nvCxnSpPr>
        <p:spPr>
          <a:xfrm flipH="1">
            <a:off x="6372200" y="2210048"/>
            <a:ext cx="1" cy="22339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endCxn id="33" idx="0"/>
          </p:cNvCxnSpPr>
          <p:nvPr/>
        </p:nvCxnSpPr>
        <p:spPr>
          <a:xfrm rot="16200000" flipH="1">
            <a:off x="6768244" y="2175706"/>
            <a:ext cx="1152128" cy="648072"/>
          </a:xfrm>
          <a:prstGeom prst="bentConnector3">
            <a:avLst>
              <a:gd name="adj1" fmla="val 39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hape 38"/>
          <p:cNvCxnSpPr>
            <a:stCxn id="33" idx="2"/>
            <a:endCxn id="22" idx="3"/>
          </p:cNvCxnSpPr>
          <p:nvPr/>
        </p:nvCxnSpPr>
        <p:spPr>
          <a:xfrm rot="5400000">
            <a:off x="6822250" y="3777884"/>
            <a:ext cx="1188132" cy="50405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156176" y="3075806"/>
            <a:ext cx="441146" cy="3539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 smtClean="0"/>
              <a:t>No</a:t>
            </a:r>
            <a:endParaRPr lang="en-GB" dirty="0"/>
          </a:p>
        </p:txBody>
      </p:sp>
      <p:sp>
        <p:nvSpPr>
          <p:cNvPr id="50" name="TextBox 49"/>
          <p:cNvSpPr txBox="1"/>
          <p:nvPr/>
        </p:nvSpPr>
        <p:spPr>
          <a:xfrm>
            <a:off x="7438058" y="2400548"/>
            <a:ext cx="468783" cy="3539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 smtClean="0"/>
              <a:t>Yes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273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Lab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Review GCSTUDIO options</a:t>
            </a:r>
          </a:p>
          <a:p>
            <a:endParaRPr lang="en-GB" dirty="0" smtClean="0"/>
          </a:p>
          <a:p>
            <a:r>
              <a:rPr lang="en-GB" dirty="0" smtClean="0"/>
              <a:t>Examine the sample code</a:t>
            </a:r>
          </a:p>
          <a:p>
            <a:r>
              <a:rPr lang="en-GB" dirty="0" smtClean="0"/>
              <a:t>Review the results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291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7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03998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552727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PIC18FxxQ35 </a:t>
            </a:r>
            <a:r>
              <a:rPr lang="en-GB" dirty="0"/>
              <a:t>chip Family</a:t>
            </a:r>
          </a:p>
          <a:p>
            <a:r>
              <a:rPr lang="en-GB" dirty="0"/>
              <a:t>Part 5 – a switch  sets the LEDs state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6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16639</TotalTime>
  <Words>758</Words>
  <Application>Microsoft Office PowerPoint</Application>
  <PresentationFormat>On-screen Show (16:9)</PresentationFormat>
  <Paragraphs>132</Paragraphs>
  <Slides>14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Schematic</vt:lpstr>
      <vt:lpstr>Tutorial overview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740</cp:revision>
  <dcterms:created xsi:type="dcterms:W3CDTF">2019-01-08T20:03:06Z</dcterms:created>
  <dcterms:modified xsi:type="dcterms:W3CDTF">2026-08-09T08:43:39Z</dcterms:modified>
</cp:coreProperties>
</file>