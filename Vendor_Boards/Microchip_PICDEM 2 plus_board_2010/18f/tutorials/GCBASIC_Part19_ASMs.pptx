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362" r:id="rId2"/>
    <p:sldId id="363" r:id="rId3"/>
    <p:sldId id="364" r:id="rId4"/>
    <p:sldId id="365" r:id="rId5"/>
    <p:sldId id="296" r:id="rId6"/>
    <p:sldId id="355" r:id="rId7"/>
    <p:sldId id="357" r:id="rId8"/>
    <p:sldId id="358" r:id="rId9"/>
    <p:sldId id="359" r:id="rId10"/>
    <p:sldId id="360" r:id="rId11"/>
    <p:sldId id="288" r:id="rId12"/>
    <p:sldId id="353" r:id="rId13"/>
    <p:sldId id="366" r:id="rId14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>
        <p:scale>
          <a:sx n="150" d="100"/>
          <a:sy n="150" d="100"/>
        </p:scale>
        <p:origin x="-510" y="-3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3471A-AA0F-4CD3-BA89-C1C7FB68C6DB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9001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26/08/2026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Conf:[defaul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pPr marL="538163" indent="-538163"/>
            <a:r>
              <a:rPr lang="en-GB" sz="1400" dirty="0" smtClean="0"/>
              <a:t>Part </a:t>
            </a:r>
            <a:r>
              <a:rPr lang="en-GB" sz="1400" dirty="0" smtClean="0"/>
              <a:t>19 </a:t>
            </a:r>
            <a:r>
              <a:rPr lang="en-GB" sz="1400" dirty="0"/>
              <a:t>– </a:t>
            </a:r>
            <a:r>
              <a:rPr lang="en-GB" sz="1400" dirty="0"/>
              <a:t>Assembly , alternatives assemblers and Debugging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860049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3219822"/>
            <a:ext cx="3672408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 smtClean="0"/>
              <a:t>PIC18FxxQ35chip Family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Part 19 </a:t>
            </a:r>
            <a:r>
              <a:rPr lang="en-GB" dirty="0"/>
              <a:t>– Assembly , alternatives assemblers and Debugging</a:t>
            </a: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4026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15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430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6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</a:t>
            </a:r>
            <a:r>
              <a:rPr lang="en-GB" sz="1100" dirty="0" smtClean="0"/>
              <a:t>chip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The </a:t>
            </a:r>
            <a:r>
              <a:rPr lang="en-GB" sz="1100" dirty="0"/>
              <a:t>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Assembly , alternatives assemblers and Debugging</a:t>
            </a:r>
            <a:endParaRPr lang="en-GB" sz="1100" b="1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9" y="170765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707904" y="1923677"/>
            <a:ext cx="3960440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</a:t>
            </a:r>
            <a:r>
              <a:rPr lang="en-GB" dirty="0" smtClean="0"/>
              <a:t>18FxxQ35 chip </a:t>
            </a:r>
            <a:r>
              <a:rPr lang="en-GB" dirty="0" smtClean="0"/>
              <a:t>family</a:t>
            </a:r>
          </a:p>
          <a:p>
            <a:endParaRPr lang="en-GB" dirty="0" smtClean="0"/>
          </a:p>
          <a:p>
            <a:r>
              <a:rPr lang="en-GB" dirty="0" smtClean="0"/>
              <a:t>GCBASIC is a cross platform with common code translation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331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lowchart: Process 43"/>
          <p:cNvSpPr/>
          <p:nvPr/>
        </p:nvSpPr>
        <p:spPr>
          <a:xfrm>
            <a:off x="2051720" y="2161188"/>
            <a:ext cx="6480720" cy="11521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07504" y="216118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sp>
        <p:nvSpPr>
          <p:cNvPr id="15" name="Flowchart: Document 14"/>
          <p:cNvSpPr/>
          <p:nvPr/>
        </p:nvSpPr>
        <p:spPr>
          <a:xfrm>
            <a:off x="2451115" y="1297092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Source Code</a:t>
            </a:r>
            <a:endParaRPr lang="en-GB" sz="1600" dirty="0"/>
          </a:p>
        </p:txBody>
      </p:sp>
      <p:sp>
        <p:nvSpPr>
          <p:cNvPr id="16" name="Flowchart: Process 15"/>
          <p:cNvSpPr/>
          <p:nvPr/>
        </p:nvSpPr>
        <p:spPr>
          <a:xfrm>
            <a:off x="2271095" y="2449220"/>
            <a:ext cx="1512168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Preprocessor</a:t>
            </a:r>
            <a:endParaRPr lang="en-GB" sz="1600" dirty="0"/>
          </a:p>
        </p:txBody>
      </p:sp>
      <p:sp>
        <p:nvSpPr>
          <p:cNvPr id="17" name="Flowchart: Document 16"/>
          <p:cNvSpPr/>
          <p:nvPr/>
        </p:nvSpPr>
        <p:spPr>
          <a:xfrm>
            <a:off x="2451115" y="3601348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Libraries</a:t>
            </a:r>
            <a:endParaRPr lang="en-GB" sz="1600" dirty="0"/>
          </a:p>
        </p:txBody>
      </p:sp>
      <p:sp>
        <p:nvSpPr>
          <p:cNvPr id="18" name="Flowchart: Process 17"/>
          <p:cNvSpPr/>
          <p:nvPr/>
        </p:nvSpPr>
        <p:spPr>
          <a:xfrm>
            <a:off x="399593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Code Translator</a:t>
            </a:r>
            <a:endParaRPr lang="en-GB" sz="1600" dirty="0"/>
          </a:p>
        </p:txBody>
      </p:sp>
      <p:sp>
        <p:nvSpPr>
          <p:cNvPr id="19" name="Flowchart: Process 18"/>
          <p:cNvSpPr/>
          <p:nvPr/>
        </p:nvSpPr>
        <p:spPr>
          <a:xfrm>
            <a:off x="543609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Assembler</a:t>
            </a:r>
            <a:endParaRPr lang="en-GB" sz="1600" dirty="0"/>
          </a:p>
        </p:txBody>
      </p:sp>
      <p:sp>
        <p:nvSpPr>
          <p:cNvPr id="20" name="Flowchart: Process 19"/>
          <p:cNvSpPr/>
          <p:nvPr/>
        </p:nvSpPr>
        <p:spPr>
          <a:xfrm>
            <a:off x="6948264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Linker</a:t>
            </a:r>
            <a:endParaRPr lang="en-GB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066182" y="920259"/>
            <a:ext cx="1874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High Level Language</a:t>
            </a:r>
            <a:endParaRPr lang="en-GB" sz="1600" dirty="0"/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5220072" y="2737252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3"/>
            <a:endCxn id="20" idx="1"/>
          </p:cNvCxnSpPr>
          <p:nvPr/>
        </p:nvCxnSpPr>
        <p:spPr>
          <a:xfrm>
            <a:off x="6660232" y="2737252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27179" y="1969567"/>
            <a:ext cx="0" cy="479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027179" y="30252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3783263" y="2737252"/>
            <a:ext cx="2126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6156176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Assembly Language</a:t>
            </a:r>
          </a:p>
          <a:p>
            <a:pPr algn="ctr"/>
            <a:r>
              <a:rPr lang="en-GB" sz="1600" dirty="0" smtClean="0"/>
              <a:t>ASM file</a:t>
            </a:r>
          </a:p>
          <a:p>
            <a:pPr algn="ctr"/>
            <a:endParaRPr lang="en-GB" sz="1600" dirty="0"/>
          </a:p>
        </p:txBody>
      </p:sp>
      <p:sp>
        <p:nvSpPr>
          <p:cNvPr id="38" name="Flowchart: Document 37"/>
          <p:cNvSpPr/>
          <p:nvPr/>
        </p:nvSpPr>
        <p:spPr>
          <a:xfrm>
            <a:off x="7668344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Absolute Machine Code</a:t>
            </a:r>
          </a:p>
          <a:p>
            <a:pPr algn="ctr"/>
            <a:r>
              <a:rPr lang="en-GB" sz="1600" dirty="0" smtClean="0"/>
              <a:t>HEX file</a:t>
            </a:r>
          </a:p>
          <a:p>
            <a:pPr algn="ctr"/>
            <a:endParaRPr lang="en-GB" sz="16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6660232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8172400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92548" y="4659982"/>
            <a:ext cx="2750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8 bit PIC, AVR, AVR-DX and LGT</a:t>
            </a:r>
            <a:endParaRPr lang="en-GB" sz="1600" dirty="0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The core compiler</a:t>
            </a:r>
            <a:endParaRPr lang="en-GB" dirty="0"/>
          </a:p>
        </p:txBody>
      </p:sp>
      <p:sp>
        <p:nvSpPr>
          <p:cNvPr id="48" name="Flowchart: Document 47"/>
          <p:cNvSpPr/>
          <p:nvPr/>
        </p:nvSpPr>
        <p:spPr>
          <a:xfrm>
            <a:off x="5508104" y="843558"/>
            <a:ext cx="1296144" cy="720080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Reports:</a:t>
            </a:r>
          </a:p>
          <a:p>
            <a:pPr algn="ctr"/>
            <a:r>
              <a:rPr lang="en-GB" sz="1600" dirty="0" smtClean="0"/>
              <a:t>TXT and HTML</a:t>
            </a:r>
          </a:p>
          <a:p>
            <a:pPr algn="ctr"/>
            <a:endParaRPr lang="en-GB" sz="1600" dirty="0"/>
          </a:p>
        </p:txBody>
      </p:sp>
      <p:cxnSp>
        <p:nvCxnSpPr>
          <p:cNvPr id="57" name="Straight Arrow Connector 56"/>
          <p:cNvCxnSpPr/>
          <p:nvPr/>
        </p:nvCxnSpPr>
        <p:spPr>
          <a:xfrm flipV="1">
            <a:off x="6300192" y="149163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208537" y="1948959"/>
            <a:ext cx="1807995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8137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lowchart: Process 43"/>
          <p:cNvSpPr/>
          <p:nvPr/>
        </p:nvSpPr>
        <p:spPr>
          <a:xfrm>
            <a:off x="2051720" y="2161188"/>
            <a:ext cx="4796755" cy="11521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07504" y="216118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sp>
        <p:nvSpPr>
          <p:cNvPr id="15" name="Flowchart: Document 14"/>
          <p:cNvSpPr/>
          <p:nvPr/>
        </p:nvSpPr>
        <p:spPr>
          <a:xfrm>
            <a:off x="2451115" y="1297092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Source Code</a:t>
            </a:r>
            <a:endParaRPr lang="en-GB" sz="1600" dirty="0"/>
          </a:p>
        </p:txBody>
      </p:sp>
      <p:sp>
        <p:nvSpPr>
          <p:cNvPr id="16" name="Flowchart: Process 15"/>
          <p:cNvSpPr/>
          <p:nvPr/>
        </p:nvSpPr>
        <p:spPr>
          <a:xfrm>
            <a:off x="2271095" y="2449220"/>
            <a:ext cx="1512168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Preprocessor</a:t>
            </a:r>
            <a:endParaRPr lang="en-GB" sz="1600" dirty="0"/>
          </a:p>
        </p:txBody>
      </p:sp>
      <p:sp>
        <p:nvSpPr>
          <p:cNvPr id="17" name="Flowchart: Document 16"/>
          <p:cNvSpPr/>
          <p:nvPr/>
        </p:nvSpPr>
        <p:spPr>
          <a:xfrm>
            <a:off x="2451115" y="3601348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Libraries</a:t>
            </a:r>
            <a:endParaRPr lang="en-GB" sz="1600" dirty="0"/>
          </a:p>
        </p:txBody>
      </p:sp>
      <p:sp>
        <p:nvSpPr>
          <p:cNvPr id="18" name="Flowchart: Process 17"/>
          <p:cNvSpPr/>
          <p:nvPr/>
        </p:nvSpPr>
        <p:spPr>
          <a:xfrm>
            <a:off x="399593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Code Translator</a:t>
            </a:r>
            <a:endParaRPr lang="en-GB" sz="1600" dirty="0"/>
          </a:p>
        </p:txBody>
      </p:sp>
      <p:sp>
        <p:nvSpPr>
          <p:cNvPr id="19" name="Flowchart: Process 18"/>
          <p:cNvSpPr/>
          <p:nvPr/>
        </p:nvSpPr>
        <p:spPr>
          <a:xfrm>
            <a:off x="543609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Assembler</a:t>
            </a:r>
            <a:endParaRPr lang="en-GB" sz="1600" dirty="0"/>
          </a:p>
        </p:txBody>
      </p:sp>
      <p:sp>
        <p:nvSpPr>
          <p:cNvPr id="20" name="Flowchart: Process 19"/>
          <p:cNvSpPr/>
          <p:nvPr/>
        </p:nvSpPr>
        <p:spPr>
          <a:xfrm>
            <a:off x="6948264" y="2449220"/>
            <a:ext cx="1224136" cy="576064"/>
          </a:xfrm>
          <a:prstGeom prst="flowChartProcess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Linker</a:t>
            </a:r>
            <a:endParaRPr lang="en-GB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066182" y="920259"/>
            <a:ext cx="1874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High Level Language</a:t>
            </a:r>
            <a:endParaRPr lang="en-GB" sz="1600" dirty="0"/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5220072" y="2737252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27179" y="1969567"/>
            <a:ext cx="0" cy="479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027179" y="30252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3783263" y="2737252"/>
            <a:ext cx="2126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6156176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Assembly Language</a:t>
            </a:r>
          </a:p>
          <a:p>
            <a:pPr algn="ctr"/>
            <a:r>
              <a:rPr lang="en-GB" sz="1600" dirty="0" smtClean="0"/>
              <a:t>file</a:t>
            </a:r>
          </a:p>
          <a:p>
            <a:pPr algn="ctr"/>
            <a:endParaRPr lang="en-GB" sz="1600" dirty="0"/>
          </a:p>
        </p:txBody>
      </p:sp>
      <p:sp>
        <p:nvSpPr>
          <p:cNvPr id="38" name="Flowchart: Document 37"/>
          <p:cNvSpPr/>
          <p:nvPr/>
        </p:nvSpPr>
        <p:spPr>
          <a:xfrm>
            <a:off x="7668344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Absolute Machine Code</a:t>
            </a:r>
          </a:p>
          <a:p>
            <a:pPr algn="ctr"/>
            <a:r>
              <a:rPr lang="en-GB" sz="1600" dirty="0" smtClean="0"/>
              <a:t>HEX file</a:t>
            </a:r>
          </a:p>
          <a:p>
            <a:pPr algn="ctr"/>
            <a:endParaRPr lang="en-GB" sz="16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6660232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8172400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Compiler options</a:t>
            </a:r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6922566" y="1397168"/>
            <a:ext cx="1255712" cy="10156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 smtClean="0"/>
              <a:t>PIC-AS</a:t>
            </a:r>
            <a:r>
              <a:rPr lang="en-GB" sz="1200" dirty="0" smtClean="0"/>
              <a:t>, MPASM, </a:t>
            </a:r>
          </a:p>
          <a:p>
            <a:pPr algn="ctr"/>
            <a:r>
              <a:rPr lang="en-GB" sz="1200" dirty="0" smtClean="0"/>
              <a:t>MPLAB-IDE,</a:t>
            </a:r>
          </a:p>
          <a:p>
            <a:pPr algn="ctr"/>
            <a:r>
              <a:rPr lang="en-GB" sz="1200" dirty="0" smtClean="0"/>
              <a:t>GPASM, AVRASM2</a:t>
            </a:r>
            <a:endParaRPr lang="en-GB" sz="1200" dirty="0"/>
          </a:p>
        </p:txBody>
      </p:sp>
      <p:cxnSp>
        <p:nvCxnSpPr>
          <p:cNvPr id="28" name="Shape 27"/>
          <p:cNvCxnSpPr>
            <a:stCxn id="37" idx="3"/>
            <a:endCxn id="20" idx="2"/>
          </p:cNvCxnSpPr>
          <p:nvPr/>
        </p:nvCxnSpPr>
        <p:spPr>
          <a:xfrm flipV="1">
            <a:off x="7452320" y="3025284"/>
            <a:ext cx="108012" cy="9361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Document 32"/>
          <p:cNvSpPr/>
          <p:nvPr/>
        </p:nvSpPr>
        <p:spPr>
          <a:xfrm>
            <a:off x="5508104" y="843558"/>
            <a:ext cx="1296144" cy="720080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Reports:</a:t>
            </a:r>
          </a:p>
          <a:p>
            <a:pPr algn="ctr"/>
            <a:r>
              <a:rPr lang="en-GB" sz="1600" dirty="0" smtClean="0"/>
              <a:t>TXT and HTML</a:t>
            </a:r>
          </a:p>
          <a:p>
            <a:pPr algn="ctr"/>
            <a:endParaRPr lang="en-GB" sz="1600" dirty="0"/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6300192" y="149163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764310" y="1905000"/>
            <a:ext cx="1807995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26" name="TextBox 25"/>
          <p:cNvSpPr txBox="1"/>
          <p:nvPr/>
        </p:nvSpPr>
        <p:spPr>
          <a:xfrm>
            <a:off x="5492548" y="4659982"/>
            <a:ext cx="2750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8 bit PIC, AVR, AVR-DX and LGT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92753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Lab – Pre 2026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491630"/>
            <a:ext cx="6447501" cy="3507854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buNone/>
            </a:pPr>
            <a:r>
              <a:rPr lang="en-GB" sz="1200" dirty="0" smtClean="0"/>
              <a:t>We will</a:t>
            </a:r>
          </a:p>
          <a:p>
            <a:pPr marL="266700" indent="-266700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Review the  simple LED program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/>
              <a:t>Change to PIC-AS in </a:t>
            </a:r>
            <a:r>
              <a:rPr lang="en-GB" sz="1000" dirty="0" err="1" smtClean="0"/>
              <a:t>Prefs</a:t>
            </a:r>
            <a:r>
              <a:rPr lang="en-GB" sz="1000" dirty="0" smtClean="0"/>
              <a:t> </a:t>
            </a:r>
            <a:r>
              <a:rPr lang="en-GB" sz="1000" dirty="0"/>
              <a:t>Editor</a:t>
            </a:r>
          </a:p>
          <a:p>
            <a:pPr marL="266700" indent="-266700">
              <a:spcBef>
                <a:spcPts val="0"/>
              </a:spcBef>
              <a:buFont typeface="+mj-lt"/>
              <a:buAutoNum type="arabicPeriod"/>
            </a:pPr>
            <a:endParaRPr lang="en-GB" sz="1000" dirty="0" smtClean="0"/>
          </a:p>
          <a:p>
            <a:pPr marL="266700" indent="-266700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Create a Project in MPLAB-X using the GCBASIC .S as the source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Select Standalone project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Specify chip, select the Simulator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Select PIC-AS, latest version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Name project {</a:t>
            </a:r>
            <a:r>
              <a:rPr lang="en-GB" sz="1000" dirty="0" err="1" smtClean="0"/>
              <a:t>chipname</a:t>
            </a:r>
            <a:r>
              <a:rPr lang="en-GB" sz="1000" dirty="0" smtClean="0"/>
              <a:t>}, specify same directory.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Finish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Now, add the GCBASIC source file</a:t>
            </a:r>
          </a:p>
          <a:p>
            <a:pPr marL="893763" lvl="2" indent="-88900">
              <a:spcBef>
                <a:spcPts val="0"/>
              </a:spcBef>
              <a:buNone/>
            </a:pPr>
            <a:r>
              <a:rPr lang="en-GB" sz="1000" dirty="0" smtClean="0"/>
              <a:t>Add existing item/select source .S file with AUTO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endParaRPr lang="en-GB" sz="1000" dirty="0" smtClean="0"/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Select File/Project Properties</a:t>
            </a:r>
          </a:p>
          <a:p>
            <a:pPr marL="893763" lvl="2" indent="-88900">
              <a:spcBef>
                <a:spcPts val="0"/>
              </a:spcBef>
              <a:buNone/>
            </a:pPr>
            <a:r>
              <a:rPr lang="en-GB" sz="1000" dirty="0" smtClean="0"/>
              <a:t>Set  </a:t>
            </a:r>
            <a:r>
              <a:rPr lang="en-GB" sz="1000" dirty="0" smtClean="0">
                <a:hlinkClick r:id="rId2"/>
              </a:rPr>
              <a:t>Conf:[default</a:t>
            </a:r>
            <a:r>
              <a:rPr lang="en-GB" sz="1000" dirty="0" smtClean="0"/>
              <a:t>] Simulator  / Instruction Frequency to 64</a:t>
            </a:r>
          </a:p>
          <a:p>
            <a:pPr marL="893763" lvl="2" indent="-88900">
              <a:spcBef>
                <a:spcPts val="0"/>
              </a:spcBef>
              <a:buNone/>
            </a:pPr>
            <a:r>
              <a:rPr lang="en-GB" sz="1000" dirty="0" smtClean="0"/>
              <a:t>Set  </a:t>
            </a:r>
            <a:r>
              <a:rPr lang="en-GB" sz="1000" dirty="0" smtClean="0">
                <a:hlinkClick r:id="rId2"/>
              </a:rPr>
              <a:t>Conf:[default</a:t>
            </a:r>
            <a:r>
              <a:rPr lang="en-GB" sz="1000" dirty="0" smtClean="0"/>
              <a:t>] Building / Check Execute this line after build</a:t>
            </a:r>
          </a:p>
          <a:p>
            <a:pPr marL="893763" lvl="3" indent="-88900">
              <a:spcBef>
                <a:spcPts val="0"/>
              </a:spcBef>
              <a:buNone/>
            </a:pPr>
            <a:r>
              <a:rPr lang="en-GB" sz="1000" dirty="0" smtClean="0"/>
              <a:t>C:\GCSTUDIO\PICKitPlus\pickitcommandline.exe -w -p${Device} -f${</a:t>
            </a:r>
            <a:r>
              <a:rPr lang="en-GB" sz="1000" dirty="0" err="1" smtClean="0"/>
              <a:t>ImagePath</a:t>
            </a:r>
            <a:r>
              <a:rPr lang="en-GB" sz="1000" dirty="0" smtClean="0"/>
              <a:t>} -</a:t>
            </a:r>
            <a:r>
              <a:rPr lang="en-GB" sz="1000" dirty="0" err="1" smtClean="0"/>
              <a:t>mpec</a:t>
            </a:r>
            <a:r>
              <a:rPr lang="en-GB" sz="1000" dirty="0" smtClean="0"/>
              <a:t> -</a:t>
            </a:r>
            <a:r>
              <a:rPr lang="en-GB" sz="1000" dirty="0" err="1" smtClean="0"/>
              <a:t>zv</a:t>
            </a:r>
            <a:r>
              <a:rPr lang="en-GB" sz="1000" dirty="0" smtClean="0"/>
              <a:t> -a5</a:t>
            </a:r>
          </a:p>
          <a:p>
            <a:pPr marL="893763" lvl="2" indent="-88900">
              <a:spcBef>
                <a:spcPts val="0"/>
              </a:spcBef>
              <a:buNone/>
            </a:pPr>
            <a:r>
              <a:rPr lang="en-GB" sz="1000" dirty="0" smtClean="0"/>
              <a:t>Press OK to save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endParaRPr lang="en-GB" sz="1000" dirty="0" smtClean="0"/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Test compile &lt;F11&gt; and program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endParaRPr lang="en-GB" sz="1000" dirty="0" smtClean="0"/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Use the debugger to walk the code</a:t>
            </a:r>
            <a:endParaRPr lang="en-GB" sz="800" dirty="0" smtClean="0"/>
          </a:p>
          <a:p>
            <a:pPr marL="829354" lvl="1" indent="-457200">
              <a:spcBef>
                <a:spcPts val="0"/>
              </a:spcBef>
              <a:buFont typeface="+mj-lt"/>
              <a:buAutoNum type="arabicPeriod"/>
            </a:pPr>
            <a:endParaRPr lang="en-GB" sz="800" dirty="0" smtClean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228184" y="5452070"/>
            <a:ext cx="9144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86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Lab – Post 2025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491630"/>
            <a:ext cx="6447501" cy="3507854"/>
          </a:xfrm>
          <a:noFill/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buNone/>
            </a:pPr>
            <a:r>
              <a:rPr lang="en-GB" sz="1200" dirty="0" smtClean="0"/>
              <a:t>We will</a:t>
            </a:r>
          </a:p>
          <a:p>
            <a:pPr marL="457200" indent="-457200">
              <a:spcBef>
                <a:spcPts val="0"/>
              </a:spcBef>
              <a:buNone/>
            </a:pPr>
            <a:endParaRPr lang="en-GB" sz="1200" dirty="0" smtClean="0"/>
          </a:p>
          <a:p>
            <a:pPr marL="266700" indent="-266700">
              <a:spcBef>
                <a:spcPts val="0"/>
              </a:spcBef>
              <a:buFont typeface="+mj-lt"/>
              <a:buAutoNum type="arabicPeriod"/>
            </a:pPr>
            <a:r>
              <a:rPr lang="en-GB" dirty="0" smtClean="0"/>
              <a:t>Review the  simple LED program</a:t>
            </a:r>
          </a:p>
          <a:p>
            <a:pPr marL="266700" indent="-266700">
              <a:spcBef>
                <a:spcPts val="0"/>
              </a:spcBef>
              <a:buFont typeface="+mj-lt"/>
              <a:buAutoNum type="arabicPeriod"/>
            </a:pPr>
            <a:endParaRPr lang="en-GB" dirty="0" smtClean="0"/>
          </a:p>
          <a:p>
            <a:pPr marL="266700" indent="-266700">
              <a:spcBef>
                <a:spcPts val="0"/>
              </a:spcBef>
              <a:buFont typeface="+mj-lt"/>
              <a:buAutoNum type="arabicPeriod"/>
            </a:pPr>
            <a:r>
              <a:rPr lang="en-GB" dirty="0" smtClean="0"/>
              <a:t>Start the GC Code PIC Debugger</a:t>
            </a:r>
            <a:endParaRPr lang="en-GB" dirty="0"/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400" dirty="0" smtClean="0"/>
              <a:t>Select the debugger tool or the simulator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400" dirty="0" smtClean="0"/>
              <a:t>Use the debugger to walk the code</a:t>
            </a:r>
          </a:p>
          <a:p>
            <a:pPr marL="839787" lvl="2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Source Code </a:t>
            </a:r>
          </a:p>
          <a:p>
            <a:pPr marL="839787" lvl="2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Variables</a:t>
            </a:r>
          </a:p>
          <a:p>
            <a:pPr marL="839787" lvl="2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Registers</a:t>
            </a:r>
          </a:p>
          <a:p>
            <a:pPr marL="839787" lvl="2" indent="-168275">
              <a:spcBef>
                <a:spcPts val="0"/>
              </a:spcBef>
              <a:buFont typeface="+mj-lt"/>
              <a:buAutoNum type="arabicPeriod"/>
            </a:pPr>
            <a:endParaRPr lang="en-GB" sz="1000" dirty="0" smtClean="0"/>
          </a:p>
          <a:p>
            <a:pPr marL="829354" lvl="1" indent="-457200">
              <a:spcBef>
                <a:spcPts val="0"/>
              </a:spcBef>
              <a:buFont typeface="+mj-lt"/>
              <a:buAutoNum type="arabicPeriod"/>
            </a:pPr>
            <a:endParaRPr lang="en-GB" sz="800" dirty="0" smtClean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228184" y="5452070"/>
            <a:ext cx="9144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1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6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</a:t>
            </a:r>
            <a:r>
              <a:rPr lang="en-GB" sz="1100" dirty="0" smtClean="0"/>
              <a:t>chip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</a:t>
            </a:r>
            <a:r>
              <a:rPr lang="en-GB" sz="1100" dirty="0"/>
              <a:t>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Debugging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15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158100"/>
            <a:ext cx="4124707" cy="1234727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2574522"/>
            <a:ext cx="3672408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 smtClean="0"/>
              <a:t>PIC18FxxQ35chip Family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Part 19 </a:t>
            </a:r>
            <a:r>
              <a:rPr lang="en-GB" dirty="0"/>
              <a:t>– Assembly , alternatives assemblers and Debugging</a:t>
            </a:r>
          </a:p>
          <a:p>
            <a:pPr algn="l"/>
            <a:endParaRPr lang="en-GB" dirty="0"/>
          </a:p>
        </p:txBody>
      </p:sp>
      <p:pic>
        <p:nvPicPr>
          <p:cNvPr id="6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255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15417</TotalTime>
  <Words>728</Words>
  <Application>Microsoft Office PowerPoint</Application>
  <PresentationFormat>On-screen Show (16:9)</PresentationFormat>
  <Paragraphs>150</Paragraphs>
  <Slides>13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The core compiler</vt:lpstr>
      <vt:lpstr>Compiler options</vt:lpstr>
      <vt:lpstr>Lab – Pre 2026</vt:lpstr>
      <vt:lpstr>Lab – Post 2025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795</cp:revision>
  <dcterms:created xsi:type="dcterms:W3CDTF">2019-01-08T20:03:06Z</dcterms:created>
  <dcterms:modified xsi:type="dcterms:W3CDTF">2026-08-26T07:46:24Z</dcterms:modified>
</cp:coreProperties>
</file>