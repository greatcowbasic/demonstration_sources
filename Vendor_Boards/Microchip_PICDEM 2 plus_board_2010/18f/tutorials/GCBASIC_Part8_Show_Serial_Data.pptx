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36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7" r:id="rId11"/>
    <p:sldId id="331" r:id="rId12"/>
    <p:sldId id="332" r:id="rId13"/>
    <p:sldId id="333" r:id="rId14"/>
    <p:sldId id="334" r:id="rId15"/>
    <p:sldId id="335" r:id="rId16"/>
    <p:sldId id="288" r:id="rId17"/>
    <p:sldId id="330" r:id="rId18"/>
    <p:sldId id="345" r:id="rId19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25" d="100"/>
          <a:sy n="125" d="100"/>
        </p:scale>
        <p:origin x="-1230" y="-77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 smtClean="0"/>
              <a:t>Part 8 </a:t>
            </a:r>
            <a:r>
              <a:rPr lang="en-GB" sz="1400" dirty="0"/>
              <a:t>– Show Serial Data</a:t>
            </a:r>
          </a:p>
        </p:txBody>
      </p:sp>
    </p:spTree>
    <p:extLst>
      <p:ext uri="{BB962C8B-B14F-4D97-AF65-F5344CB8AC3E}">
        <p14:creationId xmlns:p14="http://schemas.microsoft.com/office/powerpoint/2010/main" val="296455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 smtClean="0"/>
              <a:t>Part 8 – Show Serial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3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42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967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418780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552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</a:t>
            </a:r>
            <a:r>
              <a:rPr lang="en-GB" sz="1000" dirty="0" smtClean="0"/>
              <a:t>or 9V </a:t>
            </a:r>
            <a:r>
              <a:rPr lang="en-GB" sz="1000" dirty="0"/>
              <a:t>battery, or hooks for a +5V, 100 mA regulated DC supply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3. RS-232 socket and associated hardware for direct connection to an </a:t>
            </a:r>
            <a:r>
              <a:rPr lang="en-GB" sz="1000" b="1" u="sng" dirty="0" smtClean="0">
                <a:solidFill>
                  <a:srgbClr val="FF0000"/>
                </a:solidFill>
              </a:rPr>
              <a:t>RS-232 interface</a:t>
            </a:r>
            <a:endParaRPr lang="en-GB" sz="1000" b="1" u="sng" dirty="0">
              <a:solidFill>
                <a:srgbClr val="FF0000"/>
              </a:solidFill>
            </a:endParaRP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</a:t>
            </a:r>
            <a:r>
              <a:rPr lang="en-GB" sz="1000" dirty="0" smtClean="0"/>
              <a:t>such as </a:t>
            </a:r>
            <a:r>
              <a:rPr lang="en-GB" sz="1000" dirty="0"/>
              <a:t>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48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85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9392"/>
            <a:ext cx="2227213" cy="189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834" y="2571750"/>
            <a:ext cx="2948491" cy="1847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41351"/>
            <a:ext cx="5146904" cy="2646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123728" y="2211710"/>
            <a:ext cx="28803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2123728" y="2434084"/>
            <a:ext cx="28803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195736" y="1779662"/>
            <a:ext cx="0" cy="5043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25079" y="1412379"/>
            <a:ext cx="2028761" cy="3539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USART  TTL SIGNAL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5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</a:t>
            </a:r>
            <a:r>
              <a:rPr lang="en-GB" dirty="0" smtClean="0"/>
              <a:t>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779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Serial output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563638"/>
            <a:ext cx="6447501" cy="331236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1300" dirty="0" smtClean="0"/>
              <a:t>Use the </a:t>
            </a:r>
            <a:r>
              <a:rPr lang="en-GB" sz="1300" dirty="0" smtClean="0"/>
              <a:t>built-in Universal Synchronous/Asynchronous Receiver Transmitter (USART) on the PIC</a:t>
            </a:r>
            <a:r>
              <a:rPr lang="en-GB" sz="1300" baseline="30000" dirty="0" smtClean="0"/>
              <a:t>®</a:t>
            </a:r>
            <a:r>
              <a:rPr lang="en-GB" sz="1300" dirty="0" smtClean="0"/>
              <a:t> Microcontroller  to communicate with serial terminal on a </a:t>
            </a:r>
            <a:r>
              <a:rPr lang="en-GB" sz="1300" dirty="0" smtClean="0"/>
              <a:t>PC</a:t>
            </a:r>
          </a:p>
          <a:p>
            <a:endParaRPr lang="en-GB" sz="1300" dirty="0" smtClean="0"/>
          </a:p>
          <a:p>
            <a:r>
              <a:rPr lang="en-GB" dirty="0" smtClean="0"/>
              <a:t>Baseline is the tutorials so </a:t>
            </a:r>
            <a:r>
              <a:rPr lang="en-GB" dirty="0" smtClean="0"/>
              <a:t>far, plus</a:t>
            </a:r>
          </a:p>
          <a:p>
            <a:pPr marL="571500" lvl="1" indent="-228600">
              <a:buFont typeface="+mj-lt"/>
              <a:buAutoNum type="arabicPeriod"/>
            </a:pPr>
            <a:r>
              <a:rPr lang="en-GB" sz="1100" dirty="0" smtClean="0"/>
              <a:t>Within Computer</a:t>
            </a:r>
          </a:p>
          <a:p>
            <a:pPr marL="871537" lvl="2" indent="-228600">
              <a:buFont typeface="+mj-lt"/>
              <a:buAutoNum type="arabicPeriod"/>
            </a:pPr>
            <a:r>
              <a:rPr lang="en-GB" sz="1000" dirty="0" smtClean="0"/>
              <a:t>Attach a TTL/USB </a:t>
            </a:r>
            <a:r>
              <a:rPr lang="en-GB" sz="1000" dirty="0" smtClean="0"/>
              <a:t>serial </a:t>
            </a:r>
            <a:r>
              <a:rPr lang="en-GB" sz="1000" dirty="0" smtClean="0"/>
              <a:t>converter</a:t>
            </a:r>
          </a:p>
          <a:p>
            <a:pPr marL="871537" lvl="2" indent="-228600">
              <a:buFont typeface="+mj-lt"/>
              <a:buAutoNum type="arabicPeriod"/>
            </a:pPr>
            <a:r>
              <a:rPr lang="en-GB" sz="1000" b="1" dirty="0" smtClean="0"/>
              <a:t>Terminal application</a:t>
            </a:r>
            <a:endParaRPr lang="en-GB" sz="1000" dirty="0" smtClean="0"/>
          </a:p>
          <a:p>
            <a:pPr marL="1214437" lvl="3" indent="-228600">
              <a:buFont typeface="+mj-lt"/>
              <a:buAutoNum type="arabicPeriod"/>
            </a:pPr>
            <a:r>
              <a:rPr lang="en-GB" dirty="0"/>
              <a:t>D</a:t>
            </a:r>
            <a:r>
              <a:rPr lang="en-GB" dirty="0" smtClean="0"/>
              <a:t>iscover communication port</a:t>
            </a:r>
          </a:p>
          <a:p>
            <a:pPr marL="1214437" lvl="3" indent="-228600">
              <a:buFont typeface="+mj-lt"/>
              <a:buAutoNum type="arabicPeriod"/>
            </a:pPr>
            <a:r>
              <a:rPr lang="en-GB" dirty="0" smtClean="0"/>
              <a:t>Open Port</a:t>
            </a:r>
            <a:endParaRPr lang="en-GB" dirty="0" smtClean="0"/>
          </a:p>
          <a:p>
            <a:pPr marL="571500" lvl="1" indent="-228600">
              <a:buFont typeface="+mj-lt"/>
              <a:buAutoNum type="arabicPeriod"/>
            </a:pPr>
            <a:r>
              <a:rPr lang="en-GB" sz="1100" dirty="0" smtClean="0"/>
              <a:t>Within GCBASIC</a:t>
            </a:r>
          </a:p>
          <a:p>
            <a:pPr marL="914400" lvl="2" indent="-228600">
              <a:buFont typeface="+mj-lt"/>
              <a:buAutoNum type="arabicPeriod"/>
            </a:pPr>
            <a:r>
              <a:rPr lang="en-GB" sz="1000" dirty="0" smtClean="0"/>
              <a:t>Peripheral </a:t>
            </a:r>
            <a:r>
              <a:rPr lang="en-GB" sz="1000" dirty="0"/>
              <a:t>Pin Select (PPS</a:t>
            </a:r>
            <a:r>
              <a:rPr lang="en-GB" sz="1000" dirty="0" smtClean="0"/>
              <a:t>) of the USART output from the microcontroller</a:t>
            </a:r>
          </a:p>
          <a:p>
            <a:pPr marL="914400" lvl="2" indent="-228600">
              <a:buFont typeface="+mj-lt"/>
              <a:buAutoNum type="arabicPeriod"/>
            </a:pPr>
            <a:r>
              <a:rPr lang="en-GB" sz="1000" dirty="0" err="1" smtClean="0"/>
              <a:t>Config</a:t>
            </a:r>
            <a:r>
              <a:rPr lang="en-GB" sz="1000" dirty="0" smtClean="0"/>
              <a:t> the USART, Baud Rate </a:t>
            </a:r>
            <a:r>
              <a:rPr lang="en-GB" sz="1000" dirty="0" err="1" smtClean="0"/>
              <a:t>etc</a:t>
            </a:r>
            <a:endParaRPr lang="en-GB" sz="1000" dirty="0" smtClean="0"/>
          </a:p>
          <a:p>
            <a:pPr marL="914400" lvl="2" indent="-228600">
              <a:buFont typeface="+mj-lt"/>
              <a:buAutoNum type="arabicPeriod"/>
            </a:pPr>
            <a:r>
              <a:rPr lang="en-GB" sz="1000" dirty="0" smtClean="0"/>
              <a:t>Send some </a:t>
            </a:r>
            <a:r>
              <a:rPr lang="en-GB" sz="1000" dirty="0" err="1" smtClean="0"/>
              <a:t>Harware</a:t>
            </a:r>
            <a:r>
              <a:rPr lang="en-GB" sz="1000" dirty="0" smtClean="0"/>
              <a:t> Serial Commands ( </a:t>
            </a:r>
            <a:r>
              <a:rPr lang="en-GB" sz="1000" b="1" dirty="0" err="1" smtClean="0"/>
              <a:t>HSERnnnnnnn</a:t>
            </a:r>
            <a:r>
              <a:rPr lang="en-GB" sz="1000" b="1" dirty="0" smtClean="0"/>
              <a:t>)</a:t>
            </a:r>
            <a:endParaRPr lang="en-GB" sz="1000" dirty="0" smtClean="0"/>
          </a:p>
          <a:p>
            <a:pPr marL="571500" lvl="1" indent="-228600">
              <a:buFont typeface="+mj-lt"/>
              <a:buAutoNum type="arabicPeriod"/>
            </a:pPr>
            <a:endParaRPr lang="en-GB" sz="1100" dirty="0" smtClean="0"/>
          </a:p>
          <a:p>
            <a:endParaRPr lang="en-GB" dirty="0" smtClean="0"/>
          </a:p>
          <a:p>
            <a:endParaRPr lang="en-GB" dirty="0" smtClean="0"/>
          </a:p>
          <a:p>
            <a:pPr lvl="2">
              <a:buNone/>
            </a:pPr>
            <a:endParaRPr lang="en-GB" sz="1000" i="1" dirty="0" smtClean="0"/>
          </a:p>
          <a:p>
            <a:pPr lvl="2">
              <a:buNone/>
            </a:pP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30265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Serial output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GND and RX (RXD)</a:t>
            </a:r>
          </a:p>
          <a:p>
            <a:endParaRPr lang="en-GB" dirty="0" smtClean="0"/>
          </a:p>
          <a:p>
            <a:endParaRPr lang="en-GB" dirty="0" smtClean="0"/>
          </a:p>
          <a:p>
            <a:pPr lvl="2">
              <a:buNone/>
            </a:pPr>
            <a:endParaRPr lang="en-GB" i="1" dirty="0" smtClean="0"/>
          </a:p>
          <a:p>
            <a:pPr lvl="2">
              <a:buNone/>
            </a:pPr>
            <a:endParaRPr lang="en-GB" dirty="0"/>
          </a:p>
        </p:txBody>
      </p:sp>
      <p:pic>
        <p:nvPicPr>
          <p:cNvPr id="12290" name="Picture 2" descr="PL2303 USB to TTL (Serial) Converter Modu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707654"/>
            <a:ext cx="4623470" cy="27740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863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Peripheral Pin Select (PPS)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PPS configuration provides the method to these choices set the functionality and their placement on a wide range of I/O pins. </a:t>
            </a:r>
          </a:p>
          <a:p>
            <a:r>
              <a:rPr lang="en-GB" dirty="0" smtClean="0"/>
              <a:t>By increasing the </a:t>
            </a:r>
            <a:r>
              <a:rPr lang="en-GB" dirty="0" err="1" smtClean="0"/>
              <a:t>pinout</a:t>
            </a:r>
            <a:r>
              <a:rPr lang="en-GB" dirty="0" smtClean="0"/>
              <a:t> options available on a particular device, users can tailor the device to their entire application.</a:t>
            </a:r>
          </a:p>
          <a:p>
            <a:r>
              <a:rPr lang="en-GB" dirty="0" smtClean="0"/>
              <a:t>For Serial operations we </a:t>
            </a:r>
            <a:r>
              <a:rPr lang="en-GB" b="1" dirty="0" smtClean="0"/>
              <a:t>must</a:t>
            </a:r>
            <a:r>
              <a:rPr lang="en-GB" dirty="0" smtClean="0"/>
              <a:t> set the TX using PPS</a:t>
            </a:r>
          </a:p>
          <a:p>
            <a:pPr lvl="1"/>
            <a:r>
              <a:rPr lang="en-GB" dirty="0" smtClean="0"/>
              <a:t>PICINFO/</a:t>
            </a:r>
            <a:r>
              <a:rPr lang="en-GB" b="1" dirty="0" smtClean="0"/>
              <a:t>PPSTOOL </a:t>
            </a:r>
            <a:r>
              <a:rPr lang="en-GB" dirty="0" smtClean="0"/>
              <a:t>or direct </a:t>
            </a:r>
            <a:r>
              <a:rPr lang="en-GB" b="1" dirty="0" smtClean="0"/>
              <a:t>F4</a:t>
            </a:r>
            <a:r>
              <a:rPr lang="en-GB" dirty="0" smtClean="0"/>
              <a:t>/</a:t>
            </a:r>
            <a:r>
              <a:rPr lang="en-GB" b="1" dirty="0" smtClean="0"/>
              <a:t>PPSTOOL</a:t>
            </a:r>
          </a:p>
          <a:p>
            <a:pPr lvl="1"/>
            <a:r>
              <a:rPr lang="en-GB" b="1" dirty="0" smtClean="0"/>
              <a:t>Or, MCC Standalone</a:t>
            </a:r>
          </a:p>
          <a:p>
            <a:pPr lvl="1"/>
            <a:endParaRPr lang="en-GB" dirty="0" smtClean="0"/>
          </a:p>
          <a:p>
            <a:pPr lvl="2">
              <a:buNone/>
            </a:pPr>
            <a:endParaRPr lang="en-GB" i="1" dirty="0" smtClean="0"/>
          </a:p>
          <a:p>
            <a:pPr lvl="2">
              <a:buNone/>
            </a:pP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579862"/>
            <a:ext cx="33432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435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76056" y="-20538"/>
            <a:ext cx="3168352" cy="516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79110" y="1491630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Tutorial overview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Initialise</a:t>
            </a:r>
          </a:p>
          <a:p>
            <a:r>
              <a:rPr lang="en-GB" i="1" dirty="0" smtClean="0"/>
              <a:t>Setup the serial/USART</a:t>
            </a:r>
          </a:p>
          <a:p>
            <a:pPr lvl="1"/>
            <a:r>
              <a:rPr lang="en-GB" b="1" i="1" dirty="0" smtClean="0"/>
              <a:t>PPS</a:t>
            </a:r>
          </a:p>
          <a:p>
            <a:pPr lvl="1"/>
            <a:r>
              <a:rPr lang="en-GB" b="1" i="1" dirty="0" smtClean="0"/>
              <a:t>Baud Rate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Do forever</a:t>
            </a:r>
          </a:p>
          <a:p>
            <a:pPr lvl="1"/>
            <a:r>
              <a:rPr lang="en-GB" dirty="0" smtClean="0"/>
              <a:t>Read ADC</a:t>
            </a:r>
          </a:p>
          <a:p>
            <a:pPr lvl="1"/>
            <a:r>
              <a:rPr lang="en-GB" b="1" i="1" dirty="0" smtClean="0"/>
              <a:t>Send values to serial</a:t>
            </a:r>
          </a:p>
          <a:p>
            <a:pPr lvl="1"/>
            <a:r>
              <a:rPr lang="en-GB" dirty="0" smtClean="0"/>
              <a:t>Determine if switch state changed</a:t>
            </a:r>
          </a:p>
          <a:p>
            <a:pPr lvl="1"/>
            <a:r>
              <a:rPr lang="en-GB" dirty="0" smtClean="0"/>
              <a:t>Set state of LEDs</a:t>
            </a:r>
          </a:p>
          <a:p>
            <a:pPr lvl="1"/>
            <a:r>
              <a:rPr lang="en-GB" dirty="0" smtClean="0"/>
              <a:t>Wait</a:t>
            </a:r>
          </a:p>
          <a:p>
            <a:r>
              <a:rPr lang="en-GB" dirty="0" smtClean="0"/>
              <a:t>Loop</a:t>
            </a:r>
          </a:p>
          <a:p>
            <a:pPr lvl="1">
              <a:buNone/>
            </a:pPr>
            <a:endParaRPr lang="en-GB" dirty="0" smtClean="0"/>
          </a:p>
          <a:p>
            <a:pPr lvl="1">
              <a:buNone/>
            </a:pPr>
            <a:endParaRPr lang="en-GB" dirty="0" smtClean="0"/>
          </a:p>
        </p:txBody>
      </p:sp>
      <p:sp>
        <p:nvSpPr>
          <p:cNvPr id="4" name="Flowchart: Alternate Process 3"/>
          <p:cNvSpPr/>
          <p:nvPr/>
        </p:nvSpPr>
        <p:spPr>
          <a:xfrm>
            <a:off x="5573202" y="5147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Initialise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73202" y="62753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 smtClean="0">
                <a:solidFill>
                  <a:schemeClr val="tx1"/>
                </a:solidFill>
              </a:rPr>
              <a:t>Serial up the serial</a:t>
            </a:r>
            <a:endParaRPr lang="en-GB" sz="9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6365290" y="411510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8" idx="0"/>
          </p:cNvCxnSpPr>
          <p:nvPr/>
        </p:nvCxnSpPr>
        <p:spPr>
          <a:xfrm>
            <a:off x="6360820" y="2451224"/>
            <a:ext cx="4471" cy="264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Alternate Process 21"/>
          <p:cNvSpPr/>
          <p:nvPr/>
        </p:nvSpPr>
        <p:spPr>
          <a:xfrm>
            <a:off x="5573202" y="465998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Wait 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33" name="Flowchart: Alternate Process 32"/>
          <p:cNvSpPr/>
          <p:nvPr/>
        </p:nvSpPr>
        <p:spPr>
          <a:xfrm>
            <a:off x="7164288" y="4011910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Set State of LEDS</a:t>
            </a:r>
            <a:endParaRPr lang="en-GB" sz="9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360236" y="2866380"/>
            <a:ext cx="10109" cy="1788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8" idx="3"/>
            <a:endCxn id="33" idx="0"/>
          </p:cNvCxnSpPr>
          <p:nvPr/>
        </p:nvCxnSpPr>
        <p:spPr>
          <a:xfrm>
            <a:off x="7044223" y="3003798"/>
            <a:ext cx="624121" cy="100811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3" idx="2"/>
            <a:endCxn id="22" idx="3"/>
          </p:cNvCxnSpPr>
          <p:nvPr/>
        </p:nvCxnSpPr>
        <p:spPr>
          <a:xfrm rot="5400000">
            <a:off x="7178835" y="4350493"/>
            <a:ext cx="468052" cy="5109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70921" y="3435846"/>
            <a:ext cx="378630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900" dirty="0" smtClean="0"/>
              <a:t>Left</a:t>
            </a:r>
            <a:endParaRPr lang="en-GB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7438058" y="2616572"/>
            <a:ext cx="442750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900" dirty="0" smtClean="0"/>
              <a:t>Right</a:t>
            </a:r>
            <a:endParaRPr lang="en-GB" sz="900" dirty="0"/>
          </a:p>
        </p:txBody>
      </p:sp>
      <p:sp>
        <p:nvSpPr>
          <p:cNvPr id="32" name="Flowchart: Alternate Process 31"/>
          <p:cNvSpPr/>
          <p:nvPr/>
        </p:nvSpPr>
        <p:spPr>
          <a:xfrm>
            <a:off x="5573202" y="121247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Do Forever</a:t>
            </a:r>
            <a:endParaRPr lang="en-GB" sz="900" dirty="0">
              <a:solidFill>
                <a:schemeClr val="tx1"/>
              </a:solidFill>
            </a:endParaRPr>
          </a:p>
        </p:txBody>
      </p:sp>
      <p:cxnSp>
        <p:nvCxnSpPr>
          <p:cNvPr id="36" name="Elbow Connector 35"/>
          <p:cNvCxnSpPr>
            <a:stCxn id="22" idx="1"/>
            <a:endCxn id="32" idx="1"/>
          </p:cNvCxnSpPr>
          <p:nvPr/>
        </p:nvCxnSpPr>
        <p:spPr>
          <a:xfrm rot="10800000">
            <a:off x="5573202" y="1392498"/>
            <a:ext cx="12700" cy="3447504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372200" y="98757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/>
          <p:cNvSpPr/>
          <p:nvPr/>
        </p:nvSpPr>
        <p:spPr>
          <a:xfrm>
            <a:off x="5868144" y="4011910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Set State of LEDs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5686358" y="2715766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Switch state changed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27" name="Flowchart: Alternate Process 26"/>
          <p:cNvSpPr/>
          <p:nvPr/>
        </p:nvSpPr>
        <p:spPr>
          <a:xfrm>
            <a:off x="5580112" y="221171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 smtClean="0">
                <a:solidFill>
                  <a:schemeClr val="tx1"/>
                </a:solidFill>
              </a:rPr>
              <a:t>Send Values to Serial</a:t>
            </a:r>
            <a:endParaRPr lang="en-GB" sz="9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372200" y="199568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Alternate Process 20"/>
          <p:cNvSpPr/>
          <p:nvPr/>
        </p:nvSpPr>
        <p:spPr>
          <a:xfrm>
            <a:off x="5580112" y="171653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err="1" smtClean="0">
                <a:solidFill>
                  <a:schemeClr val="tx1"/>
                </a:solidFill>
              </a:rPr>
              <a:t>ReadADC</a:t>
            </a:r>
            <a:endParaRPr lang="en-GB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46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Examine the sample code</a:t>
            </a:r>
          </a:p>
          <a:p>
            <a:pPr lvl="1"/>
            <a:r>
              <a:rPr lang="en-GB" dirty="0" smtClean="0"/>
              <a:t>Review the results</a:t>
            </a:r>
          </a:p>
          <a:p>
            <a:pPr marL="342900" lvl="1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282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</a:t>
            </a:r>
            <a:r>
              <a:rPr lang="en-GB" sz="1100" b="1" dirty="0" smtClean="0"/>
              <a:t>timer0 </a:t>
            </a:r>
            <a:r>
              <a:rPr lang="en-GB" sz="1100" b="1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many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275606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764036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 smtClean="0"/>
              <a:t>Part 8 – Show Serial Data</a:t>
            </a:r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55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13591</TotalTime>
  <Words>854</Words>
  <Application>Microsoft Office PowerPoint</Application>
  <PresentationFormat>On-screen Show (16:9)</PresentationFormat>
  <Paragraphs>165</Paragraphs>
  <Slides>18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Serial output </vt:lpstr>
      <vt:lpstr>Serial output </vt:lpstr>
      <vt:lpstr>Peripheral Pin Select (PPS)</vt:lpstr>
      <vt:lpstr>Tutorial overview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754</cp:revision>
  <dcterms:created xsi:type="dcterms:W3CDTF">2019-01-08T20:03:06Z</dcterms:created>
  <dcterms:modified xsi:type="dcterms:W3CDTF">2026-08-11T06:08:58Z</dcterms:modified>
</cp:coreProperties>
</file>