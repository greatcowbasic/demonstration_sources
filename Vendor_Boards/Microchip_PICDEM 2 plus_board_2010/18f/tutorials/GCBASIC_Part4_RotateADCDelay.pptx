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09" r:id="rId10"/>
    <p:sldId id="329" r:id="rId11"/>
    <p:sldId id="306" r:id="rId12"/>
    <p:sldId id="308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0" r:id="rId22"/>
    <p:sldId id="287" r:id="rId23"/>
    <p:sldId id="288" r:id="rId24"/>
    <p:sldId id="305" r:id="rId25"/>
    <p:sldId id="328" r:id="rId26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08/08/2026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PIC18FxxQ35chip Family</a:t>
            </a:r>
          </a:p>
          <a:p>
            <a:r>
              <a:rPr lang="en-GB" dirty="0" smtClean="0"/>
              <a:t>Part </a:t>
            </a:r>
            <a:r>
              <a:rPr lang="en-GB" dirty="0"/>
              <a:t>4 – sequence the LEDs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59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4 – sequence the LEDs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938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34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71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382385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5379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or</a:t>
            </a:r>
          </a:p>
          <a:p>
            <a:r>
              <a:rPr lang="en-GB" sz="1000" dirty="0"/>
              <a:t>9V battery, or hooks for a +5V, 100 mA regulated DC supply</a:t>
            </a:r>
          </a:p>
          <a:p>
            <a:r>
              <a:rPr lang="en-GB" sz="1000" dirty="0"/>
              <a:t>3. RS-232 socket and associated hardware for direct connection to an RS-232</a:t>
            </a:r>
          </a:p>
          <a:p>
            <a:r>
              <a:rPr lang="en-GB" sz="1000" dirty="0"/>
              <a:t>interface</a:t>
            </a: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such</a:t>
            </a:r>
          </a:p>
          <a:p>
            <a:r>
              <a:rPr lang="en-GB" sz="1000" dirty="0"/>
              <a:t>as 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/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</p:spTree>
    <p:extLst>
      <p:ext uri="{BB962C8B-B14F-4D97-AF65-F5344CB8AC3E}">
        <p14:creationId xmlns:p14="http://schemas.microsoft.com/office/powerpoint/2010/main" val="167199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267743" y="1779662"/>
            <a:ext cx="819085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49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2360" y="195487"/>
            <a:ext cx="1167210" cy="1394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39552" y="1689938"/>
            <a:ext cx="7056784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 smtClean="0"/>
              <a:t>GCBASIC completes the initialisation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/>
              <a:t>Create a variable to store the ADC results 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/>
              <a:t>Read the ADC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sz="1600" dirty="0" smtClean="0"/>
              <a:t>GCBASIC makes the process easy via the ReadAD10()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sz="1600" dirty="0" smtClean="0"/>
              <a:t>ReadAD10 returns a value of 0 to 4095</a:t>
            </a:r>
          </a:p>
          <a:p>
            <a:pPr marL="825368" lvl="1" indent="-400050">
              <a:buFont typeface="+mj-lt"/>
              <a:buAutoNum type="romanUcPeriod"/>
            </a:pPr>
            <a:endParaRPr lang="en-GB" sz="1600" dirty="0" smtClean="0"/>
          </a:p>
          <a:p>
            <a:pPr marL="400050" indent="-400050">
              <a:buFont typeface="+mj-lt"/>
              <a:buAutoNum type="arabicPeriod"/>
            </a:pPr>
            <a:r>
              <a:rPr lang="en-GB" sz="1600" dirty="0" smtClean="0"/>
              <a:t>Wait for a time period  based on returned ADC value</a:t>
            </a:r>
          </a:p>
          <a:p>
            <a:pPr marL="400050" indent="-400050">
              <a:buFont typeface="+mj-lt"/>
              <a:buAutoNum type="arabicPeriod"/>
            </a:pPr>
            <a:r>
              <a:rPr lang="en-GB" sz="1600" dirty="0" smtClean="0"/>
              <a:t>Set the LEDs</a:t>
            </a:r>
          </a:p>
          <a:p>
            <a:pPr marL="400050" indent="-400050">
              <a:buFont typeface="+mj-lt"/>
              <a:buAutoNum type="arabicPeriod"/>
            </a:pPr>
            <a:r>
              <a:rPr lang="en-GB" sz="1600" dirty="0" smtClean="0"/>
              <a:t>Do it again….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419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115" y="1454023"/>
            <a:ext cx="3407718" cy="2898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60815" y="470079"/>
            <a:ext cx="2088233" cy="4040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403648" y="1347614"/>
            <a:ext cx="3240360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771800" y="1689098"/>
            <a:ext cx="1296144" cy="738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99592" y="2643758"/>
            <a:ext cx="4792242" cy="91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73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Time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`</a:t>
            </a:r>
            <a:r>
              <a:rPr lang="en-GB" dirty="0"/>
              <a:t>WAIT` in GCBASIC creates a software delay loop based on the PIC’s </a:t>
            </a:r>
            <a:r>
              <a:rPr lang="en-GB" dirty="0" smtClean="0"/>
              <a:t> </a:t>
            </a:r>
            <a:r>
              <a:rPr lang="en-GB" b="1" i="1" dirty="0" smtClean="0"/>
              <a:t>instruction cycle</a:t>
            </a:r>
            <a:r>
              <a:rPr lang="en-GB" dirty="0" smtClean="0"/>
              <a:t>, </a:t>
            </a:r>
            <a:r>
              <a:rPr lang="en-GB" dirty="0"/>
              <a:t>which is the oscillator frequency divided by four.  </a:t>
            </a:r>
          </a:p>
          <a:p>
            <a:pPr lvl="1"/>
            <a:r>
              <a:rPr lang="en-GB" dirty="0"/>
              <a:t>Changing the </a:t>
            </a:r>
            <a:r>
              <a:rPr lang="en-GB" b="1" i="1" dirty="0" smtClean="0"/>
              <a:t>OSC frequency </a:t>
            </a:r>
            <a:r>
              <a:rPr lang="en-GB" dirty="0"/>
              <a:t>changes the instruction timing, so GCBASIC recalculates the loop to keep the delay accurate.  </a:t>
            </a:r>
          </a:p>
          <a:p>
            <a:pPr lvl="1"/>
            <a:r>
              <a:rPr lang="en-GB" dirty="0"/>
              <a:t>If the oscillator configuration doesn’t match the real hardware clock, all `WAIT` delays will run too fast or too slow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 err="1" smtClean="0"/>
              <a:t>tutoral</a:t>
            </a:r>
            <a:r>
              <a:rPr lang="en-GB" dirty="0" smtClean="0"/>
              <a:t> combines previous tutorials by using the </a:t>
            </a:r>
            <a:r>
              <a:rPr lang="en-GB" dirty="0" err="1" smtClean="0"/>
              <a:t>Analog</a:t>
            </a:r>
            <a:r>
              <a:rPr lang="en-GB" dirty="0" smtClean="0"/>
              <a:t>-to-Digital Converter (ADC) to control the speed of rotation.</a:t>
            </a:r>
          </a:p>
          <a:p>
            <a:pPr lvl="1"/>
            <a:r>
              <a:rPr lang="en-GB" dirty="0" smtClean="0"/>
              <a:t>Where speed is a time delay</a:t>
            </a:r>
          </a:p>
          <a:p>
            <a:pPr lvl="2"/>
            <a:r>
              <a:rPr lang="en-GB" dirty="0" smtClean="0"/>
              <a:t>us, 10us, ms, 10ms, s, m or h</a:t>
            </a:r>
          </a:p>
          <a:p>
            <a:pPr lvl="2"/>
            <a:endParaRPr lang="en-GB" dirty="0" smtClean="0"/>
          </a:p>
          <a:p>
            <a:pPr lvl="2">
              <a:buNone/>
            </a:pPr>
            <a:r>
              <a:rPr lang="en-GB" dirty="0" smtClean="0"/>
              <a:t>		</a:t>
            </a:r>
            <a:r>
              <a:rPr lang="en-GB" b="1" i="1" dirty="0" smtClean="0"/>
              <a:t>	wait time unit</a:t>
            </a:r>
          </a:p>
          <a:p>
            <a:pPr lvl="2">
              <a:buNone/>
            </a:pPr>
            <a:r>
              <a:rPr lang="en-GB" b="1" i="1" dirty="0" smtClean="0"/>
              <a:t>			wait 1 ms</a:t>
            </a:r>
            <a:r>
              <a:rPr lang="en-GB" i="1" dirty="0" smtClean="0"/>
              <a:t>	</a:t>
            </a:r>
          </a:p>
          <a:p>
            <a:pPr lvl="2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800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67258" y="51470"/>
            <a:ext cx="3406003" cy="49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Wait</a:t>
            </a:r>
            <a:endParaRPr lang="en-GB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5508104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08104" y="98757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5508104" y="228371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Wait for a Delay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5508104" y="429994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</a:p>
        </p:txBody>
      </p:sp>
      <p:sp>
        <p:nvSpPr>
          <p:cNvPr id="8" name="Flowchart: Decision 7"/>
          <p:cNvSpPr/>
          <p:nvPr/>
        </p:nvSpPr>
        <p:spPr>
          <a:xfrm>
            <a:off x="5621260" y="3507854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Did it overflow ?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00192" y="69954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300192" y="134761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00192" y="4083918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23"/>
          <p:cNvCxnSpPr>
            <a:stCxn id="7" idx="2"/>
            <a:endCxn id="21" idx="3"/>
          </p:cNvCxnSpPr>
          <p:nvPr/>
        </p:nvCxnSpPr>
        <p:spPr>
          <a:xfrm rot="5400000" flipH="1" flipV="1">
            <a:off x="5274078" y="2841780"/>
            <a:ext cx="2844316" cy="792088"/>
          </a:xfrm>
          <a:prstGeom prst="bentConnector4">
            <a:avLst>
              <a:gd name="adj1" fmla="val -8037"/>
              <a:gd name="adj2" fmla="val 1288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989986" y="3787899"/>
            <a:ext cx="323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Alternate Process 13"/>
          <p:cNvSpPr/>
          <p:nvPr/>
        </p:nvSpPr>
        <p:spPr>
          <a:xfrm>
            <a:off x="5508104" y="293179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Rotate the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00192" y="264375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00192" y="3291830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86178" y="3530352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No</a:t>
            </a:r>
            <a:endParaRPr lang="en-GB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6416774" y="401649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Yes</a:t>
            </a:r>
            <a:endParaRPr lang="en-GB" sz="1000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528" y="1815666"/>
            <a:ext cx="4762870" cy="3394472"/>
          </a:xfrm>
        </p:spPr>
        <p:txBody>
          <a:bodyPr/>
          <a:lstStyle/>
          <a:p>
            <a:r>
              <a:rPr lang="en-GB" dirty="0" smtClean="0"/>
              <a:t>Time delays are sometimes key to the operation of a program</a:t>
            </a:r>
            <a:endParaRPr lang="en-GB" dirty="0"/>
          </a:p>
        </p:txBody>
      </p:sp>
      <p:sp>
        <p:nvSpPr>
          <p:cNvPr id="21" name="Flowchart: Alternate Process 20"/>
          <p:cNvSpPr/>
          <p:nvPr/>
        </p:nvSpPr>
        <p:spPr>
          <a:xfrm>
            <a:off x="5508104" y="163564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Read ADC </a:t>
            </a:r>
            <a:r>
              <a:rPr lang="en-GB" sz="1000" b="1" dirty="0" smtClean="0">
                <a:solidFill>
                  <a:schemeClr val="tx1"/>
                </a:solidFill>
              </a:rPr>
              <a:t>12 bit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00192" y="199568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96336" y="1635646"/>
            <a:ext cx="110639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( 0 – 4095)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174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35068"/>
              </p:ext>
            </p:extLst>
          </p:nvPr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1177040">
            <a:off x="2836735" y="161427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Curved Down Arrow 5"/>
          <p:cNvSpPr/>
          <p:nvPr/>
        </p:nvSpPr>
        <p:spPr>
          <a:xfrm rot="1177040">
            <a:off x="4132879" y="197431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 rot="1177040">
            <a:off x="5501030" y="2334357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urved Down Arrow 7"/>
          <p:cNvSpPr/>
          <p:nvPr/>
        </p:nvSpPr>
        <p:spPr>
          <a:xfrm rot="1177040">
            <a:off x="6725168" y="269439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177040">
            <a:off x="2908742" y="3846525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906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8099321" y="381905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879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urved Down Arrow 9"/>
          <p:cNvSpPr/>
          <p:nvPr/>
        </p:nvSpPr>
        <p:spPr>
          <a:xfrm rot="1177040">
            <a:off x="2836735" y="161427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956376" y="36995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63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urved Down Arrow 5"/>
          <p:cNvSpPr/>
          <p:nvPr/>
        </p:nvSpPr>
        <p:spPr>
          <a:xfrm rot="1177040">
            <a:off x="4132879" y="197431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812360" y="36995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266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urved Down Arrow 6"/>
          <p:cNvSpPr/>
          <p:nvPr/>
        </p:nvSpPr>
        <p:spPr>
          <a:xfrm rot="1177040">
            <a:off x="5501030" y="2334357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684816" y="381000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42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urved Down Arrow 7"/>
          <p:cNvSpPr/>
          <p:nvPr/>
        </p:nvSpPr>
        <p:spPr>
          <a:xfrm rot="1177040">
            <a:off x="6725168" y="269439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Oval 6"/>
          <p:cNvSpPr/>
          <p:nvPr/>
        </p:nvSpPr>
        <p:spPr>
          <a:xfrm>
            <a:off x="7343825" y="372780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3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1177040">
            <a:off x="2836735" y="161427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Curved Down Arrow 5"/>
          <p:cNvSpPr/>
          <p:nvPr/>
        </p:nvSpPr>
        <p:spPr>
          <a:xfrm rot="1177040">
            <a:off x="4132879" y="197431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 rot="1177040">
            <a:off x="5501030" y="2334357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urved Down Arrow 7"/>
          <p:cNvSpPr/>
          <p:nvPr/>
        </p:nvSpPr>
        <p:spPr>
          <a:xfrm rot="1177040">
            <a:off x="6725168" y="269439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177040">
            <a:off x="2908742" y="3846525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Oval 10"/>
          <p:cNvSpPr/>
          <p:nvPr/>
        </p:nvSpPr>
        <p:spPr>
          <a:xfrm>
            <a:off x="8081392" y="36995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17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71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44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67258" y="51470"/>
            <a:ext cx="3406003" cy="49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Carry Test</a:t>
            </a:r>
            <a:endParaRPr lang="en-GB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5508104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08104" y="98757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5508104" y="228371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Wait for a Delay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5508104" y="429994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</a:p>
        </p:txBody>
      </p:sp>
      <p:sp>
        <p:nvSpPr>
          <p:cNvPr id="8" name="Flowchart: Decision 7"/>
          <p:cNvSpPr/>
          <p:nvPr/>
        </p:nvSpPr>
        <p:spPr>
          <a:xfrm>
            <a:off x="5621260" y="3507854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Did it overflow ?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00192" y="69954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300192" y="134761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00192" y="4083918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23"/>
          <p:cNvCxnSpPr>
            <a:stCxn id="7" idx="2"/>
            <a:endCxn id="21" idx="3"/>
          </p:cNvCxnSpPr>
          <p:nvPr/>
        </p:nvCxnSpPr>
        <p:spPr>
          <a:xfrm rot="5400000" flipH="1" flipV="1">
            <a:off x="5274078" y="2841780"/>
            <a:ext cx="2844316" cy="792088"/>
          </a:xfrm>
          <a:prstGeom prst="bentConnector4">
            <a:avLst>
              <a:gd name="adj1" fmla="val -8037"/>
              <a:gd name="adj2" fmla="val 1288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989986" y="3787899"/>
            <a:ext cx="323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Alternate Process 13"/>
          <p:cNvSpPr/>
          <p:nvPr/>
        </p:nvSpPr>
        <p:spPr>
          <a:xfrm>
            <a:off x="5508104" y="293179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Rotate the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00192" y="264375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00192" y="3291830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86178" y="3530352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No</a:t>
            </a:r>
            <a:endParaRPr lang="en-GB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6416774" y="401649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Yes</a:t>
            </a:r>
            <a:endParaRPr lang="en-GB" sz="1000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528" y="1815666"/>
            <a:ext cx="4762870" cy="3394472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Did </a:t>
            </a:r>
            <a:r>
              <a:rPr lang="en-GB" dirty="0">
                <a:solidFill>
                  <a:schemeClr val="tx1"/>
                </a:solidFill>
              </a:rPr>
              <a:t>it overflow ?</a:t>
            </a:r>
          </a:p>
          <a:p>
            <a:endParaRPr lang="en-GB" dirty="0" smtClean="0"/>
          </a:p>
          <a:p>
            <a:r>
              <a:rPr lang="en-GB" dirty="0" smtClean="0"/>
              <a:t>If</a:t>
            </a:r>
            <a:r>
              <a:rPr lang="en-GB" b="1" dirty="0" smtClean="0"/>
              <a:t> </a:t>
            </a:r>
            <a:r>
              <a:rPr lang="en-GB" b="1" dirty="0"/>
              <a:t>C </a:t>
            </a:r>
            <a:r>
              <a:rPr lang="en-GB" dirty="0"/>
              <a:t>= 1 </a:t>
            </a:r>
            <a:r>
              <a:rPr lang="en-GB" dirty="0" smtClean="0"/>
              <a:t>then .. Or other test condition</a:t>
            </a:r>
            <a:endParaRPr lang="en-GB" dirty="0"/>
          </a:p>
          <a:p>
            <a:endParaRPr lang="en-GB" dirty="0"/>
          </a:p>
        </p:txBody>
      </p:sp>
      <p:sp>
        <p:nvSpPr>
          <p:cNvPr id="21" name="Flowchart: Alternate Process 20"/>
          <p:cNvSpPr/>
          <p:nvPr/>
        </p:nvSpPr>
        <p:spPr>
          <a:xfrm>
            <a:off x="5508104" y="163564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Read ADC 12 bit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00192" y="199568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96336" y="1635646"/>
            <a:ext cx="11769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( 0 – 4095 )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9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5350850" y="0"/>
            <a:ext cx="3406003" cy="5148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Scale</a:t>
            </a:r>
            <a:endParaRPr lang="en-GB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519624" y="256032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Scale()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528" y="1918630"/>
            <a:ext cx="4762870" cy="3394472"/>
          </a:xfrm>
        </p:spPr>
        <p:txBody>
          <a:bodyPr/>
          <a:lstStyle/>
          <a:p>
            <a:r>
              <a:rPr lang="en-GB" dirty="0" smtClean="0"/>
              <a:t>Scale transforms an existing value to a new value within a specified scale</a:t>
            </a:r>
            <a:endParaRPr lang="en-GB" dirty="0"/>
          </a:p>
        </p:txBody>
      </p:sp>
      <p:sp>
        <p:nvSpPr>
          <p:cNvPr id="23" name="Flowchart: Alternate Process 22"/>
          <p:cNvSpPr/>
          <p:nvPr/>
        </p:nvSpPr>
        <p:spPr>
          <a:xfrm>
            <a:off x="5508104" y="5147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4" name="Flowchart: Alternate Process 23"/>
          <p:cNvSpPr/>
          <p:nvPr/>
        </p:nvSpPr>
        <p:spPr>
          <a:xfrm>
            <a:off x="5508104" y="69954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5" name="Flowchart: Alternate Process 24"/>
          <p:cNvSpPr/>
          <p:nvPr/>
        </p:nvSpPr>
        <p:spPr>
          <a:xfrm>
            <a:off x="5508104" y="199568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Wait for a Delay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6" name="Flowchart: Alternate Process 25"/>
          <p:cNvSpPr/>
          <p:nvPr/>
        </p:nvSpPr>
        <p:spPr>
          <a:xfrm>
            <a:off x="5508104" y="45159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5621260" y="3723878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Did it overflow ?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300192" y="41151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300192" y="105958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300192" y="4299942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23"/>
          <p:cNvCxnSpPr>
            <a:stCxn id="26" idx="2"/>
            <a:endCxn id="38" idx="3"/>
          </p:cNvCxnSpPr>
          <p:nvPr/>
        </p:nvCxnSpPr>
        <p:spPr>
          <a:xfrm rot="5400000" flipH="1" flipV="1">
            <a:off x="5022050" y="2805776"/>
            <a:ext cx="3348372" cy="792088"/>
          </a:xfrm>
          <a:prstGeom prst="bentConnector4">
            <a:avLst>
              <a:gd name="adj1" fmla="val -6827"/>
              <a:gd name="adj2" fmla="val 1288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989986" y="4003923"/>
            <a:ext cx="323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Alternate Process 32"/>
          <p:cNvSpPr/>
          <p:nvPr/>
        </p:nvSpPr>
        <p:spPr>
          <a:xfrm>
            <a:off x="5508104" y="314781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Rotate the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300192" y="2362200"/>
            <a:ext cx="1548" cy="209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300192" y="3507854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86178" y="3746376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No</a:t>
            </a:r>
            <a:endParaRPr lang="en-GB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16774" y="4232523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Yes</a:t>
            </a:r>
            <a:endParaRPr lang="en-GB" sz="1000" dirty="0"/>
          </a:p>
        </p:txBody>
      </p:sp>
      <p:sp>
        <p:nvSpPr>
          <p:cNvPr id="38" name="Flowchart: Alternate Process 37"/>
          <p:cNvSpPr/>
          <p:nvPr/>
        </p:nvSpPr>
        <p:spPr>
          <a:xfrm>
            <a:off x="5508104" y="134761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Read ADC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300192" y="170765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300192" y="2931790"/>
            <a:ext cx="1548" cy="209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596336" y="2571750"/>
            <a:ext cx="11983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( 50 – 1000)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44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771" y="1786855"/>
            <a:ext cx="6447501" cy="2744167"/>
          </a:xfrm>
        </p:spPr>
        <p:txBody>
          <a:bodyPr/>
          <a:lstStyle/>
          <a:p>
            <a:r>
              <a:rPr lang="en-GB" dirty="0" smtClean="0"/>
              <a:t>Read the ADC to set the LEDs</a:t>
            </a:r>
          </a:p>
          <a:p>
            <a:endParaRPr lang="en-GB" dirty="0"/>
          </a:p>
          <a:p>
            <a:r>
              <a:rPr lang="en-GB" dirty="0" smtClean="0"/>
              <a:t>Uses</a:t>
            </a:r>
          </a:p>
          <a:p>
            <a:pPr lvl="1"/>
            <a:r>
              <a:rPr lang="en-GB" dirty="0" smtClean="0"/>
              <a:t>A Word variable</a:t>
            </a:r>
          </a:p>
          <a:p>
            <a:pPr lvl="1"/>
            <a:r>
              <a:rPr lang="en-GB" dirty="0" smtClean="0"/>
              <a:t>Simple logic</a:t>
            </a:r>
          </a:p>
          <a:p>
            <a:pPr lvl="1"/>
            <a:r>
              <a:rPr lang="en-GB" dirty="0" smtClean="0"/>
              <a:t>Rotate</a:t>
            </a:r>
          </a:p>
          <a:p>
            <a:pPr lvl="1"/>
            <a:r>
              <a:rPr lang="en-GB" dirty="0" smtClean="0"/>
              <a:t>Bitwise mask</a:t>
            </a:r>
          </a:p>
          <a:p>
            <a:pPr lvl="1"/>
            <a:r>
              <a:rPr lang="en-GB" dirty="0" smtClean="0"/>
              <a:t>Scale()</a:t>
            </a:r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3998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4 – sequence the LEDs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56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12900</TotalTime>
  <Words>1414</Words>
  <Application>Microsoft Office PowerPoint</Application>
  <PresentationFormat>On-screen Show (16:9)</PresentationFormat>
  <Paragraphs>518</Paragraphs>
  <Slides>25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Analog-to-Digital</vt:lpstr>
      <vt:lpstr>Analog-to-Digital</vt:lpstr>
      <vt:lpstr>Time</vt:lpstr>
      <vt:lpstr>Wait</vt:lpstr>
      <vt:lpstr>Rotate with Carry</vt:lpstr>
      <vt:lpstr>Rotate with Carry</vt:lpstr>
      <vt:lpstr>Rotate with Carry</vt:lpstr>
      <vt:lpstr>Rotate with Carry</vt:lpstr>
      <vt:lpstr>Rotate with Carry</vt:lpstr>
      <vt:lpstr>Rotate with Carry</vt:lpstr>
      <vt:lpstr>Rotate with Carry</vt:lpstr>
      <vt:lpstr>Carry Test</vt:lpstr>
      <vt:lpstr>Scale</vt:lpstr>
      <vt:lpstr>Workshop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735</cp:revision>
  <dcterms:created xsi:type="dcterms:W3CDTF">2019-01-08T20:03:06Z</dcterms:created>
  <dcterms:modified xsi:type="dcterms:W3CDTF">2026-08-08T14:27:23Z</dcterms:modified>
</cp:coreProperties>
</file>