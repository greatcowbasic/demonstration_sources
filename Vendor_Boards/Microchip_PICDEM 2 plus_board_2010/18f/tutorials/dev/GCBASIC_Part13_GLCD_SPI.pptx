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94" r:id="rId2"/>
    <p:sldId id="256" r:id="rId3"/>
    <p:sldId id="295" r:id="rId4"/>
    <p:sldId id="359" r:id="rId5"/>
    <p:sldId id="296" r:id="rId6"/>
    <p:sldId id="282" r:id="rId7"/>
    <p:sldId id="291" r:id="rId8"/>
    <p:sldId id="354" r:id="rId9"/>
    <p:sldId id="348" r:id="rId10"/>
    <p:sldId id="355" r:id="rId11"/>
    <p:sldId id="356" r:id="rId12"/>
    <p:sldId id="357" r:id="rId13"/>
    <p:sldId id="358" r:id="rId14"/>
    <p:sldId id="288" r:id="rId15"/>
    <p:sldId id="353" r:id="rId16"/>
    <p:sldId id="352" r:id="rId17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 varScale="1">
        <p:scale>
          <a:sx n="146" d="100"/>
          <a:sy n="146" d="100"/>
        </p:scale>
        <p:origin x="-630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11/12/2025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11/12/2025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3471A-AA0F-4CD3-BA89-C1C7FB68C6DB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6735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="" xmlns:a16="http://schemas.microsoft.com/office/drawing/2014/main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11/12/2025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11/12/2025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11/12/2025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11/12/2025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11/12/2025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144617" y="2776047"/>
            <a:ext cx="3523727" cy="645300"/>
          </a:xfrm>
        </p:spPr>
        <p:txBody>
          <a:bodyPr>
            <a:normAutofit fontScale="92500"/>
          </a:bodyPr>
          <a:lstStyle/>
          <a:p>
            <a:r>
              <a:rPr lang="en-GB" dirty="0" smtClean="0"/>
              <a:t>PIC16F175xx</a:t>
            </a:r>
            <a:endParaRPr lang="en-GB" dirty="0" smtClean="0"/>
          </a:p>
          <a:p>
            <a:r>
              <a:rPr lang="en-GB" dirty="0" smtClean="0"/>
              <a:t>Part 13 - </a:t>
            </a:r>
            <a:r>
              <a:rPr lang="en-GB" sz="1600" dirty="0"/>
              <a:t>Using a SPI GLCD  display solutions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404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  <a:endParaRPr lang="en-GB" dirty="0" smtClean="0"/>
          </a:p>
          <a:p>
            <a:r>
              <a:rPr lang="en-GB" dirty="0" smtClean="0"/>
              <a:t>Part 13 </a:t>
            </a:r>
            <a:r>
              <a:rPr lang="en-GB" dirty="0"/>
              <a:t>- Using a SPI GLCD  display </a:t>
            </a:r>
            <a:r>
              <a:rPr lang="en-GB" dirty="0" smtClean="0"/>
              <a:t>solutions</a:t>
            </a:r>
            <a:endParaRPr lang="en-GB" dirty="0"/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864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760" y="4074815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</a:t>
            </a:r>
            <a:r>
              <a:rPr lang="en-US" sz="40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!</a:t>
            </a:r>
            <a:endParaRPr lang="en-US" sz="4000" b="1" dirty="0" smtClean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113182" y="4384422"/>
            <a:ext cx="354882" cy="305233"/>
          </a:xfrm>
        </p:spPr>
        <p:txBody>
          <a:bodyPr/>
          <a:lstStyle/>
          <a:p>
            <a:fld id="{1E700B27-DE4C-4B9E-BB11-B9027034A00F}" type="datetimeFigureOut">
              <a:rPr lang="en-US" smtClean="0"/>
              <a:pPr/>
              <a:t>12/11/2025</a:t>
            </a:fld>
            <a:endParaRPr lang="en-US" dirty="0"/>
          </a:p>
        </p:txBody>
      </p:sp>
      <p:pic>
        <p:nvPicPr>
          <p:cNvPr id="9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864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760" y="4074815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57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PIC16F175xx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PIC16165xx  is a high performance PIC16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PIC16175xx offers 14, 20,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633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 </a:t>
            </a:r>
            <a:r>
              <a:rPr lang="en-GB" sz="1100" dirty="0"/>
              <a:t>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smtClean="0"/>
              <a:t>I2C </a:t>
            </a:r>
            <a:r>
              <a:rPr lang="en-GB" sz="1100" dirty="0"/>
              <a:t>GCLD </a:t>
            </a:r>
            <a:r>
              <a:rPr lang="en-GB" sz="1100" dirty="0" smtClean="0"/>
              <a:t>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a </a:t>
            </a:r>
            <a:r>
              <a:rPr lang="en-GB" sz="1100" b="1" dirty="0" smtClean="0"/>
              <a:t>SPI GLCD  display solutions</a:t>
            </a:r>
            <a:endParaRPr lang="en-GB" sz="1100" b="1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ways</a:t>
            </a:r>
            <a:r>
              <a:rPr lang="en-GB" sz="1100" dirty="0"/>
              <a:t>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94786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3528392" cy="165555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 </a:t>
            </a:r>
            <a:r>
              <a:rPr lang="en-GB" dirty="0" smtClean="0"/>
              <a:t>, AVR and LGT microcontrollers</a:t>
            </a:r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GCBASIC now supports the </a:t>
            </a:r>
            <a:r>
              <a:rPr lang="en-GB" dirty="0" smtClean="0"/>
              <a:t>16F175xx </a:t>
            </a:r>
            <a:r>
              <a:rPr lang="en-GB" dirty="0" smtClean="0"/>
              <a:t>chip family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Prerequisites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07654"/>
            <a:ext cx="6447501" cy="2744167"/>
          </a:xfrm>
        </p:spPr>
        <p:txBody>
          <a:bodyPr/>
          <a:lstStyle/>
          <a:p>
            <a:r>
              <a:rPr lang="en-GB" dirty="0" smtClean="0"/>
              <a:t>Assumes you have </a:t>
            </a:r>
          </a:p>
          <a:p>
            <a:pPr marL="778521" lvl="1" indent="-478483"/>
            <a:r>
              <a:rPr lang="en-GB" dirty="0" smtClean="0"/>
              <a:t>Installed the GCBASIC software</a:t>
            </a:r>
          </a:p>
          <a:p>
            <a:pPr marL="778521" lvl="1" indent="-478483"/>
            <a:r>
              <a:rPr lang="en-GB" dirty="0" smtClean="0"/>
              <a:t>Installed your programmer software</a:t>
            </a:r>
          </a:p>
          <a:p>
            <a:pPr marL="778521" lvl="1" indent="-478483"/>
            <a:r>
              <a:rPr lang="en-GB" dirty="0" smtClean="0"/>
              <a:t>Test that you have the </a:t>
            </a:r>
            <a:r>
              <a:rPr lang="en-GB" dirty="0" smtClean="0"/>
              <a:t>16F175xx </a:t>
            </a:r>
            <a:r>
              <a:rPr lang="en-GB" dirty="0" smtClean="0"/>
              <a:t>attached</a:t>
            </a:r>
          </a:p>
          <a:p>
            <a:pPr marL="778521" lvl="1" indent="-478483"/>
            <a:r>
              <a:rPr lang="en-GB" dirty="0" smtClean="0"/>
              <a:t>You have the 4 LEDs operating</a:t>
            </a:r>
          </a:p>
          <a:p>
            <a:pPr marL="778521" lvl="1" indent="-478483"/>
            <a:r>
              <a:rPr lang="en-GB" dirty="0" smtClean="0"/>
              <a:t>You have a POT connected</a:t>
            </a:r>
          </a:p>
          <a:p>
            <a:pPr marL="778521" lvl="1" indent="-478483"/>
            <a:r>
              <a:rPr lang="en-GB" dirty="0" smtClean="0"/>
              <a:t>You have </a:t>
            </a:r>
            <a:r>
              <a:rPr lang="en-GB" dirty="0" err="1" smtClean="0"/>
              <a:t>SWITCHes</a:t>
            </a:r>
            <a:r>
              <a:rPr lang="en-GB" dirty="0" smtClean="0"/>
              <a:t> connected</a:t>
            </a:r>
          </a:p>
          <a:p>
            <a:pPr marL="778521" lvl="1" indent="-478483"/>
            <a:r>
              <a:rPr lang="en-GB" dirty="0" smtClean="0"/>
              <a:t>You have a USB/TTL converter</a:t>
            </a:r>
          </a:p>
          <a:p>
            <a:pPr marL="778521" lvl="1" indent="-478483"/>
            <a:r>
              <a:rPr lang="en-GB" b="1" dirty="0" smtClean="0"/>
              <a:t>GLCD SPI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SPI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 smtClean="0"/>
              <a:t>Serial Peripheral Interface (SPI) is an interface bus commonly used to send data between microcontrollers and small peripherals such as GLCD, shift registers, sensors, and SD cards. </a:t>
            </a:r>
          </a:p>
          <a:p>
            <a:endParaRPr lang="en-GB" sz="2000" dirty="0" smtClean="0"/>
          </a:p>
          <a:p>
            <a:r>
              <a:rPr lang="en-GB" sz="2000" dirty="0" smtClean="0"/>
              <a:t>It uses separate </a:t>
            </a:r>
            <a:r>
              <a:rPr lang="en-GB" sz="2000" u="sng" dirty="0" smtClean="0"/>
              <a:t>clock</a:t>
            </a:r>
            <a:r>
              <a:rPr lang="en-GB" sz="2000" dirty="0" smtClean="0"/>
              <a:t> and </a:t>
            </a:r>
            <a:r>
              <a:rPr lang="en-GB" sz="2000" u="sng" dirty="0" smtClean="0"/>
              <a:t>data</a:t>
            </a:r>
            <a:r>
              <a:rPr lang="en-GB" sz="2000" dirty="0" smtClean="0"/>
              <a:t> lines, along with a </a:t>
            </a:r>
            <a:r>
              <a:rPr lang="en-GB" sz="2000" u="sng" dirty="0" smtClean="0"/>
              <a:t>select line </a:t>
            </a:r>
            <a:r>
              <a:rPr lang="en-GB" sz="2000" dirty="0" smtClean="0"/>
              <a:t>to choose the device you wish to control.</a:t>
            </a:r>
          </a:p>
          <a:p>
            <a:endParaRPr lang="en-GB" sz="2000" dirty="0" smtClean="0"/>
          </a:p>
          <a:p>
            <a:endParaRPr lang="en-GB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7817" y="52042"/>
            <a:ext cx="3533506" cy="1491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3779" y="3927076"/>
            <a:ext cx="3132832" cy="1203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99737" y="120409"/>
            <a:ext cx="3496511" cy="1357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58066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Hardware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Prototype Board</a:t>
            </a:r>
            <a:endParaRPr lang="en-GB" dirty="0"/>
          </a:p>
          <a:p>
            <a:r>
              <a:rPr lang="en-GB" dirty="0" smtClean="0"/>
              <a:t>Power 5v0</a:t>
            </a:r>
          </a:p>
          <a:p>
            <a:r>
              <a:rPr lang="en-GB" dirty="0" smtClean="0"/>
              <a:t>Programmer</a:t>
            </a:r>
          </a:p>
          <a:p>
            <a:r>
              <a:rPr lang="en-GB" dirty="0" smtClean="0"/>
              <a:t>LEDs &amp; resistors</a:t>
            </a:r>
          </a:p>
          <a:p>
            <a:r>
              <a:rPr lang="en-GB" dirty="0" smtClean="0"/>
              <a:t>Switches &amp; resistors</a:t>
            </a:r>
          </a:p>
          <a:p>
            <a:r>
              <a:rPr lang="en-GB" dirty="0" smtClean="0"/>
              <a:t>SPI device and circuit</a:t>
            </a:r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843808" y="1295349"/>
            <a:ext cx="4356653" cy="3339372"/>
          </a:xfrm>
          <a:prstGeom prst="rect">
            <a:avLst/>
          </a:prstGeom>
          <a:solidFill>
            <a:schemeClr val="bg1"/>
          </a:solidFill>
        </p:spPr>
        <p:txBody>
          <a:bodyPr wrap="square" lIns="121917" tIns="60958" rIns="121917" bIns="60958" rtlCol="0">
            <a:spAutoFit/>
          </a:bodyPr>
          <a:lstStyle/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   Hardware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   -------------------PORTA----------------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   Bit#:  -7---6---5---4---3---2---1---0---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   IO:    ----------------SW----------ADC-- 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   ----------------------------------------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   -------------------PORTB----------------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   Bit#:  -7---6---5---4---3---2---1---0---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   IO:    </a:t>
            </a:r>
            <a:r>
              <a:rPr lang="en-GB" sz="1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</a:t>
            </a:r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   ----------------------------------------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------------------</a:t>
            </a:r>
            <a:r>
              <a:rPr lang="en-GB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PORTC-</a:t>
            </a:r>
            <a:r>
              <a:rPr lang="en-GB" sz="1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Bit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#:  -7---6---5---4---3---2---1---0-</a:t>
            </a:r>
            <a:r>
              <a:rPr lang="en-GB" sz="1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IO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   ----</a:t>
            </a:r>
            <a:r>
              <a:rPr lang="en-GB" sz="11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TX1-SDO-SCK-----</a:t>
            </a:r>
            <a:r>
              <a:rPr lang="en-GB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RST--CS--</a:t>
            </a:r>
            <a:r>
              <a:rPr lang="en-GB" sz="11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DC</a:t>
            </a:r>
            <a:r>
              <a:rPr lang="en-GB" sz="1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—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-----------------------------------------  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   ------------------PORTE-----------------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   Bit#:  -----------------3---------------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   IO:    </a:t>
            </a:r>
            <a:r>
              <a:rPr lang="en-GB" sz="1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----------------MCLR-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</a:t>
            </a:r>
          </a:p>
        </p:txBody>
      </p:sp>
    </p:spTree>
    <p:extLst>
      <p:ext uri="{BB962C8B-B14F-4D97-AF65-F5344CB8AC3E}">
        <p14:creationId xmlns:p14="http://schemas.microsoft.com/office/powerpoint/2010/main" val="3213168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Setup - Connections</a:t>
            </a:r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995686"/>
            <a:ext cx="4545097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151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Setup - Program</a:t>
            </a:r>
            <a:endParaRPr lang="en-GB" dirty="0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5181600" y="96396"/>
            <a:ext cx="0" cy="432048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188848" y="106680"/>
            <a:ext cx="3343592" cy="16798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516216" y="3795886"/>
            <a:ext cx="0" cy="108012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5303520" y="350520"/>
            <a:ext cx="11440" cy="16761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6372200" y="339502"/>
            <a:ext cx="0" cy="3024336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5292080" y="339502"/>
            <a:ext cx="108012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542776" y="2018546"/>
            <a:ext cx="64107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DATA</a:t>
            </a:r>
            <a:endParaRPr lang="en-GB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r="14956"/>
          <a:stretch>
            <a:fillRect/>
          </a:stretch>
        </p:blipFill>
        <p:spPr bwMode="auto">
          <a:xfrm>
            <a:off x="4391040" y="485016"/>
            <a:ext cx="1837144" cy="185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2" name="Straight Connector 21"/>
          <p:cNvCxnSpPr/>
          <p:nvPr/>
        </p:nvCxnSpPr>
        <p:spPr>
          <a:xfrm>
            <a:off x="6516216" y="4876006"/>
            <a:ext cx="2088232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8532440" y="123478"/>
            <a:ext cx="72008" cy="4752528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5654040" y="2324100"/>
            <a:ext cx="0" cy="1073636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 flipV="1">
            <a:off x="5443364" y="252606"/>
            <a:ext cx="12556" cy="372234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5436096" y="266700"/>
            <a:ext cx="1056144" cy="794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6477000" y="257532"/>
            <a:ext cx="8032" cy="2066568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>
            <a:off x="5654040" y="2315686"/>
            <a:ext cx="834792" cy="8414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5655310" y="3887346"/>
            <a:ext cx="1920" cy="113423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5652120" y="5020022"/>
            <a:ext cx="3096344" cy="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 flipV="1">
            <a:off x="8718550" y="400050"/>
            <a:ext cx="28590" cy="462029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>
            <a:off x="5560318" y="387350"/>
            <a:ext cx="3170932" cy="635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5576838" y="386655"/>
            <a:ext cx="0" cy="126122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V="1">
            <a:off x="5720557" y="471338"/>
            <a:ext cx="0" cy="126122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H="1" flipV="1">
            <a:off x="5536617" y="3872236"/>
            <a:ext cx="9548" cy="1231670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H="1">
            <a:off x="5546166" y="5074024"/>
            <a:ext cx="3346822" cy="11953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H="1" flipV="1">
            <a:off x="8869082" y="466165"/>
            <a:ext cx="13865" cy="4620896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H="1">
            <a:off x="5707580" y="472141"/>
            <a:ext cx="3173455" cy="14195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93153" y="2365102"/>
            <a:ext cx="3998210" cy="23544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GB" sz="1000" dirty="0" smtClean="0"/>
              <a:t> This is a PPS chip, so, needs to make the PPS </a:t>
            </a:r>
            <a:r>
              <a:rPr lang="en-GB" sz="1000" b="1" dirty="0" smtClean="0"/>
              <a:t>match</a:t>
            </a:r>
            <a:r>
              <a:rPr lang="en-GB" sz="1000" dirty="0" smtClean="0"/>
              <a:t> these assignments</a:t>
            </a:r>
          </a:p>
          <a:p>
            <a:endParaRPr lang="en-GB" sz="1000" dirty="0" smtClean="0"/>
          </a:p>
          <a:p>
            <a:r>
              <a:rPr lang="en-GB" sz="1000" dirty="0">
                <a:latin typeface="Courier New" pitchFamily="49" charset="0"/>
                <a:cs typeface="Courier New" pitchFamily="49" charset="0"/>
              </a:rPr>
              <a:t>/* Pin mappings for GLCD </a:t>
            </a:r>
            <a:r>
              <a:rPr lang="en-GB" sz="1000" dirty="0" smtClean="0">
                <a:latin typeface="Courier New" pitchFamily="49" charset="0"/>
                <a:cs typeface="Courier New" pitchFamily="49" charset="0"/>
              </a:rPr>
              <a:t>data and clock</a:t>
            </a:r>
          </a:p>
          <a:p>
            <a:r>
              <a:rPr lang="en-GB" sz="1000" dirty="0" smtClean="0">
                <a:latin typeface="Courier New" pitchFamily="49" charset="0"/>
                <a:cs typeface="Courier New" pitchFamily="49" charset="0"/>
              </a:rPr>
              <a:t>#</a:t>
            </a:r>
            <a:r>
              <a:rPr lang="en-GB" sz="1000" dirty="0">
                <a:latin typeface="Courier New" pitchFamily="49" charset="0"/>
                <a:cs typeface="Courier New" pitchFamily="49" charset="0"/>
              </a:rPr>
              <a:t>DEFINE GLCD_DO     portC.5</a:t>
            </a:r>
          </a:p>
          <a:p>
            <a:r>
              <a:rPr lang="en-GB" sz="1000" dirty="0">
                <a:latin typeface="Courier New" pitchFamily="49" charset="0"/>
                <a:cs typeface="Courier New" pitchFamily="49" charset="0"/>
              </a:rPr>
              <a:t>#DEFINE GLCD_SCK    portC.4</a:t>
            </a:r>
          </a:p>
          <a:p>
            <a:r>
              <a:rPr lang="en-GB" sz="1000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GB" sz="1000" dirty="0" smtClean="0">
                <a:latin typeface="Courier New" pitchFamily="49" charset="0"/>
                <a:cs typeface="Courier New" pitchFamily="49" charset="0"/>
              </a:rPr>
            </a:br>
            <a:r>
              <a:rPr lang="en-GB" sz="1000" dirty="0" smtClean="0">
                <a:latin typeface="Courier New" pitchFamily="49" charset="0"/>
                <a:cs typeface="Courier New" pitchFamily="49" charset="0"/>
              </a:rPr>
              <a:t>/* Pin mappings for GLCD support</a:t>
            </a:r>
          </a:p>
          <a:p>
            <a:r>
              <a:rPr lang="en-GB" sz="1000" dirty="0" smtClean="0">
                <a:latin typeface="Courier New" pitchFamily="49" charset="0"/>
                <a:cs typeface="Courier New" pitchFamily="49" charset="0"/>
              </a:rPr>
              <a:t>#</a:t>
            </a:r>
            <a:r>
              <a:rPr lang="en-GB" sz="1000" dirty="0">
                <a:latin typeface="Courier New" pitchFamily="49" charset="0"/>
                <a:cs typeface="Courier New" pitchFamily="49" charset="0"/>
              </a:rPr>
              <a:t>DEFINE GLCD_DC     portC.0</a:t>
            </a:r>
          </a:p>
          <a:p>
            <a:r>
              <a:rPr lang="en-GB" sz="1000" dirty="0">
                <a:latin typeface="Courier New" pitchFamily="49" charset="0"/>
                <a:cs typeface="Courier New" pitchFamily="49" charset="0"/>
              </a:rPr>
              <a:t>#DEFINE GLCD_CS     portC.1</a:t>
            </a:r>
          </a:p>
          <a:p>
            <a:r>
              <a:rPr lang="en-GB" sz="1000" dirty="0">
                <a:latin typeface="Courier New" pitchFamily="49" charset="0"/>
                <a:cs typeface="Courier New" pitchFamily="49" charset="0"/>
              </a:rPr>
              <a:t>#DEFINE GLCD_RESET  portC.2    </a:t>
            </a:r>
            <a:r>
              <a:rPr lang="en-GB" sz="1000" b="1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GB" sz="1000" b="1" dirty="0" smtClean="0">
                <a:latin typeface="Courier New" pitchFamily="49" charset="0"/>
                <a:cs typeface="Courier New" pitchFamily="49" charset="0"/>
              </a:rPr>
            </a:br>
            <a:r>
              <a:rPr lang="en-GB" sz="1000" b="1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GB" sz="1000" b="1" dirty="0" smtClean="0">
                <a:latin typeface="Courier New" pitchFamily="49" charset="0"/>
                <a:cs typeface="Courier New" pitchFamily="49" charset="0"/>
              </a:rPr>
            </a:br>
            <a:r>
              <a:rPr lang="en-GB" sz="1000" dirty="0">
                <a:latin typeface="Courier New" pitchFamily="49" charset="0"/>
                <a:cs typeface="Courier New" pitchFamily="49" charset="0"/>
              </a:rPr>
              <a:t>#DEFINE </a:t>
            </a:r>
            <a:r>
              <a:rPr lang="en-GB" sz="1000" b="1" dirty="0">
                <a:latin typeface="Courier New" pitchFamily="49" charset="0"/>
                <a:cs typeface="Courier New" pitchFamily="49" charset="0"/>
              </a:rPr>
              <a:t>SSD1331_HardwareSPI</a:t>
            </a:r>
          </a:p>
          <a:p>
            <a:endParaRPr lang="en-GB" sz="1000" b="1" dirty="0" smtClean="0">
              <a:latin typeface="Courier New" pitchFamily="49" charset="0"/>
              <a:cs typeface="Courier New" pitchFamily="49" charset="0"/>
            </a:endParaRPr>
          </a:p>
          <a:p>
            <a:endParaRPr lang="en-GB" dirty="0"/>
          </a:p>
        </p:txBody>
      </p:sp>
      <p:sp>
        <p:nvSpPr>
          <p:cNvPr id="83" name="Rectangle 82"/>
          <p:cNvSpPr/>
          <p:nvPr/>
        </p:nvSpPr>
        <p:spPr>
          <a:xfrm>
            <a:off x="4499992" y="915566"/>
            <a:ext cx="1656184" cy="86409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dirty="0" smtClean="0"/>
              <a:t>SPI GLCD</a:t>
            </a:r>
          </a:p>
          <a:p>
            <a:pPr algn="ctr"/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5076056" y="2776613"/>
            <a:ext cx="4104456" cy="24594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78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6696744" cy="990600"/>
          </a:xfrm>
          <a:solidFill>
            <a:schemeClr val="bg1"/>
          </a:solidFill>
        </p:spPr>
        <p:txBody>
          <a:bodyPr/>
          <a:lstStyle/>
          <a:p>
            <a:pPr algn="l"/>
            <a:r>
              <a:rPr lang="en-GB" dirty="0" smtClean="0"/>
              <a:t>Setup – when things do not work ..</a:t>
            </a:r>
            <a:endParaRPr lang="en-GB" dirty="0"/>
          </a:p>
        </p:txBody>
      </p:sp>
      <p:sp>
        <p:nvSpPr>
          <p:cNvPr id="82" name="TextBox 81"/>
          <p:cNvSpPr txBox="1"/>
          <p:nvPr/>
        </p:nvSpPr>
        <p:spPr>
          <a:xfrm>
            <a:off x="323528" y="1812461"/>
            <a:ext cx="5544616" cy="2919529"/>
          </a:xfrm>
          <a:prstGeom prst="rect">
            <a:avLst/>
          </a:prstGeom>
        </p:spPr>
        <p:txBody>
          <a:bodyPr vert="horz" lIns="85064" tIns="42531" rIns="85064" bIns="42531" rtlCol="0">
            <a:normAutofit fontScale="70000" lnSpcReduction="20000"/>
          </a:bodyPr>
          <a:lstStyle>
            <a:lvl1pPr marL="318988" indent="-318988">
              <a:spcBef>
                <a:spcPct val="20000"/>
              </a:spcBef>
              <a:buFont typeface="Arial" pitchFamily="34" charset="0"/>
              <a:buChar char="•"/>
              <a:defRPr sz="2000"/>
            </a:lvl1pPr>
            <a:lvl2pPr marL="691142" indent="-265824">
              <a:spcBef>
                <a:spcPct val="20000"/>
              </a:spcBef>
              <a:buFont typeface="Arial" pitchFamily="34" charset="0"/>
              <a:buChar char="–"/>
              <a:defRPr sz="2600"/>
            </a:lvl2pPr>
            <a:lvl3pPr marL="1063295" indent="-212659">
              <a:spcBef>
                <a:spcPct val="20000"/>
              </a:spcBef>
              <a:buFont typeface="Arial" pitchFamily="34" charset="0"/>
              <a:buChar char="•"/>
              <a:defRPr sz="2200"/>
            </a:lvl3pPr>
            <a:lvl4pPr marL="1488614" indent="-212659">
              <a:spcBef>
                <a:spcPct val="20000"/>
              </a:spcBef>
              <a:buFont typeface="Arial" pitchFamily="34" charset="0"/>
              <a:buChar char="–"/>
              <a:defRPr sz="1900"/>
            </a:lvl4pPr>
            <a:lvl5pPr marL="1913932" indent="-212659">
              <a:spcBef>
                <a:spcPct val="20000"/>
              </a:spcBef>
              <a:buFont typeface="Arial" pitchFamily="34" charset="0"/>
              <a:buChar char="»"/>
              <a:defRPr sz="1900"/>
            </a:lvl5pPr>
            <a:lvl6pPr marL="2339250" indent="-212659">
              <a:spcBef>
                <a:spcPct val="20000"/>
              </a:spcBef>
              <a:buFont typeface="Arial" pitchFamily="34" charset="0"/>
              <a:buChar char="•"/>
              <a:defRPr sz="1900"/>
            </a:lvl6pPr>
            <a:lvl7pPr marL="2764568" indent="-212659">
              <a:spcBef>
                <a:spcPct val="20000"/>
              </a:spcBef>
              <a:buFont typeface="Arial" pitchFamily="34" charset="0"/>
              <a:buChar char="•"/>
              <a:defRPr sz="1900"/>
            </a:lvl7pPr>
            <a:lvl8pPr marL="3189887" indent="-212659">
              <a:spcBef>
                <a:spcPct val="20000"/>
              </a:spcBef>
              <a:buFont typeface="Arial" pitchFamily="34" charset="0"/>
              <a:buChar char="•"/>
              <a:defRPr sz="1900"/>
            </a:lvl8pPr>
            <a:lvl9pPr marL="3615205" indent="-212659">
              <a:spcBef>
                <a:spcPct val="20000"/>
              </a:spcBef>
              <a:buFont typeface="Arial" pitchFamily="34" charset="0"/>
              <a:buChar char="•"/>
              <a:defRPr sz="1900"/>
            </a:lvl9pPr>
          </a:lstStyle>
          <a:p>
            <a:r>
              <a:rPr lang="en-GB" dirty="0" smtClean="0"/>
              <a:t>Things </a:t>
            </a:r>
            <a:r>
              <a:rPr lang="en-GB" dirty="0"/>
              <a:t>do not always work</a:t>
            </a:r>
          </a:p>
          <a:p>
            <a:pPr lvl="1"/>
            <a:r>
              <a:rPr lang="en-GB" sz="1800" dirty="0"/>
              <a:t>The more </a:t>
            </a:r>
            <a:r>
              <a:rPr lang="en-GB" sz="1800" dirty="0" smtClean="0"/>
              <a:t>connections the more trouble</a:t>
            </a:r>
          </a:p>
          <a:p>
            <a:pPr lvl="1"/>
            <a:endParaRPr lang="en-GB" sz="1800" dirty="0"/>
          </a:p>
          <a:p>
            <a:r>
              <a:rPr lang="en-GB" dirty="0"/>
              <a:t>Things we </a:t>
            </a:r>
            <a:r>
              <a:rPr lang="en-GB" dirty="0" smtClean="0"/>
              <a:t>know</a:t>
            </a:r>
          </a:p>
          <a:p>
            <a:pPr lvl="1"/>
            <a:r>
              <a:rPr lang="en-GB" sz="1800" dirty="0"/>
              <a:t>The GLCD demonstration works</a:t>
            </a:r>
          </a:p>
          <a:p>
            <a:pPr lvl="1"/>
            <a:r>
              <a:rPr lang="en-GB" sz="1800" dirty="0"/>
              <a:t>Therefore is not likely to be the libraries but … work through the </a:t>
            </a:r>
            <a:r>
              <a:rPr lang="en-GB" sz="1800" dirty="0" smtClean="0"/>
              <a:t>checklist first</a:t>
            </a:r>
          </a:p>
          <a:p>
            <a:pPr lvl="1"/>
            <a:endParaRPr lang="en-GB" sz="1800" dirty="0" smtClean="0"/>
          </a:p>
          <a:p>
            <a:r>
              <a:rPr lang="en-GB" dirty="0"/>
              <a:t>Checklist</a:t>
            </a:r>
          </a:p>
          <a:p>
            <a:pPr marL="768218" lvl="1" indent="-342900">
              <a:buFont typeface="+mj-lt"/>
              <a:buAutoNum type="arabicPeriod"/>
            </a:pPr>
            <a:r>
              <a:rPr lang="en-GB" sz="1800" dirty="0" smtClean="0"/>
              <a:t>Check your connections, twice</a:t>
            </a:r>
          </a:p>
          <a:p>
            <a:pPr marL="768218" lvl="1" indent="-342900">
              <a:buFont typeface="+mj-lt"/>
              <a:buAutoNum type="arabicPeriod"/>
            </a:pPr>
            <a:r>
              <a:rPr lang="en-GB" sz="1800" dirty="0" smtClean="0"/>
              <a:t>Write a program to pulse a signal on each line, each line on at a time</a:t>
            </a:r>
          </a:p>
          <a:p>
            <a:pPr marL="768218" lvl="1" indent="-342900">
              <a:buFont typeface="+mj-lt"/>
              <a:buAutoNum type="arabicPeriod"/>
            </a:pPr>
            <a:r>
              <a:rPr lang="en-GB" sz="1800" dirty="0" smtClean="0"/>
              <a:t>Always use the software SPI first to prove connectivity</a:t>
            </a:r>
          </a:p>
          <a:p>
            <a:pPr marL="768218" lvl="1" indent="-342900">
              <a:buFont typeface="+mj-lt"/>
              <a:buAutoNum type="arabicPeriod"/>
            </a:pPr>
            <a:r>
              <a:rPr lang="en-GB" sz="1800" dirty="0" smtClean="0"/>
              <a:t>Then, use PPS/hardware SPI is </a:t>
            </a:r>
            <a:r>
              <a:rPr lang="en-GB" sz="1800" dirty="0" smtClean="0"/>
              <a:t>#3 </a:t>
            </a:r>
            <a:r>
              <a:rPr lang="en-GB" sz="1800" dirty="0" smtClean="0"/>
              <a:t>works</a:t>
            </a:r>
            <a:endParaRPr lang="en-GB" sz="1800" dirty="0"/>
          </a:p>
          <a:p>
            <a:pPr marL="425318" lvl="1" indent="0">
              <a:buNone/>
            </a:pPr>
            <a:endParaRPr lang="en-GB" dirty="0"/>
          </a:p>
          <a:p>
            <a:endParaRPr lang="en-GB" sz="1200" dirty="0"/>
          </a:p>
          <a:p>
            <a:endParaRPr lang="en-GB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1812461"/>
            <a:ext cx="2837433" cy="3153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624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Lab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Review setup and operation of a SPI GLCD</a:t>
            </a:r>
          </a:p>
          <a:p>
            <a:pPr lvl="1"/>
            <a:r>
              <a:rPr lang="en-GB" dirty="0" smtClean="0"/>
              <a:t>Software SPI – bit banging</a:t>
            </a:r>
          </a:p>
          <a:p>
            <a:pPr lvl="1"/>
            <a:r>
              <a:rPr lang="en-GB" dirty="0" err="1" smtClean="0"/>
              <a:t>Harware</a:t>
            </a:r>
            <a:r>
              <a:rPr lang="en-GB" dirty="0" smtClean="0"/>
              <a:t> SPI – with PPS ( of course)</a:t>
            </a:r>
          </a:p>
          <a:p>
            <a:pPr lvl="2"/>
            <a:r>
              <a:rPr lang="en-GB" dirty="0" smtClean="0"/>
              <a:t>Conditional compilation</a:t>
            </a:r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958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 </a:t>
            </a:r>
            <a:r>
              <a:rPr lang="en-GB" sz="1100" dirty="0"/>
              <a:t>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smtClean="0"/>
              <a:t>I2C </a:t>
            </a:r>
            <a:r>
              <a:rPr lang="en-GB" sz="1100" dirty="0"/>
              <a:t>GCLD </a:t>
            </a:r>
            <a:r>
              <a:rPr lang="en-GB" sz="1100" dirty="0" smtClean="0"/>
              <a:t>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</a:t>
            </a:r>
            <a:r>
              <a:rPr lang="en-GB" sz="1100" dirty="0" smtClean="0"/>
              <a:t>SPI GLCD  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PWM</a:t>
            </a:r>
            <a:r>
              <a:rPr lang="en-GB" sz="1100" b="1" dirty="0" smtClean="0"/>
              <a:t>, many ways</a:t>
            </a:r>
            <a:r>
              <a:rPr lang="en-GB" sz="1100" b="1" dirty="0"/>
              <a:t>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215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  <a:endParaRPr lang="en-GB" dirty="0" smtClean="0"/>
          </a:p>
          <a:p>
            <a:r>
              <a:rPr lang="en-GB" dirty="0" smtClean="0"/>
              <a:t>Part 13 </a:t>
            </a:r>
            <a:r>
              <a:rPr lang="en-GB" dirty="0"/>
              <a:t>- Using a SPI GLCD  display </a:t>
            </a:r>
            <a:r>
              <a:rPr lang="en-GB" dirty="0" smtClean="0"/>
              <a:t>solutions</a:t>
            </a:r>
            <a:endParaRPr lang="en-GB" dirty="0"/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864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760" y="4074815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653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14988</TotalTime>
  <Words>758</Words>
  <Application>Microsoft Office PowerPoint</Application>
  <PresentationFormat>On-screen Show (16:9)</PresentationFormat>
  <Paragraphs>152</Paragraphs>
  <Slides>16</Slides>
  <Notes>1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GCstudioThemeLight</vt:lpstr>
      <vt:lpstr>GCBASIC</vt:lpstr>
      <vt:lpstr>GCBASIC</vt:lpstr>
      <vt:lpstr>GCBASIC</vt:lpstr>
      <vt:lpstr>PIC16F175xx</vt:lpstr>
      <vt:lpstr>Videos...</vt:lpstr>
      <vt:lpstr>GCBASIC Compiler</vt:lpstr>
      <vt:lpstr>Prerequisites </vt:lpstr>
      <vt:lpstr>SPI</vt:lpstr>
      <vt:lpstr>Hardware</vt:lpstr>
      <vt:lpstr>Setup - Connections</vt:lpstr>
      <vt:lpstr>Setup - Program</vt:lpstr>
      <vt:lpstr>Setup – when things do not work ..</vt:lpstr>
      <vt:lpstr>Lab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Evan R. Venn</cp:lastModifiedBy>
  <cp:revision>772</cp:revision>
  <dcterms:created xsi:type="dcterms:W3CDTF">2019-01-08T20:03:06Z</dcterms:created>
  <dcterms:modified xsi:type="dcterms:W3CDTF">2025-12-11T12:53:57Z</dcterms:modified>
</cp:coreProperties>
</file>