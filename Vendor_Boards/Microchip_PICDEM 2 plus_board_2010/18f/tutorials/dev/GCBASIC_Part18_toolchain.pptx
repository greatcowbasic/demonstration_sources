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handoutMasterIdLst>
    <p:handoutMasterId r:id="rId20"/>
  </p:handoutMasterIdLst>
  <p:sldIdLst>
    <p:sldId id="294" r:id="rId2"/>
    <p:sldId id="256" r:id="rId3"/>
    <p:sldId id="295" r:id="rId4"/>
    <p:sldId id="296" r:id="rId5"/>
    <p:sldId id="363" r:id="rId6"/>
    <p:sldId id="355" r:id="rId7"/>
    <p:sldId id="356" r:id="rId8"/>
    <p:sldId id="357" r:id="rId9"/>
    <p:sldId id="358" r:id="rId10"/>
    <p:sldId id="359" r:id="rId11"/>
    <p:sldId id="360" r:id="rId12"/>
    <p:sldId id="364" r:id="rId13"/>
    <p:sldId id="361" r:id="rId14"/>
    <p:sldId id="362" r:id="rId15"/>
    <p:sldId id="288" r:id="rId16"/>
    <p:sldId id="353" r:id="rId17"/>
    <p:sldId id="352" r:id="rId18"/>
  </p:sldIdLst>
  <p:sldSz cx="9144000" cy="5143500" type="screen16x9"/>
  <p:notesSz cx="6858000" cy="9144000"/>
  <p:defaultTextStyle>
    <a:defPPr>
      <a:defRPr lang="en-US"/>
    </a:defPPr>
    <a:lvl1pPr marL="0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64C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4660"/>
  </p:normalViewPr>
  <p:slideViewPr>
    <p:cSldViewPr>
      <p:cViewPr varScale="1">
        <p:scale>
          <a:sx n="146" d="100"/>
          <a:sy n="146" d="100"/>
        </p:scale>
        <p:origin x="-630" y="-204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97" d="100"/>
          <a:sy n="97" d="100"/>
        </p:scale>
        <p:origin x="-3582" y="-11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2E545A-AB39-44F0-B5A6-04A90C6C939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94131C5-F37A-4CF6-BFE3-A572240BD623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0428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100B3C-2E11-428B-8555-A77018253716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33471A-AA0F-4CD3-BA89-C1C7FB68C6DB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41865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1pPr>
    <a:lvl2pPr marL="425318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2pPr>
    <a:lvl3pPr marL="85063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3pPr>
    <a:lvl4pPr marL="1275954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4pPr>
    <a:lvl5pPr marL="1701273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5pPr>
    <a:lvl6pPr marL="2126591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551909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2977227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02546" algn="l" defTabSz="850636" rtl="0" eaLnBrk="1" latinLnBrk="0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733471A-AA0F-4CD3-BA89-C1C7FB68C6DB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16735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in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xmlns="" id="{9C757326-0232-4CDF-81FF-302CA676961B}"/>
              </a:ext>
            </a:extLst>
          </p:cNvPr>
          <p:cNvSpPr/>
          <p:nvPr/>
        </p:nvSpPr>
        <p:spPr>
          <a:xfrm>
            <a:off x="1" y="0"/>
            <a:ext cx="9143999" cy="5143500"/>
          </a:xfrm>
          <a:prstGeom prst="rect">
            <a:avLst/>
          </a:prstGeom>
          <a:solidFill>
            <a:srgbClr val="0A0E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4987E008-68E6-4A43-85BC-1A6ACDF91DE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1F8C892-C868-4DF6-91AB-B18CE632B1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43000"/>
            <a:ext cx="4900613" cy="2857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144618" y="1406112"/>
            <a:ext cx="3342860" cy="1369936"/>
          </a:xfrm>
        </p:spPr>
        <p:txBody>
          <a:bodyPr anchor="b">
            <a:normAutofit/>
          </a:bodyPr>
          <a:lstStyle>
            <a:lvl1pPr algn="l">
              <a:defRPr sz="4100" b="0" cap="none"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Add App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144617" y="2776047"/>
            <a:ext cx="334286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bg1">
                    <a:lumMod val="6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subtitle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xmlns="" id="{D547E580-E6D6-4D97-BB04-05795A830147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5374553" y="158920"/>
            <a:ext cx="1677709" cy="323789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accent1"/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Add web page</a:t>
            </a:r>
          </a:p>
        </p:txBody>
      </p:sp>
    </p:spTree>
    <p:extLst>
      <p:ext uri="{BB962C8B-B14F-4D97-AF65-F5344CB8AC3E}">
        <p14:creationId xmlns:p14="http://schemas.microsoft.com/office/powerpoint/2010/main" val="3656688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5B5B8CA2-02D4-408C-B548-182D4F5F54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512" y="483518"/>
            <a:ext cx="5400600" cy="990600"/>
          </a:xfrm>
        </p:spPr>
        <p:txBody>
          <a:bodyPr>
            <a:normAutofit/>
          </a:bodyPr>
          <a:lstStyle>
            <a:lvl1pPr>
              <a:defRPr sz="27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001" y="1786855"/>
            <a:ext cx="6447501" cy="274416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192000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382" y="-6350"/>
            <a:ext cx="9209330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75495" y="1803400"/>
            <a:ext cx="4124707" cy="1234727"/>
          </a:xfrm>
        </p:spPr>
        <p:txBody>
          <a:bodyPr anchor="b">
            <a:noAutofit/>
          </a:bodyPr>
          <a:lstStyle>
            <a:lvl1pPr algn="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5494" y="3038125"/>
            <a:ext cx="4124707" cy="822674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904912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EA8DB33B-8BF9-4C99-B31C-55246227EFD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81" y="-6350"/>
            <a:ext cx="9209328" cy="5158364"/>
          </a:xfrm>
          <a:prstGeom prst="rect">
            <a:avLst/>
          </a:prstGeom>
        </p:spPr>
      </p:pic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5493" y="1803400"/>
            <a:ext cx="6134709" cy="1234727"/>
          </a:xfrm>
        </p:spPr>
        <p:txBody>
          <a:bodyPr anchor="b">
            <a:noAutofit/>
          </a:bodyPr>
          <a:lstStyle>
            <a:lvl1pPr algn="ctr">
              <a:defRPr sz="41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5492" y="3038125"/>
            <a:ext cx="6134709" cy="822674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1177671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2025651"/>
            <a:ext cx="6447501" cy="1369936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6331EFED-43C1-4CBA-8BE3-308E3AA13B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3143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8001" y="1620442"/>
            <a:ext cx="3138026" cy="29105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17477" y="1620442"/>
            <a:ext cx="3138026" cy="291058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1034EA63-4BE3-4A73-A7E6-4A75BE4C1D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648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xmlns="" id="{204DC1E6-B5F4-4160-90F3-351FB3242E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4639034" cy="990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6809" y="1620737"/>
            <a:ext cx="3139217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6809" y="2052934"/>
            <a:ext cx="3139217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16287" y="1620737"/>
            <a:ext cx="3139214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16288" y="2052934"/>
            <a:ext cx="3139213" cy="24780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51651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E7897C67-3827-4595-8E3A-71E9F2EAB3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457200"/>
            <a:ext cx="4624895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94849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xmlns="" id="{F1825398-026A-4668-BB48-C16AD1C9062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6172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7CE2C968-D10A-4226-8FDC-CBC4C7EDD0B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123953"/>
            <a:ext cx="2890896" cy="958850"/>
          </a:xfrm>
        </p:spPr>
        <p:txBody>
          <a:bodyPr anchor="b">
            <a:normAutofit/>
          </a:bodyPr>
          <a:lstStyle>
            <a:lvl1pPr>
              <a:defRPr sz="15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98897" y="495300"/>
            <a:ext cx="3385156" cy="40357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2082802"/>
            <a:ext cx="2890896" cy="1938337"/>
          </a:xfrm>
        </p:spPr>
        <p:txBody>
          <a:bodyPr>
            <a:normAutofit/>
          </a:bodyPr>
          <a:lstStyle>
            <a:lvl1pPr marL="0" indent="0">
              <a:buNone/>
              <a:defRPr sz="1100"/>
            </a:lvl1pPr>
            <a:lvl2pPr marL="342797" indent="0">
              <a:buNone/>
              <a:defRPr sz="1100"/>
            </a:lvl2pPr>
            <a:lvl3pPr marL="685595" indent="0">
              <a:buNone/>
              <a:defRPr sz="900"/>
            </a:lvl3pPr>
            <a:lvl4pPr marL="1028392" indent="0">
              <a:buNone/>
              <a:defRPr sz="800"/>
            </a:lvl4pPr>
            <a:lvl5pPr marL="1371188" indent="0">
              <a:buNone/>
              <a:defRPr sz="800"/>
            </a:lvl5pPr>
            <a:lvl6pPr marL="1713986" indent="0">
              <a:buNone/>
              <a:defRPr sz="800"/>
            </a:lvl6pPr>
            <a:lvl7pPr marL="2056783" indent="0">
              <a:buNone/>
              <a:defRPr sz="800"/>
            </a:lvl7pPr>
            <a:lvl8pPr marL="2399580" indent="0">
              <a:buNone/>
              <a:defRPr sz="800"/>
            </a:lvl8pPr>
            <a:lvl9pPr marL="2742377" indent="0">
              <a:buNone/>
              <a:defRPr sz="8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798600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6AB5D66D-00C1-40EA-BFC8-305566F103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3600450"/>
            <a:ext cx="6447500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8001" y="706966"/>
            <a:ext cx="6447501" cy="2893484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1" y="4025504"/>
            <a:ext cx="6447500" cy="505518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900" indent="0">
              <a:buNone/>
              <a:defRPr sz="900"/>
            </a:lvl2pPr>
            <a:lvl3pPr marL="685800" indent="0">
              <a:buNone/>
              <a:defRPr sz="800"/>
            </a:lvl3pPr>
            <a:lvl4pPr marL="1028700" indent="0">
              <a:buNone/>
              <a:defRPr sz="700"/>
            </a:lvl4pPr>
            <a:lvl5pPr marL="1371600" indent="0">
              <a:buNone/>
              <a:defRPr sz="700"/>
            </a:lvl5pPr>
            <a:lvl6pPr marL="1714500" indent="0">
              <a:buNone/>
              <a:defRPr sz="700"/>
            </a:lvl6pPr>
            <a:lvl7pPr marL="2057400" indent="0">
              <a:buNone/>
              <a:defRPr sz="700"/>
            </a:lvl7pPr>
            <a:lvl8pPr marL="2400300" indent="0">
              <a:buNone/>
              <a:defRPr sz="700"/>
            </a:lvl8pPr>
            <a:lvl9pPr marL="2743200" indent="0">
              <a:buNone/>
              <a:defRPr sz="7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5029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255270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AD4D4CB4-D965-4BB6-B218-086244C13BA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62583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24604" y="2724150"/>
            <a:ext cx="5418393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52800"/>
            <a:ext cx="6447501" cy="1178222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0" name="TextBox 19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A3B58C4E-0EF0-466C-9740-EC9F485CBD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4879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1448991"/>
            <a:ext cx="6447501" cy="1946595"/>
          </a:xfrm>
        </p:spPr>
        <p:txBody>
          <a:bodyPr anchor="b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2D0B9223-1250-44AA-A6C3-F2013B85A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34787" y="0"/>
            <a:ext cx="9213573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8940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8500" y="457200"/>
            <a:ext cx="6070601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4" name="TextBox 23"/>
          <p:cNvSpPr txBox="1"/>
          <p:nvPr/>
        </p:nvSpPr>
        <p:spPr>
          <a:xfrm>
            <a:off x="406403" y="592784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69758" y="216491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xmlns="" id="{D49E1C7C-7E53-49A2-B2C9-52307876D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252917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57200"/>
            <a:ext cx="6441152" cy="2266950"/>
          </a:xfrm>
        </p:spPr>
        <p:txBody>
          <a:bodyPr anchor="ctr">
            <a:normAutofit/>
          </a:bodyPr>
          <a:lstStyle>
            <a:lvl1pPr algn="l">
              <a:defRPr sz="33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07999" y="3009900"/>
            <a:ext cx="6447502" cy="385686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900" indent="0">
              <a:buFontTx/>
              <a:buNone/>
              <a:defRPr/>
            </a:lvl2pPr>
            <a:lvl3pPr marL="685800" indent="0">
              <a:buFontTx/>
              <a:buNone/>
              <a:defRPr/>
            </a:lvl3pPr>
            <a:lvl4pPr marL="1028700" indent="0">
              <a:buFontTx/>
              <a:buNone/>
              <a:defRPr/>
            </a:lvl4pPr>
            <a:lvl5pPr marL="13716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3395586"/>
            <a:ext cx="6447501" cy="1135436"/>
          </a:xfrm>
        </p:spPr>
        <p:txBody>
          <a:bodyPr anchor="t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3082AB0-2BB5-46FE-9A17-15E1ACC069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0260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862E859-E5AF-4D76-9FC9-2355B24FF1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5402469" cy="9906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0567031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91908D0E-7544-4687-965B-72EF64AA4C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3022" y="0"/>
            <a:ext cx="9190044" cy="51435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5755" y="934278"/>
            <a:ext cx="978557" cy="3461510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8001" y="457200"/>
            <a:ext cx="5295113" cy="3938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466874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6350"/>
            <a:ext cx="9144000" cy="5149850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8001" y="457200"/>
            <a:ext cx="6447501" cy="9906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1" y="1620442"/>
            <a:ext cx="6447501" cy="291058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3850" y="4531022"/>
            <a:ext cx="68395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73AACB-D821-4991-9D88-46EB8D29E619}" type="datetimeFigureOut">
              <a:rPr lang="en-GB" smtClean="0"/>
              <a:pPr/>
              <a:t>18/12/2025</a:t>
            </a:fld>
            <a:endParaRPr lang="en-GB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8001" y="4531022"/>
            <a:ext cx="4723209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2998" y="4531022"/>
            <a:ext cx="512504" cy="273844"/>
          </a:xfrm>
          <a:prstGeom prst="rect">
            <a:avLst/>
          </a:prstGeom>
        </p:spPr>
        <p:txBody>
          <a:bodyPr vert="horz" lIns="68580" tIns="34290" rIns="68580" bIns="34290" rtlCol="0" anchor="ctr"/>
          <a:lstStyle>
            <a:lvl1pPr algn="r">
              <a:defRPr sz="700">
                <a:solidFill>
                  <a:schemeClr val="accent1"/>
                </a:solidFill>
              </a:defRPr>
            </a:lvl1pPr>
          </a:lstStyle>
          <a:p>
            <a:fld id="{B25064BB-E67B-4C9B-9AC8-E5B521C073FA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4436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txStyles>
    <p:titleStyle>
      <a:lvl1pPr algn="l" defTabSz="342900" rtl="0" eaLnBrk="1" latinLnBrk="0" hangingPunct="1">
        <a:spcBef>
          <a:spcPct val="0"/>
        </a:spcBef>
        <a:buNone/>
        <a:defRPr sz="27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75" indent="-257175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213" indent="-214313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8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7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650" indent="-171450" algn="l" defTabSz="342900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gcbasic.com/" TargetMode="Externa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hyperlink" Target="https://gcbasic.com/learn-more-gc-code/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://ww1.microchip.com/downloads/en/DeviceDoc/PICkit3%20Programmer%20Application%20v3.10.zip" TargetMode="External"/><Relationship Id="rId13" Type="http://schemas.openxmlformats.org/officeDocument/2006/relationships/hyperlink" Target="https://sourceforge.net/p/gcbasic/code/HEAD/tree/utils/" TargetMode="External"/><Relationship Id="rId3" Type="http://schemas.openxmlformats.org/officeDocument/2006/relationships/hyperlink" Target="https://github.com/Anobium/Great-Cow-BASIC-Library-Development/tree/master/USB_Serial/USB_DFU/PIC16F1-USB-DFU-Bootloader-Resource/tools/GCB" TargetMode="External"/><Relationship Id="rId7" Type="http://schemas.openxmlformats.org/officeDocument/2006/relationships/hyperlink" Target="https://www.microchip.com/DevelopmentTools/ProductDetails/PartNO/PG164120" TargetMode="External"/><Relationship Id="rId12" Type="http://schemas.openxmlformats.org/officeDocument/2006/relationships/hyperlink" Target="http://tinypicbootload.sourceforge.net/" TargetMode="External"/><Relationship Id="rId2" Type="http://schemas.openxmlformats.org/officeDocument/2006/relationships/hyperlink" Target="http://savannah.nongnu.org/projects/avrdud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northernsoftware.com/" TargetMode="External"/><Relationship Id="rId11" Type="http://schemas.openxmlformats.org/officeDocument/2006/relationships/hyperlink" Target="http://picpgm.picprojects.net/" TargetMode="External"/><Relationship Id="rId5" Type="http://schemas.openxmlformats.org/officeDocument/2006/relationships/hyperlink" Target="https://github.com/micronucleus/micronucleus" TargetMode="External"/><Relationship Id="rId10" Type="http://schemas.openxmlformats.org/officeDocument/2006/relationships/hyperlink" Target="http://www.pickitplus.co.uk/" TargetMode="External"/><Relationship Id="rId4" Type="http://schemas.openxmlformats.org/officeDocument/2006/relationships/hyperlink" Target="http://www.kitsrus.com/pic.html" TargetMode="External"/><Relationship Id="rId9" Type="http://schemas.openxmlformats.org/officeDocument/2006/relationships/hyperlink" Target="http://www.autoitscript.com/" TargetMode="External"/><Relationship Id="rId14" Type="http://schemas.openxmlformats.org/officeDocument/2006/relationships/hyperlink" Target="https://www.microchip.com/mplab/mplab-x-ide" TargetMode="Externa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4144617" y="2776047"/>
            <a:ext cx="3163687" cy="645300"/>
          </a:xfrm>
        </p:spPr>
        <p:txBody>
          <a:bodyPr>
            <a:normAutofit/>
          </a:bodyPr>
          <a:lstStyle/>
          <a:p>
            <a:r>
              <a:rPr lang="en-GB" dirty="0" smtClean="0"/>
              <a:t>PIC16F175xx</a:t>
            </a:r>
            <a:endParaRPr lang="en-GB" dirty="0" smtClean="0"/>
          </a:p>
          <a:p>
            <a:pPr marL="538163" indent="-538163"/>
            <a:r>
              <a:rPr lang="en-GB" dirty="0" smtClean="0"/>
              <a:t>Part 18 - The GCBASIC Tool Chain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340437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18 - The GCBASIC Tool Chain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7" name="Rectangle 6"/>
          <p:cNvSpPr/>
          <p:nvPr/>
        </p:nvSpPr>
        <p:spPr>
          <a:xfrm>
            <a:off x="539552" y="2067694"/>
            <a:ext cx="7367888" cy="70788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4000" b="1" dirty="0" smtClean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Like and subscribe</a:t>
            </a:r>
            <a:r>
              <a:rPr lang="en-US" sz="4000" b="1" dirty="0">
                <a:ln w="10541" cmpd="sng">
                  <a:solidFill>
                    <a:srgbClr val="7D7D7D">
                      <a:tint val="100000"/>
                      <a:shade val="100000"/>
                      <a:satMod val="110000"/>
                    </a:srgbClr>
                  </a:solidFill>
                  <a:prstDash val="solid"/>
                </a:ln>
                <a:solidFill>
                  <a:srgbClr val="FF0000"/>
                </a:solidFill>
              </a:rPr>
              <a:t>!</a:t>
            </a:r>
            <a:endParaRPr lang="en-US" sz="4000" b="1" dirty="0" smtClean="0">
              <a:ln w="10541" cmpd="sng">
                <a:solidFill>
                  <a:srgbClr val="7D7D7D">
                    <a:tint val="100000"/>
                    <a:shade val="100000"/>
                    <a:satMod val="110000"/>
                  </a:srgbClr>
                </a:solidFill>
                <a:prstDash val="solid"/>
              </a:ln>
              <a:solidFill>
                <a:srgbClr val="FF0000"/>
              </a:solidFill>
            </a:endParaRPr>
          </a:p>
        </p:txBody>
      </p:sp>
      <p:sp>
        <p:nvSpPr>
          <p:cNvPr id="11" name="Date Placeholder 3"/>
          <p:cNvSpPr>
            <a:spLocks noGrp="1"/>
          </p:cNvSpPr>
          <p:nvPr>
            <p:ph type="dt" sz="half" idx="10"/>
          </p:nvPr>
        </p:nvSpPr>
        <p:spPr>
          <a:xfrm>
            <a:off x="6113182" y="4384422"/>
            <a:ext cx="354882" cy="305233"/>
          </a:xfrm>
        </p:spPr>
        <p:txBody>
          <a:bodyPr/>
          <a:lstStyle/>
          <a:p>
            <a:fld id="{1E700B27-DE4C-4B9E-BB11-B9027034A00F}" type="datetimeFigureOut">
              <a:rPr lang="en-US" smtClean="0"/>
              <a:pPr/>
              <a:t>12/18/2025</a:t>
            </a:fld>
            <a:endParaRPr lang="en-US" dirty="0"/>
          </a:p>
        </p:txBody>
      </p:sp>
      <p:pic>
        <p:nvPicPr>
          <p:cNvPr id="9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11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3573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 smtClean="0"/>
              <a:t>The </a:t>
            </a:r>
            <a:r>
              <a:rPr lang="en-GB" sz="1100" b="1" dirty="0"/>
              <a:t>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Assembly , alternatives assemblers and MPLAB-X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19478655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PIC16F175xx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GB" dirty="0" smtClean="0"/>
              <a:t>PIC16175xx  is a high performance PIC16</a:t>
            </a:r>
          </a:p>
          <a:p>
            <a:pPr lvl="1"/>
            <a:r>
              <a:rPr lang="en-GB" b="1" dirty="0"/>
              <a:t>Digital and </a:t>
            </a:r>
            <a:r>
              <a:rPr lang="en-GB" b="1" dirty="0" err="1"/>
              <a:t>analog</a:t>
            </a:r>
            <a:r>
              <a:rPr lang="en-GB" b="1" dirty="0"/>
              <a:t> peripherals</a:t>
            </a:r>
            <a:r>
              <a:rPr lang="en-GB" dirty="0"/>
              <a:t> for flexible embedded control</a:t>
            </a:r>
          </a:p>
          <a:p>
            <a:pPr lvl="1"/>
            <a:r>
              <a:rPr lang="en-GB" b="1" dirty="0"/>
              <a:t>10-bit ADC</a:t>
            </a:r>
            <a:r>
              <a:rPr lang="en-GB" dirty="0"/>
              <a:t> for accurate </a:t>
            </a:r>
            <a:r>
              <a:rPr lang="en-GB" dirty="0" err="1"/>
              <a:t>analog</a:t>
            </a:r>
            <a:r>
              <a:rPr lang="en-GB" dirty="0"/>
              <a:t> signal conversion</a:t>
            </a:r>
          </a:p>
          <a:p>
            <a:pPr lvl="1"/>
            <a:r>
              <a:rPr lang="en-GB" b="1" dirty="0"/>
              <a:t>Multiple communication interfaces</a:t>
            </a:r>
            <a:r>
              <a:rPr lang="en-GB" dirty="0"/>
              <a:t> including UART (serial), I²C, and SPI</a:t>
            </a:r>
          </a:p>
          <a:p>
            <a:pPr lvl="1"/>
            <a:r>
              <a:rPr lang="en-GB" b="1" dirty="0"/>
              <a:t>PWM modules</a:t>
            </a:r>
            <a:r>
              <a:rPr lang="en-GB" dirty="0"/>
              <a:t> with CCP and 16-bit resolution for precise timing and motor control</a:t>
            </a:r>
          </a:p>
          <a:p>
            <a:pPr lvl="1"/>
            <a:r>
              <a:rPr lang="en-GB" b="1" dirty="0"/>
              <a:t>Configurable Logic Cells (CLCs)</a:t>
            </a:r>
            <a:r>
              <a:rPr lang="en-GB" dirty="0"/>
              <a:t> for custom hardware-level logic without external components</a:t>
            </a:r>
          </a:p>
          <a:p>
            <a:pPr lvl="1"/>
            <a:r>
              <a:rPr lang="en-GB" b="1" dirty="0"/>
              <a:t>Integrated op amps</a:t>
            </a:r>
            <a:r>
              <a:rPr lang="en-GB" dirty="0"/>
              <a:t> for </a:t>
            </a:r>
            <a:r>
              <a:rPr lang="en-GB" dirty="0" err="1"/>
              <a:t>onboard</a:t>
            </a:r>
            <a:r>
              <a:rPr lang="en-GB" dirty="0"/>
              <a:t> </a:t>
            </a:r>
            <a:r>
              <a:rPr lang="en-GB" dirty="0" err="1"/>
              <a:t>analog</a:t>
            </a:r>
            <a:r>
              <a:rPr lang="en-GB" dirty="0"/>
              <a:t> signal conditioning and amplification</a:t>
            </a:r>
          </a:p>
          <a:p>
            <a:endParaRPr lang="en-GB" dirty="0" smtClean="0"/>
          </a:p>
          <a:p>
            <a:r>
              <a:rPr lang="en-GB" dirty="0" smtClean="0"/>
              <a:t>The PIC16175xx offers 14, 20, 28, 40 and 44-pin products in small footprint packages to support customers in a wide variety of applications. 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8977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9" y="170765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100" dirty="0" smtClean="0"/>
              <a:t>GCBASIC </a:t>
            </a:r>
            <a:r>
              <a:rPr lang="en-GB" sz="1500" dirty="0" smtClean="0"/>
              <a:t>Compiler</a:t>
            </a:r>
            <a:endParaRPr lang="en-GB" sz="1100" dirty="0"/>
          </a:p>
        </p:txBody>
      </p:sp>
      <p:sp>
        <p:nvSpPr>
          <p:cNvPr id="1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13" name="TextBox 12"/>
          <p:cNvSpPr txBox="1"/>
          <p:nvPr/>
        </p:nvSpPr>
        <p:spPr>
          <a:xfrm>
            <a:off x="4139952" y="1491632"/>
            <a:ext cx="3960440" cy="2178773"/>
          </a:xfrm>
          <a:prstGeom prst="rect">
            <a:avLst/>
          </a:prstGeom>
          <a:solidFill>
            <a:schemeClr val="bg1"/>
          </a:solidFill>
        </p:spPr>
        <p:txBody>
          <a:bodyPr wrap="square" lIns="85064" tIns="42531" rIns="85064" bIns="42531" rtlCol="0">
            <a:spAutoFit/>
          </a:bodyPr>
          <a:lstStyle/>
          <a:p>
            <a:r>
              <a:rPr lang="en-GB" dirty="0" smtClean="0"/>
              <a:t>GCBASIC is an Open Source compiler for PIC, AVR and LGT microcontrollers</a:t>
            </a:r>
          </a:p>
          <a:p>
            <a:endParaRPr lang="en-GB" dirty="0" smtClean="0"/>
          </a:p>
          <a:p>
            <a:r>
              <a:rPr lang="en-GB" dirty="0" smtClean="0"/>
              <a:t>GCBASIC now supports the </a:t>
            </a:r>
            <a:r>
              <a:rPr lang="en-GB" dirty="0" smtClean="0"/>
              <a:t>16F175xx </a:t>
            </a:r>
            <a:r>
              <a:rPr lang="en-GB" dirty="0" smtClean="0"/>
              <a:t>chip family</a:t>
            </a:r>
          </a:p>
          <a:p>
            <a:endParaRPr lang="en-GB" dirty="0" smtClean="0"/>
          </a:p>
          <a:p>
            <a:r>
              <a:rPr lang="en-GB" dirty="0" smtClean="0"/>
              <a:t>GCBASIC is a cross platform with common code translation 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003315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9542" y="915566"/>
            <a:ext cx="5028777" cy="31325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Oval 3"/>
          <p:cNvSpPr/>
          <p:nvPr/>
        </p:nvSpPr>
        <p:spPr>
          <a:xfrm>
            <a:off x="1835695" y="2475300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grpSp>
        <p:nvGrpSpPr>
          <p:cNvPr id="2" name="Group 15"/>
          <p:cNvGrpSpPr/>
          <p:nvPr/>
        </p:nvGrpSpPr>
        <p:grpSpPr>
          <a:xfrm>
            <a:off x="1783854" y="2366980"/>
            <a:ext cx="3313129" cy="1754113"/>
            <a:chOff x="1783854" y="2366980"/>
            <a:chExt cx="3313129" cy="1754113"/>
          </a:xfrm>
        </p:grpSpPr>
        <p:sp>
          <p:nvSpPr>
            <p:cNvPr id="5" name="Oval 4"/>
            <p:cNvSpPr/>
            <p:nvPr/>
          </p:nvSpPr>
          <p:spPr>
            <a:xfrm>
              <a:off x="1783854" y="2366980"/>
              <a:ext cx="1852042" cy="175411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GCBASIC IDE</a:t>
              </a:r>
              <a:endParaRPr lang="en-GB" sz="1200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3491880" y="2859782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GC Studio</a:t>
              </a:r>
              <a:endParaRPr lang="en-GB" sz="1200" dirty="0"/>
            </a:p>
          </p:txBody>
        </p:sp>
      </p:grpSp>
      <p:sp>
        <p:nvSpPr>
          <p:cNvPr id="6" name="Oval 5"/>
          <p:cNvSpPr/>
          <p:nvPr/>
        </p:nvSpPr>
        <p:spPr>
          <a:xfrm>
            <a:off x="323528" y="2805508"/>
            <a:ext cx="1605103" cy="877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Programmers</a:t>
            </a:r>
            <a:endParaRPr lang="en-GB" sz="1200" dirty="0"/>
          </a:p>
        </p:txBody>
      </p:sp>
      <p:sp>
        <p:nvSpPr>
          <p:cNvPr id="7" name="Oval 6"/>
          <p:cNvSpPr/>
          <p:nvPr/>
        </p:nvSpPr>
        <p:spPr>
          <a:xfrm rot="2221719">
            <a:off x="857817" y="1707654"/>
            <a:ext cx="1605103" cy="877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err="1" smtClean="0"/>
              <a:t>PPSTool</a:t>
            </a:r>
            <a:endParaRPr lang="en-GB" sz="1200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Windows IDEs</a:t>
            </a:r>
            <a:endParaRPr lang="en-GB" dirty="0"/>
          </a:p>
        </p:txBody>
      </p:sp>
      <p:grpSp>
        <p:nvGrpSpPr>
          <p:cNvPr id="3" name="Tools"/>
          <p:cNvGrpSpPr/>
          <p:nvPr/>
        </p:nvGrpSpPr>
        <p:grpSpPr>
          <a:xfrm>
            <a:off x="2919440" y="1765436"/>
            <a:ext cx="1641041" cy="3057911"/>
            <a:chOff x="2805657" y="1165157"/>
            <a:chExt cx="1641041" cy="3057911"/>
          </a:xfrm>
        </p:grpSpPr>
        <p:sp>
          <p:nvSpPr>
            <p:cNvPr id="9" name="Oval 8"/>
            <p:cNvSpPr/>
            <p:nvPr/>
          </p:nvSpPr>
          <p:spPr>
            <a:xfrm rot="19275749">
              <a:off x="2841595" y="1165157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err="1" smtClean="0"/>
                <a:t>AVRInfo</a:t>
              </a:r>
              <a:endParaRPr lang="en-GB" sz="1200" dirty="0" smtClean="0"/>
            </a:p>
            <a:p>
              <a:pPr algn="ctr"/>
              <a:r>
                <a:rPr lang="en-GB" sz="1200" dirty="0" smtClean="0"/>
                <a:t>CLC</a:t>
              </a:r>
            </a:p>
            <a:p>
              <a:pPr algn="ctr"/>
              <a:r>
                <a:rPr lang="en-GB" sz="1200" dirty="0" err="1" smtClean="0"/>
                <a:t>PicInfo</a:t>
              </a:r>
              <a:r>
                <a:rPr lang="en-GB" sz="1200" dirty="0" smtClean="0"/>
                <a:t> </a:t>
              </a:r>
            </a:p>
            <a:p>
              <a:pPr algn="ctr"/>
              <a:r>
                <a:rPr lang="en-GB" sz="1200" dirty="0" smtClean="0"/>
                <a:t>PSMC</a:t>
              </a:r>
              <a:endParaRPr lang="en-GB" sz="1200" dirty="0"/>
            </a:p>
          </p:txBody>
        </p:sp>
        <p:sp>
          <p:nvSpPr>
            <p:cNvPr id="10" name="Oval 9"/>
            <p:cNvSpPr/>
            <p:nvPr/>
          </p:nvSpPr>
          <p:spPr>
            <a:xfrm rot="2691868">
              <a:off x="2805657" y="3346011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Terminal</a:t>
              </a:r>
              <a:endParaRPr lang="en-GB" sz="1200" dirty="0"/>
            </a:p>
          </p:txBody>
        </p:sp>
      </p:grpSp>
      <p:grpSp>
        <p:nvGrpSpPr>
          <p:cNvPr id="8" name="Group 23"/>
          <p:cNvGrpSpPr/>
          <p:nvPr/>
        </p:nvGrpSpPr>
        <p:grpSpPr>
          <a:xfrm>
            <a:off x="38100" y="3314700"/>
            <a:ext cx="2426025" cy="1466850"/>
            <a:chOff x="38100" y="3314700"/>
            <a:chExt cx="2426025" cy="1466850"/>
          </a:xfrm>
        </p:grpSpPr>
        <p:sp>
          <p:nvSpPr>
            <p:cNvPr id="11" name="Oval 10"/>
            <p:cNvSpPr/>
            <p:nvPr/>
          </p:nvSpPr>
          <p:spPr>
            <a:xfrm rot="19109505">
              <a:off x="859022" y="3875123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Program Editor</a:t>
              </a:r>
            </a:p>
          </p:txBody>
        </p:sp>
        <p:sp>
          <p:nvSpPr>
            <p:cNvPr id="23" name="Freeform 22"/>
            <p:cNvSpPr/>
            <p:nvPr/>
          </p:nvSpPr>
          <p:spPr>
            <a:xfrm>
              <a:off x="38100" y="3314700"/>
              <a:ext cx="971550" cy="1466850"/>
            </a:xfrm>
            <a:custGeom>
              <a:avLst/>
              <a:gdLst>
                <a:gd name="connsiteX0" fmla="*/ 971550 w 971550"/>
                <a:gd name="connsiteY0" fmla="*/ 1466850 h 1466850"/>
                <a:gd name="connsiteX1" fmla="*/ 114300 w 971550"/>
                <a:gd name="connsiteY1" fmla="*/ 971550 h 1466850"/>
                <a:gd name="connsiteX2" fmla="*/ 285750 w 971550"/>
                <a:gd name="connsiteY2" fmla="*/ 0 h 14668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71550" h="1466850">
                  <a:moveTo>
                    <a:pt x="971550" y="1466850"/>
                  </a:moveTo>
                  <a:cubicBezTo>
                    <a:pt x="600075" y="1341437"/>
                    <a:pt x="228600" y="1216025"/>
                    <a:pt x="114300" y="971550"/>
                  </a:cubicBezTo>
                  <a:cubicBezTo>
                    <a:pt x="0" y="727075"/>
                    <a:pt x="239713" y="144463"/>
                    <a:pt x="285750" y="0"/>
                  </a:cubicBezTo>
                </a:path>
              </a:pathLst>
            </a:custGeom>
            <a:ln w="38100">
              <a:solidFill>
                <a:srgbClr val="FF0000"/>
              </a:solidFill>
              <a:headEnd type="oval" w="med" len="med"/>
              <a:tailEnd type="oval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3" name="Rectangle 12"/>
          <p:cNvSpPr/>
          <p:nvPr/>
        </p:nvSpPr>
        <p:spPr>
          <a:xfrm>
            <a:off x="6156176" y="4207846"/>
            <a:ext cx="2023118" cy="35394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3"/>
              </a:rPr>
              <a:t>https://gcbasic.com/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4079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3" name="Picture 5">
            <a:hlinkClick r:id="rId2"/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63688" y="123478"/>
            <a:ext cx="5628260" cy="4896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5772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400600" cy="990600"/>
          </a:xfrm>
        </p:spPr>
        <p:txBody>
          <a:bodyPr/>
          <a:lstStyle/>
          <a:p>
            <a:pPr algn="l"/>
            <a:r>
              <a:rPr lang="en-GB" dirty="0" smtClean="0"/>
              <a:t>Tool chain</a:t>
            </a:r>
            <a:endParaRPr lang="en-GB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112218"/>
              </p:ext>
            </p:extLst>
          </p:nvPr>
        </p:nvGraphicFramePr>
        <p:xfrm>
          <a:off x="1187624" y="771550"/>
          <a:ext cx="7272808" cy="4097966"/>
        </p:xfrm>
        <a:graphic>
          <a:graphicData uri="http://schemas.openxmlformats.org/drawingml/2006/table">
            <a:tbl>
              <a:tblPr/>
              <a:tblGrid>
                <a:gridCol w="1991774"/>
                <a:gridCol w="1032562"/>
                <a:gridCol w="467340"/>
                <a:gridCol w="1084950"/>
                <a:gridCol w="388639"/>
                <a:gridCol w="2307543"/>
              </a:tblGrid>
              <a:tr h="140531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APPLICATION TITLE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CLASS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CORE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OS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SEEN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MAINTAINED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</a:tr>
              <a:tr h="219509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GCBASIC  compiler</a:t>
                      </a:r>
                      <a:endParaRPr lang="en-GB" sz="8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Compiler/Linker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Great Cow Graphical BASIC IDE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IDE/Compiler/Linker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AVRInfo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AVRDude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2"/>
                        </a:rPr>
                        <a:t>http://savannah.nongnu.org\projects\avrdude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CLC Designer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Converters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Converter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CoolTerm</a:t>
                      </a:r>
                      <a:endParaRPr lang="en-GB" sz="7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Terminal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Yes, see website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DFU Bootloader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3"/>
                        </a:rPr>
                        <a:t>Anobium..GITHub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GC Code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GC Studio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40294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G+Stool</a:t>
                      </a:r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Management Supervisor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K150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4"/>
                        </a:rPr>
                        <a:t>http://www.kitsrus.com/pic.html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Micronucleus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5"/>
                        </a:rPr>
                        <a:t>Micronucleus..GitHub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Northern Software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6"/>
                        </a:rPr>
                        <a:t>https://www.northernsoftware.com/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PICInfo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PicKit2 command line – for older chips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7"/>
                        </a:rPr>
                        <a:t>Microchip website</a:t>
                      </a:r>
                      <a:endParaRPr lang="en-GB" sz="700" b="1" i="0" u="sng" strike="noStrike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PicKit2 GUI – for older chips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7"/>
                        </a:rPr>
                        <a:t>Microchip website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PicKit3 GUI – for older chips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8"/>
                        </a:rPr>
                        <a:t>Microchip Website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PicKit3 MPLAB-IPE integration tool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9"/>
                        </a:rPr>
                        <a:t>http://www.autoitscript.com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PICKitPlus – PICkit2 and PICKit3 suite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0"/>
                        </a:rPr>
                        <a:t>www.pickitplus.co.uk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PICPgm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1"/>
                        </a:rPr>
                        <a:t>http://picpgm.picprojects.net/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PPS Tool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 editor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PSMC Designer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Code Generator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No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Putty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Terminal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Yes, see website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SynWrite IDE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IDE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Terminal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Terminal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Yes, see website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TinyBootLoader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2"/>
                        </a:rPr>
                        <a:t>http://tinypicbootload.sourceforge.net/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XpressLoader  for Microchip Xpress boards 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3"/>
                        </a:rPr>
                        <a:t>https://sourceforge.net/p/gcbasic/code/HEAD/tree/utils/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MPLAB_IPE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Programmer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4"/>
                        </a:rPr>
                        <a:t>https://www.microchip.com/mplab/mplab-x-ide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GCASM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Compiler/Linker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Yes by GCBASIC team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PIC-AS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4"/>
                        </a:rPr>
                        <a:t>https://www.microchip.com/mplab/mplab-x-ide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MPASM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4"/>
                        </a:rPr>
                        <a:t>https://www.microchip.com/mplab/mplab-x-ide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2426">
                <a:tc>
                  <a:txBody>
                    <a:bodyPr/>
                    <a:lstStyle/>
                    <a:p>
                      <a:pPr algn="l" rtl="0" fontAlgn="b"/>
                      <a:r>
                        <a:rPr lang="en-GB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GPASM</a:t>
                      </a:r>
                    </a:p>
                  </a:txBody>
                  <a:tcPr marL="4814" marR="4814" marT="4814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Linker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n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1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Windows, Linux, BSD, MAC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Y</a:t>
                      </a:r>
                    </a:p>
                  </a:txBody>
                  <a:tcPr marL="4814" marR="4814" marT="4814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GB" sz="700" b="1" i="0" u="sng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  <a:hlinkClick r:id="rId14"/>
                        </a:rPr>
                        <a:t>https://www.microchip.com/mplab/mplab-x-ide</a:t>
                      </a:r>
                      <a:endParaRPr lang="en-GB" sz="700" b="1" i="0" u="sng" strike="noStrike" dirty="0">
                        <a:solidFill>
                          <a:srgbClr val="0000FF"/>
                        </a:solidFill>
                        <a:effectLst/>
                        <a:latin typeface="Calibri"/>
                      </a:endParaRPr>
                    </a:p>
                  </a:txBody>
                  <a:tcPr marL="4814" marR="4814" marT="4814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70679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6480720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19" idx="3"/>
            <a:endCxn id="20" idx="1"/>
          </p:cNvCxnSpPr>
          <p:nvPr/>
        </p:nvCxnSpPr>
        <p:spPr>
          <a:xfrm>
            <a:off x="6660232" y="2737252"/>
            <a:ext cx="288032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ASM 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13781" y="0"/>
            <a:ext cx="5400600" cy="990600"/>
          </a:xfrm>
        </p:spPr>
        <p:txBody>
          <a:bodyPr/>
          <a:lstStyle/>
          <a:p>
            <a:pPr algn="l"/>
            <a:r>
              <a:rPr lang="en-GB" dirty="0" smtClean="0"/>
              <a:t>The core compiler</a:t>
            </a:r>
            <a:endParaRPr lang="en-GB" dirty="0"/>
          </a:p>
        </p:txBody>
      </p:sp>
      <p:sp>
        <p:nvSpPr>
          <p:cNvPr id="48" name="Flowchart: Document 47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57" name="Straight Arrow Connector 56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4208537" y="1948959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463033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4796755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0" name="Flowchart: Process 19"/>
          <p:cNvSpPr/>
          <p:nvPr/>
        </p:nvSpPr>
        <p:spPr>
          <a:xfrm>
            <a:off x="6948264" y="2449220"/>
            <a:ext cx="1224136" cy="576064"/>
          </a:xfrm>
          <a:prstGeom prst="flowChartProcess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Linker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Absolute 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stCxn id="20" idx="3"/>
            <a:endCxn id="38" idx="0"/>
          </p:cNvCxnSpPr>
          <p:nvPr/>
        </p:nvCxnSpPr>
        <p:spPr>
          <a:xfrm>
            <a:off x="8172400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400600" cy="990600"/>
          </a:xfrm>
        </p:spPr>
        <p:txBody>
          <a:bodyPr/>
          <a:lstStyle/>
          <a:p>
            <a:pPr algn="l"/>
            <a:r>
              <a:rPr lang="en-GB" dirty="0" smtClean="0"/>
              <a:t>Compiler options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6932476" y="1554068"/>
            <a:ext cx="1255712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PIC-AS, MPASM, </a:t>
            </a:r>
          </a:p>
          <a:p>
            <a:pPr algn="ctr"/>
            <a:r>
              <a:rPr lang="en-GB" sz="1200" dirty="0" smtClean="0"/>
              <a:t>MPLAB-IDE,</a:t>
            </a:r>
          </a:p>
          <a:p>
            <a:pPr algn="ctr"/>
            <a:r>
              <a:rPr lang="en-GB" sz="1200" dirty="0" smtClean="0"/>
              <a:t>GPASM, AVRASM2</a:t>
            </a:r>
            <a:endParaRPr lang="en-GB" sz="1200" dirty="0"/>
          </a:p>
        </p:txBody>
      </p:sp>
      <p:cxnSp>
        <p:nvCxnSpPr>
          <p:cNvPr id="28" name="Shape 27"/>
          <p:cNvCxnSpPr>
            <a:stCxn id="37" idx="3"/>
            <a:endCxn id="20" idx="2"/>
          </p:cNvCxnSpPr>
          <p:nvPr/>
        </p:nvCxnSpPr>
        <p:spPr>
          <a:xfrm flipV="1">
            <a:off x="7452320" y="3025284"/>
            <a:ext cx="108012" cy="9361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ocument 32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64310" y="1905000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5492548" y="4659982"/>
            <a:ext cx="275081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PIC, AVR, AVR-DX and LGT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49578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Flowchart: Process 43"/>
          <p:cNvSpPr/>
          <p:nvPr/>
        </p:nvSpPr>
        <p:spPr>
          <a:xfrm>
            <a:off x="2051720" y="2161188"/>
            <a:ext cx="4796755" cy="1152128"/>
          </a:xfrm>
          <a:prstGeom prst="flowChartProcess">
            <a:avLst/>
          </a:prstGeom>
          <a:solidFill>
            <a:schemeClr val="accent1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Oval 3"/>
          <p:cNvSpPr/>
          <p:nvPr/>
        </p:nvSpPr>
        <p:spPr>
          <a:xfrm>
            <a:off x="107504" y="2161187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sp>
        <p:nvSpPr>
          <p:cNvPr id="15" name="Flowchart: Document 14"/>
          <p:cNvSpPr/>
          <p:nvPr/>
        </p:nvSpPr>
        <p:spPr>
          <a:xfrm>
            <a:off x="2451115" y="1297092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Source Code</a:t>
            </a:r>
            <a:endParaRPr lang="en-GB" sz="1600" dirty="0"/>
          </a:p>
        </p:txBody>
      </p:sp>
      <p:sp>
        <p:nvSpPr>
          <p:cNvPr id="16" name="Flowchart: Process 15"/>
          <p:cNvSpPr/>
          <p:nvPr/>
        </p:nvSpPr>
        <p:spPr>
          <a:xfrm>
            <a:off x="2271095" y="2449220"/>
            <a:ext cx="1512168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err="1" smtClean="0"/>
              <a:t>Preprocessor</a:t>
            </a:r>
            <a:endParaRPr lang="en-GB" sz="1600" dirty="0"/>
          </a:p>
        </p:txBody>
      </p:sp>
      <p:sp>
        <p:nvSpPr>
          <p:cNvPr id="17" name="Flowchart: Document 16"/>
          <p:cNvSpPr/>
          <p:nvPr/>
        </p:nvSpPr>
        <p:spPr>
          <a:xfrm>
            <a:off x="2451115" y="3601348"/>
            <a:ext cx="1152128" cy="720080"/>
          </a:xfrm>
          <a:prstGeom prst="flowChartDocumen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Libraries</a:t>
            </a:r>
            <a:endParaRPr lang="en-GB" sz="1600" dirty="0"/>
          </a:p>
        </p:txBody>
      </p:sp>
      <p:sp>
        <p:nvSpPr>
          <p:cNvPr id="18" name="Flowchart: Process 17"/>
          <p:cNvSpPr/>
          <p:nvPr/>
        </p:nvSpPr>
        <p:spPr>
          <a:xfrm>
            <a:off x="399593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Code Translator</a:t>
            </a:r>
            <a:endParaRPr lang="en-GB" sz="1600" dirty="0"/>
          </a:p>
        </p:txBody>
      </p:sp>
      <p:sp>
        <p:nvSpPr>
          <p:cNvPr id="19" name="Flowchart: Process 18"/>
          <p:cNvSpPr/>
          <p:nvPr/>
        </p:nvSpPr>
        <p:spPr>
          <a:xfrm>
            <a:off x="5436096" y="2449220"/>
            <a:ext cx="1224136" cy="576064"/>
          </a:xfrm>
          <a:prstGeom prst="flowChart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dirty="0" smtClean="0"/>
              <a:t>Assembler</a:t>
            </a:r>
            <a:endParaRPr lang="en-GB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2066182" y="920259"/>
            <a:ext cx="187429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High Level Language</a:t>
            </a:r>
            <a:endParaRPr lang="en-GB" sz="1600" dirty="0"/>
          </a:p>
        </p:txBody>
      </p:sp>
      <p:cxnSp>
        <p:nvCxnSpPr>
          <p:cNvPr id="27" name="Straight Arrow Connector 26"/>
          <p:cNvCxnSpPr>
            <a:stCxn id="18" idx="3"/>
            <a:endCxn id="19" idx="1"/>
          </p:cNvCxnSpPr>
          <p:nvPr/>
        </p:nvCxnSpPr>
        <p:spPr>
          <a:xfrm>
            <a:off x="5220072" y="2737252"/>
            <a:ext cx="216024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>
            <a:off x="3027179" y="1969567"/>
            <a:ext cx="0" cy="47965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/>
          <p:nvPr/>
        </p:nvCxnSpPr>
        <p:spPr>
          <a:xfrm flipV="1">
            <a:off x="3027179" y="3025284"/>
            <a:ext cx="0" cy="57606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16" idx="3"/>
            <a:endCxn id="18" idx="1"/>
          </p:cNvCxnSpPr>
          <p:nvPr/>
        </p:nvCxnSpPr>
        <p:spPr>
          <a:xfrm>
            <a:off x="3783263" y="2737252"/>
            <a:ext cx="212673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Flowchart: Document 36"/>
          <p:cNvSpPr/>
          <p:nvPr/>
        </p:nvSpPr>
        <p:spPr>
          <a:xfrm>
            <a:off x="6156176" y="3457332"/>
            <a:ext cx="1296144" cy="1008112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Assembly Language</a:t>
            </a:r>
          </a:p>
          <a:p>
            <a:pPr algn="ctr"/>
            <a:r>
              <a:rPr lang="en-GB" sz="1600" dirty="0" smtClean="0"/>
              <a:t>file</a:t>
            </a:r>
          </a:p>
          <a:p>
            <a:pPr algn="ctr"/>
            <a:endParaRPr lang="en-GB" sz="1600" dirty="0"/>
          </a:p>
        </p:txBody>
      </p:sp>
      <p:sp>
        <p:nvSpPr>
          <p:cNvPr id="38" name="Flowchart: Document 37"/>
          <p:cNvSpPr/>
          <p:nvPr/>
        </p:nvSpPr>
        <p:spPr>
          <a:xfrm>
            <a:off x="7668344" y="3457332"/>
            <a:ext cx="1296144" cy="1274658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Simulator or</a:t>
            </a:r>
          </a:p>
          <a:p>
            <a:pPr algn="ctr"/>
            <a:r>
              <a:rPr lang="en-GB" sz="1600" dirty="0" smtClean="0"/>
              <a:t>Absolute </a:t>
            </a:r>
            <a:r>
              <a:rPr lang="en-GB" sz="1600" dirty="0" smtClean="0"/>
              <a:t>Machine Code</a:t>
            </a:r>
          </a:p>
          <a:p>
            <a:pPr algn="ctr"/>
            <a:r>
              <a:rPr lang="en-GB" sz="1600" dirty="0" smtClean="0"/>
              <a:t>HEX file</a:t>
            </a:r>
          </a:p>
          <a:p>
            <a:pPr algn="ctr"/>
            <a:endParaRPr lang="en-GB" sz="1600" dirty="0"/>
          </a:p>
        </p:txBody>
      </p:sp>
      <p:cxnSp>
        <p:nvCxnSpPr>
          <p:cNvPr id="40" name="Shape 39"/>
          <p:cNvCxnSpPr>
            <a:stCxn id="19" idx="3"/>
            <a:endCxn id="37" idx="0"/>
          </p:cNvCxnSpPr>
          <p:nvPr/>
        </p:nvCxnSpPr>
        <p:spPr>
          <a:xfrm>
            <a:off x="6660232" y="2737252"/>
            <a:ext cx="144016" cy="720080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hape 41"/>
          <p:cNvCxnSpPr>
            <a:endCxn id="38" idx="0"/>
          </p:cNvCxnSpPr>
          <p:nvPr/>
        </p:nvCxnSpPr>
        <p:spPr>
          <a:xfrm rot="16200000" flipH="1">
            <a:off x="7884368" y="3025284"/>
            <a:ext cx="720080" cy="144016"/>
          </a:xfrm>
          <a:prstGeom prst="bentConnector3">
            <a:avLst>
              <a:gd name="adj1" fmla="val 50000"/>
            </a:avLst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5400600" cy="990600"/>
          </a:xfrm>
        </p:spPr>
        <p:txBody>
          <a:bodyPr/>
          <a:lstStyle/>
          <a:p>
            <a:pPr algn="l"/>
            <a:r>
              <a:rPr lang="en-GB" dirty="0" smtClean="0"/>
              <a:t>Debugger options</a:t>
            </a:r>
            <a:endParaRPr lang="en-GB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4" name="TextBox 23"/>
          <p:cNvSpPr txBox="1"/>
          <p:nvPr/>
        </p:nvSpPr>
        <p:spPr>
          <a:xfrm>
            <a:off x="6915004" y="2183082"/>
            <a:ext cx="1255712" cy="830997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1200" dirty="0" smtClean="0"/>
              <a:t>GC CODE DEBUGGER</a:t>
            </a:r>
            <a:br>
              <a:rPr lang="en-GB" sz="1200" dirty="0" smtClean="0"/>
            </a:br>
            <a:r>
              <a:rPr lang="en-GB" sz="1200" dirty="0" smtClean="0"/>
              <a:t>-------------</a:t>
            </a:r>
            <a:br>
              <a:rPr lang="en-GB" sz="1200" dirty="0" smtClean="0"/>
            </a:br>
            <a:r>
              <a:rPr lang="en-GB" sz="1200" dirty="0" smtClean="0"/>
              <a:t>PIC-AS </a:t>
            </a:r>
            <a:endParaRPr lang="en-GB" sz="1200" dirty="0"/>
          </a:p>
        </p:txBody>
      </p:sp>
      <p:cxnSp>
        <p:nvCxnSpPr>
          <p:cNvPr id="28" name="Shape 27"/>
          <p:cNvCxnSpPr>
            <a:stCxn id="37" idx="3"/>
          </p:cNvCxnSpPr>
          <p:nvPr/>
        </p:nvCxnSpPr>
        <p:spPr>
          <a:xfrm flipV="1">
            <a:off x="7452320" y="3025284"/>
            <a:ext cx="108012" cy="936104"/>
          </a:xfrm>
          <a:prstGeom prst="bentConnector2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Flowchart: Document 32"/>
          <p:cNvSpPr/>
          <p:nvPr/>
        </p:nvSpPr>
        <p:spPr>
          <a:xfrm>
            <a:off x="5508104" y="843558"/>
            <a:ext cx="1296144" cy="720080"/>
          </a:xfrm>
          <a:prstGeom prst="flowChartDocument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/>
          <a:lstStyle/>
          <a:p>
            <a:pPr algn="ctr"/>
            <a:r>
              <a:rPr lang="en-GB" sz="1600" dirty="0" smtClean="0"/>
              <a:t>Reports:</a:t>
            </a:r>
          </a:p>
          <a:p>
            <a:pPr algn="ctr"/>
            <a:r>
              <a:rPr lang="en-GB" sz="1600" dirty="0" smtClean="0"/>
              <a:t>TXT and HTML</a:t>
            </a:r>
          </a:p>
          <a:p>
            <a:pPr algn="ctr"/>
            <a:endParaRPr lang="en-GB" sz="1600" dirty="0"/>
          </a:p>
        </p:txBody>
      </p:sp>
      <p:cxnSp>
        <p:nvCxnSpPr>
          <p:cNvPr id="35" name="Straight Arrow Connector 34"/>
          <p:cNvCxnSpPr/>
          <p:nvPr/>
        </p:nvCxnSpPr>
        <p:spPr>
          <a:xfrm flipV="1">
            <a:off x="6300192" y="1491630"/>
            <a:ext cx="0" cy="64807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3764310" y="1905000"/>
            <a:ext cx="1807995" cy="353943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 smtClean="0"/>
              <a:t>GCBASIC Compiler</a:t>
            </a:r>
            <a:endParaRPr lang="en-GB" dirty="0"/>
          </a:p>
        </p:txBody>
      </p:sp>
      <p:sp>
        <p:nvSpPr>
          <p:cNvPr id="26" name="TextBox 25"/>
          <p:cNvSpPr txBox="1"/>
          <p:nvPr/>
        </p:nvSpPr>
        <p:spPr>
          <a:xfrm>
            <a:off x="6836009" y="4659982"/>
            <a:ext cx="8899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600" dirty="0" smtClean="0"/>
              <a:t>8 bit </a:t>
            </a:r>
            <a:r>
              <a:rPr lang="en-GB" sz="1600" dirty="0" smtClean="0"/>
              <a:t>PIC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606414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3"/>
          <p:cNvSpPr/>
          <p:nvPr/>
        </p:nvSpPr>
        <p:spPr>
          <a:xfrm>
            <a:off x="1835695" y="2475300"/>
            <a:ext cx="1605103" cy="142521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GCBASIC </a:t>
            </a:r>
            <a:r>
              <a:rPr lang="en-GB" sz="1600" dirty="0" smtClean="0"/>
              <a:t>Compiler</a:t>
            </a:r>
            <a:endParaRPr lang="en-GB" sz="1200" dirty="0"/>
          </a:p>
        </p:txBody>
      </p:sp>
      <p:grpSp>
        <p:nvGrpSpPr>
          <p:cNvPr id="2" name="Group 15"/>
          <p:cNvGrpSpPr/>
          <p:nvPr/>
        </p:nvGrpSpPr>
        <p:grpSpPr>
          <a:xfrm>
            <a:off x="1783854" y="2366980"/>
            <a:ext cx="3313129" cy="1754113"/>
            <a:chOff x="1783854" y="2366980"/>
            <a:chExt cx="3313129" cy="1754113"/>
          </a:xfrm>
        </p:grpSpPr>
        <p:sp>
          <p:nvSpPr>
            <p:cNvPr id="5" name="Oval 4"/>
            <p:cNvSpPr/>
            <p:nvPr/>
          </p:nvSpPr>
          <p:spPr>
            <a:xfrm>
              <a:off x="1783854" y="2366980"/>
              <a:ext cx="1852042" cy="1754113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An Editor</a:t>
              </a:r>
              <a:endParaRPr lang="en-GB" sz="1200" dirty="0"/>
            </a:p>
          </p:txBody>
        </p:sp>
        <p:sp>
          <p:nvSpPr>
            <p:cNvPr id="14" name="Oval 13"/>
            <p:cNvSpPr/>
            <p:nvPr/>
          </p:nvSpPr>
          <p:spPr>
            <a:xfrm>
              <a:off x="3491880" y="2931790"/>
              <a:ext cx="1605103" cy="877057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GB" sz="1200" dirty="0" smtClean="0"/>
                <a:t>Scripts</a:t>
              </a:r>
              <a:endParaRPr lang="en-GB" sz="1200" dirty="0"/>
            </a:p>
          </p:txBody>
        </p:sp>
      </p:grpSp>
      <p:sp>
        <p:nvSpPr>
          <p:cNvPr id="6" name="Oval 5"/>
          <p:cNvSpPr/>
          <p:nvPr/>
        </p:nvSpPr>
        <p:spPr>
          <a:xfrm>
            <a:off x="323528" y="2805508"/>
            <a:ext cx="1605103" cy="877057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r>
              <a:rPr lang="en-GB" sz="1200" dirty="0" smtClean="0"/>
              <a:t>Programmers</a:t>
            </a:r>
            <a:endParaRPr lang="en-GB" sz="1200" dirty="0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The Variants for Linux, BSD &amp; Mac</a:t>
            </a:r>
            <a:endParaRPr lang="en-GB" dirty="0"/>
          </a:p>
        </p:txBody>
      </p:sp>
      <p:sp>
        <p:nvSpPr>
          <p:cNvPr id="16" name="TextBox 15"/>
          <p:cNvSpPr txBox="1"/>
          <p:nvPr/>
        </p:nvSpPr>
        <p:spPr>
          <a:xfrm>
            <a:off x="5436096" y="1563638"/>
            <a:ext cx="3528392" cy="229293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GB" sz="1100" dirty="0" smtClean="0"/>
              <a:t>$ time LC_ALL=C  /opt/GCBASIC/makehex.sh code9.gcb</a:t>
            </a:r>
            <a:br>
              <a:rPr lang="en-GB" sz="1100" dirty="0" smtClean="0"/>
            </a:br>
            <a:r>
              <a:rPr lang="en-GB" sz="1100" dirty="0" smtClean="0"/>
              <a:t>GCBASIC (0.98.07 RC07 2020-04-01 (Linux 64 bit))</a:t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Compiling code9.gcb ...</a:t>
            </a:r>
            <a:br>
              <a:rPr lang="en-GB" sz="1100" dirty="0" smtClean="0"/>
            </a:br>
            <a:r>
              <a:rPr lang="en-GB" sz="1100" dirty="0" smtClean="0"/>
              <a:t>Done</a:t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Assembling program ...</a:t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Program assembled successfully!</a:t>
            </a:r>
            <a:br>
              <a:rPr lang="en-GB" sz="1100" dirty="0" smtClean="0"/>
            </a:br>
            <a:r>
              <a:rPr lang="en-GB" sz="1100" dirty="0" smtClean="0"/>
              <a:t/>
            </a:r>
            <a:br>
              <a:rPr lang="en-GB" sz="1100" dirty="0" smtClean="0"/>
            </a:br>
            <a:r>
              <a:rPr lang="en-GB" sz="1100" dirty="0" smtClean="0"/>
              <a:t>real 0m2,947s</a:t>
            </a:r>
            <a:br>
              <a:rPr lang="en-GB" sz="1100" dirty="0" smtClean="0"/>
            </a:br>
            <a:r>
              <a:rPr lang="en-GB" sz="1100" dirty="0" smtClean="0"/>
              <a:t>user 0m2,886s</a:t>
            </a:r>
            <a:br>
              <a:rPr lang="en-GB" sz="1100" dirty="0" smtClean="0"/>
            </a:br>
            <a:r>
              <a:rPr lang="en-GB" sz="1100" dirty="0" smtClean="0"/>
              <a:t>sys 0m0,045s</a:t>
            </a:r>
            <a:endParaRPr lang="en-GB" sz="1100" dirty="0"/>
          </a:p>
        </p:txBody>
      </p:sp>
    </p:spTree>
    <p:extLst>
      <p:ext uri="{BB962C8B-B14F-4D97-AF65-F5344CB8AC3E}">
        <p14:creationId xmlns:p14="http://schemas.microsoft.com/office/powerpoint/2010/main" val="1231967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GB" dirty="0" smtClean="0"/>
              <a:t>Lab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None/>
            </a:pPr>
            <a:r>
              <a:rPr lang="en-GB" sz="1400" dirty="0" smtClean="0"/>
              <a:t>We will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 smtClean="0"/>
              <a:t>Review PICINFO application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1400" dirty="0" smtClean="0"/>
              <a:t>Review </a:t>
            </a:r>
            <a:r>
              <a:rPr lang="en-GB" sz="1400" dirty="0" err="1"/>
              <a:t>AVRInfo</a:t>
            </a:r>
            <a:r>
              <a:rPr lang="en-GB" sz="1400" dirty="0"/>
              <a:t> application</a:t>
            </a:r>
            <a:endParaRPr lang="en-GB" sz="1400" dirty="0" smtClean="0"/>
          </a:p>
          <a:p>
            <a:pPr marL="457200" indent="-457200">
              <a:buFont typeface="+mj-lt"/>
              <a:buAutoNum type="arabicPeriod"/>
            </a:pPr>
            <a:r>
              <a:rPr lang="en-GB" sz="1400" dirty="0"/>
              <a:t>Edit Preferences application</a:t>
            </a:r>
            <a:endParaRPr lang="en-GB" sz="1400" dirty="0" smtClean="0"/>
          </a:p>
          <a:p>
            <a:pPr marL="457200" indent="-457200">
              <a:buFont typeface="+mj-lt"/>
              <a:buAutoNum type="arabicPeriod"/>
            </a:pPr>
            <a:r>
              <a:rPr lang="en-GB" sz="1400" dirty="0" smtClean="0"/>
              <a:t>Code portability</a:t>
            </a:r>
          </a:p>
          <a:p>
            <a:pPr marL="457200" indent="-457200">
              <a:buFont typeface="+mj-lt"/>
              <a:buAutoNum type="arabicPeriod"/>
            </a:pPr>
            <a:endParaRPr lang="en-GB" sz="1400" dirty="0" smtClean="0"/>
          </a:p>
          <a:p>
            <a:pPr marL="457200" indent="-457200">
              <a:buFont typeface="+mj-lt"/>
              <a:buAutoNum type="arabicPeriod"/>
            </a:pPr>
            <a:endParaRPr lang="en-GB" sz="1000" dirty="0" smtClean="0"/>
          </a:p>
          <a:p>
            <a:pPr marL="457200" indent="-457200">
              <a:buFont typeface="+mj-lt"/>
              <a:buAutoNum type="arabicPeriod"/>
            </a:pPr>
            <a:endParaRPr lang="en-GB" sz="1400" dirty="0" smtClean="0"/>
          </a:p>
          <a:p>
            <a:pPr marL="457200" indent="-457200">
              <a:buFont typeface="+mj-lt"/>
              <a:buAutoNum type="arabicPeriod"/>
            </a:pPr>
            <a:endParaRPr lang="en-GB" sz="1400" dirty="0" smtClean="0"/>
          </a:p>
          <a:p>
            <a:pPr marL="457200" indent="-457200">
              <a:buFont typeface="+mj-lt"/>
              <a:buAutoNum type="arabicPeriod"/>
            </a:pPr>
            <a:endParaRPr lang="en-GB" sz="1400" dirty="0" smtClean="0"/>
          </a:p>
          <a:p>
            <a:pPr marL="457200" indent="-457200">
              <a:buFont typeface="+mj-lt"/>
              <a:buAutoNum type="arabicPeriod" startAt="3"/>
            </a:pPr>
            <a:endParaRPr lang="en-GB" sz="1400" dirty="0" smtClean="0"/>
          </a:p>
          <a:p>
            <a:pPr marL="457200" indent="-457200">
              <a:buFont typeface="+mj-lt"/>
              <a:buAutoNum type="arabicPeriod" startAt="3"/>
            </a:pPr>
            <a:endParaRPr lang="en-GB" sz="1000" dirty="0" smtClean="0"/>
          </a:p>
          <a:p>
            <a:pPr marL="457200" indent="-457200">
              <a:buFont typeface="+mj-lt"/>
              <a:buAutoNum type="arabicPeriod" startAt="3"/>
            </a:pPr>
            <a:endParaRPr lang="en-GB" sz="1400" dirty="0" smtClean="0"/>
          </a:p>
          <a:p>
            <a:pPr marL="457200" indent="-457200">
              <a:buNone/>
            </a:pPr>
            <a:endParaRPr lang="en-GB" sz="1400" dirty="0" smtClean="0"/>
          </a:p>
          <a:p>
            <a:pPr marL="457200" indent="-457200">
              <a:buFont typeface="+mj-lt"/>
              <a:buAutoNum type="arabicPeriod"/>
            </a:pPr>
            <a:endParaRPr lang="en-GB" sz="1400" dirty="0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6228184" y="5452070"/>
            <a:ext cx="914400" cy="9144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3232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/>
    </mc:Choice>
    <mc:Fallback xmlns="">
      <p:transition spd="slow" advClick="0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dirty="0" smtClean="0"/>
              <a:t>Videos...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7544" y="987574"/>
            <a:ext cx="6447501" cy="4111476"/>
          </a:xfrm>
          <a:solidFill>
            <a:schemeClr val="bg1"/>
          </a:solidFill>
        </p:spPr>
        <p:txBody>
          <a:bodyPr>
            <a:noAutofit/>
          </a:bodyPr>
          <a:lstStyle/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Install the hardware and make the board work – three LED programs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Make  four LEDs flash in a sequence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Set the LEDs to represent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Sequence the LEDs with a delay using the value of ADC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input to set the state of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reset switch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switch, ADC – make the LEDs flash in a sequence with reverse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serial to display values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the </a:t>
            </a:r>
            <a:r>
              <a:rPr lang="en-GB" sz="1100" dirty="0" smtClean="0"/>
              <a:t>timer0 </a:t>
            </a:r>
            <a:r>
              <a:rPr lang="en-GB" sz="1100" dirty="0"/>
              <a:t>overflow, 8bit timer, 16bit timer to flash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EEProm – showing values on the serial terminal, and more constants insights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I2C with serial to discover I2C devices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</a:t>
            </a:r>
            <a:r>
              <a:rPr lang="en-GB" sz="1100" dirty="0" smtClean="0"/>
              <a:t>I2C </a:t>
            </a:r>
            <a:r>
              <a:rPr lang="en-GB" sz="1100" dirty="0"/>
              <a:t>GCLD </a:t>
            </a:r>
            <a:r>
              <a:rPr lang="en-GB" sz="1100" dirty="0" smtClean="0"/>
              <a:t>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 </a:t>
            </a:r>
            <a:r>
              <a:rPr lang="en-GB" sz="1100" dirty="0" smtClean="0"/>
              <a:t>SPI GLCD  display solutions</a:t>
            </a:r>
            <a:endParaRPr lang="en-GB" sz="1100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PWM, </a:t>
            </a:r>
            <a:r>
              <a:rPr lang="en-GB" sz="1100" dirty="0" smtClean="0"/>
              <a:t>6  </a:t>
            </a:r>
            <a:r>
              <a:rPr lang="en-GB" sz="1100" dirty="0"/>
              <a:t>ways,  to dim the LEDS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an external interrupt to control an LED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Using storage within the </a:t>
            </a:r>
            <a:r>
              <a:rPr lang="en-GB" sz="1100" dirty="0" smtClean="0"/>
              <a:t>chip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 smtClean="0"/>
              <a:t>Using </a:t>
            </a:r>
            <a:r>
              <a:rPr lang="en-GB" sz="1100" dirty="0"/>
              <a:t>CLC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The GCBASIC tool chain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b="1" dirty="0"/>
              <a:t>Assembly , alternatives </a:t>
            </a:r>
            <a:r>
              <a:rPr lang="en-GB" sz="1100" b="1" dirty="0" smtClean="0"/>
              <a:t>assemblers, GC Code debugging</a:t>
            </a:r>
            <a:endParaRPr lang="en-GB" sz="1100" b="1" dirty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r>
              <a:rPr lang="en-GB" sz="1100" dirty="0"/>
              <a:t>Summary</a:t>
            </a:r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400" dirty="0" smtClean="0">
              <a:solidFill>
                <a:schemeClr val="bg1">
                  <a:lumMod val="75000"/>
                </a:schemeClr>
              </a:solidFill>
            </a:endParaRPr>
          </a:p>
          <a:p>
            <a:pPr marL="180000" indent="-478483">
              <a:spcBef>
                <a:spcPts val="300"/>
              </a:spcBef>
              <a:buNone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7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 smtClean="0"/>
          </a:p>
          <a:p>
            <a:pPr marL="180000" indent="-478483">
              <a:spcBef>
                <a:spcPts val="300"/>
              </a:spcBef>
              <a:buFont typeface="+mj-lt"/>
              <a:buAutoNum type="arabicPeriod"/>
            </a:pPr>
            <a:endParaRPr lang="en-GB" sz="500" dirty="0"/>
          </a:p>
        </p:txBody>
      </p:sp>
    </p:spTree>
    <p:extLst>
      <p:ext uri="{BB962C8B-B14F-4D97-AF65-F5344CB8AC3E}">
        <p14:creationId xmlns:p14="http://schemas.microsoft.com/office/powerpoint/2010/main" val="215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 smtClean="0"/>
              <a:t>GCBASIC</a:t>
            </a:r>
            <a:endParaRPr lang="en-GB" dirty="0"/>
          </a:p>
        </p:txBody>
      </p:sp>
      <p:pic>
        <p:nvPicPr>
          <p:cNvPr id="1026" name="Picture 2" descr="D:\Build\AnobiumTransparent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292080" y="911052"/>
            <a:ext cx="1828859" cy="771550"/>
          </a:xfrm>
          <a:prstGeom prst="rect">
            <a:avLst/>
          </a:prstGeom>
          <a:noFill/>
        </p:spPr>
      </p:pic>
      <p:sp>
        <p:nvSpPr>
          <p:cNvPr id="4" name="AutoShape 2" descr="ICSP connection"/>
          <p:cNvSpPr>
            <a:spLocks noChangeAspect="1" noChangeArrowheads="1"/>
          </p:cNvSpPr>
          <p:nvPr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85064" tIns="42531" rIns="85064" bIns="42531" numCol="1" anchor="t" anchorCtr="0" compatLnSpc="1">
            <a:prstTxWarp prst="textNoShape">
              <a:avLst/>
            </a:prstTxWarp>
          </a:bodyPr>
          <a:lstStyle/>
          <a:p>
            <a:endParaRPr lang="en-GB" dirty="0"/>
          </a:p>
        </p:txBody>
      </p:sp>
      <p:sp>
        <p:nvSpPr>
          <p:cNvPr id="8" name="Text Placeholder 4"/>
          <p:cNvSpPr txBox="1">
            <a:spLocks/>
          </p:cNvSpPr>
          <p:nvPr/>
        </p:nvSpPr>
        <p:spPr>
          <a:xfrm>
            <a:off x="3805512" y="2931790"/>
            <a:ext cx="3342861" cy="645300"/>
          </a:xfrm>
          <a:prstGeom prst="rect">
            <a:avLst/>
          </a:prstGeom>
        </p:spPr>
        <p:txBody>
          <a:bodyPr vert="horz" lIns="68580" tIns="34290" rIns="68580" bIns="34290" rtlCol="0" anchor="t">
            <a:normAutofit/>
          </a:bodyPr>
          <a:lstStyle>
            <a:lvl1pPr marL="0" indent="0" algn="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400" kern="120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3429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1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342900" rtl="0" eaLnBrk="1" latinLnBrk="0" hangingPunct="1">
              <a:spcBef>
                <a:spcPts val="75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 smtClean="0"/>
              <a:t>PIC16F175xx</a:t>
            </a:r>
            <a:endParaRPr lang="en-GB" dirty="0" smtClean="0"/>
          </a:p>
          <a:p>
            <a:r>
              <a:rPr lang="en-GB" dirty="0" smtClean="0"/>
              <a:t>Part 18 - The GCBASIC Tool Chain</a:t>
            </a:r>
            <a:endParaRPr lang="en-GB" dirty="0"/>
          </a:p>
        </p:txBody>
      </p:sp>
      <p:pic>
        <p:nvPicPr>
          <p:cNvPr id="7" name="Picture 4" descr="PIC16F17556 | Microchip Technology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6864" y="3922804"/>
            <a:ext cx="2415427" cy="11782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VQFN / 2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1760" y="4074815"/>
            <a:ext cx="1142256" cy="10262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56534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GCstudioThemeLight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GC Basic Fonts">
      <a:majorFont>
        <a:latin typeface="Microsoft YaHei"/>
        <a:ea typeface=""/>
        <a:cs typeface=""/>
      </a:majorFont>
      <a:minorFont>
        <a:latin typeface="Corbel"/>
        <a:ea typeface=""/>
        <a:cs typeface="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GCstudioThemeLight" id="{4C740F94-33C0-4EEC-9234-F56C348A0987}" vid="{A43F8B96-90D8-489D-B80F-92F9D6F351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15178</TotalTime>
  <Words>1070</Words>
  <Application>Microsoft Office PowerPoint</Application>
  <PresentationFormat>On-screen Show (16:9)</PresentationFormat>
  <Paragraphs>381</Paragraphs>
  <Slides>17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GCstudioThemeLight</vt:lpstr>
      <vt:lpstr>GCBASIC</vt:lpstr>
      <vt:lpstr>GCBASIC</vt:lpstr>
      <vt:lpstr>GCBASIC</vt:lpstr>
      <vt:lpstr>Videos...</vt:lpstr>
      <vt:lpstr>PIC16F175xx</vt:lpstr>
      <vt:lpstr>GCBASIC Compiler</vt:lpstr>
      <vt:lpstr>The Windows IDEs</vt:lpstr>
      <vt:lpstr>PowerPoint Presentation</vt:lpstr>
      <vt:lpstr>Tool chain</vt:lpstr>
      <vt:lpstr>The core compiler</vt:lpstr>
      <vt:lpstr>Compiler options</vt:lpstr>
      <vt:lpstr>Debugger options</vt:lpstr>
      <vt:lpstr>The Variants for Linux, BSD &amp; Mac</vt:lpstr>
      <vt:lpstr>Lab</vt:lpstr>
      <vt:lpstr>PowerPoint Presentation</vt:lpstr>
      <vt:lpstr>Videos...</vt:lpstr>
      <vt:lpstr>GCBASIC</vt:lpstr>
    </vt:vector>
  </TitlesOfParts>
  <Company>Hewlett-Packard Company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Great Cow BASIC</dc:title>
  <dc:creator>admin</dc:creator>
  <cp:lastModifiedBy>Evan R. Venn</cp:lastModifiedBy>
  <cp:revision>782</cp:revision>
  <dcterms:created xsi:type="dcterms:W3CDTF">2019-01-08T20:03:06Z</dcterms:created>
  <dcterms:modified xsi:type="dcterms:W3CDTF">2025-12-18T16:03:33Z</dcterms:modified>
</cp:coreProperties>
</file>