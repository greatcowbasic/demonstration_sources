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94" r:id="rId2"/>
    <p:sldId id="256" r:id="rId3"/>
    <p:sldId id="295" r:id="rId4"/>
    <p:sldId id="361" r:id="rId5"/>
    <p:sldId id="296" r:id="rId6"/>
    <p:sldId id="355" r:id="rId7"/>
    <p:sldId id="356" r:id="rId8"/>
    <p:sldId id="357" r:id="rId9"/>
    <p:sldId id="358" r:id="rId10"/>
    <p:sldId id="359" r:id="rId11"/>
    <p:sldId id="360" r:id="rId12"/>
    <p:sldId id="288" r:id="rId13"/>
    <p:sldId id="353" r:id="rId14"/>
    <p:sldId id="352" r:id="rId15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150" d="100"/>
          <a:sy n="150" d="100"/>
        </p:scale>
        <p:origin x="-510" y="-3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25/01/2026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Conf:[defaul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163687" cy="645300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PIC16fF175xx</a:t>
            </a:r>
          </a:p>
          <a:p>
            <a:pPr marL="538163" indent="-538163"/>
            <a:r>
              <a:rPr lang="en-GB" dirty="0" smtClean="0"/>
              <a:t>Part 19 - Assembly , alternatives assemblers and Debugging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85000" lnSpcReduction="20000"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PIC16fF175xx</a:t>
            </a:r>
          </a:p>
          <a:p>
            <a:r>
              <a:rPr lang="en-GB" dirty="0" smtClean="0"/>
              <a:t>Part 19 - Assembly , alternatives assemblers </a:t>
            </a:r>
            <a:r>
              <a:rPr lang="en-GB" dirty="0"/>
              <a:t>and Debugging</a:t>
            </a:r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1/25/2026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PIC16F175xx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/>
              <a:t>PIC16175xx  </a:t>
            </a:r>
            <a:r>
              <a:rPr lang="en-GB" dirty="0"/>
              <a:t>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/>
          </a:p>
          <a:p>
            <a:r>
              <a:rPr lang="en-GB" dirty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56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</a:t>
            </a:r>
            <a:r>
              <a:rPr lang="en-GB" sz="1100" dirty="0" smtClean="0"/>
              <a:t>chip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The </a:t>
            </a:r>
            <a:r>
              <a:rPr lang="en-GB" sz="1100" dirty="0"/>
              <a:t>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Assembly , alternatives assemblers and Debugging</a:t>
            </a:r>
            <a:endParaRPr lang="en-GB" sz="1100" b="1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9" y="170765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707904" y="1923677"/>
            <a:ext cx="3960440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16fF175xx chip family</a:t>
            </a:r>
          </a:p>
          <a:p>
            <a:endParaRPr lang="en-GB" dirty="0" smtClean="0"/>
          </a:p>
          <a:p>
            <a:r>
              <a:rPr lang="en-GB" dirty="0" smtClean="0"/>
              <a:t>GCBASIC is a cross platform with common code translation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331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9" y="170765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4139952" y="1779662"/>
            <a:ext cx="3960440" cy="2178773"/>
          </a:xfrm>
          <a:prstGeom prst="rect">
            <a:avLst/>
          </a:prstGeom>
          <a:solidFill>
            <a:schemeClr val="bg1"/>
          </a:solidFill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16fF175xx chip family</a:t>
            </a:r>
          </a:p>
          <a:p>
            <a:endParaRPr lang="en-GB" dirty="0" smtClean="0"/>
          </a:p>
          <a:p>
            <a:r>
              <a:rPr lang="en-GB" dirty="0" smtClean="0"/>
              <a:t>GCBASIC is a cross platform with common code translation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1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6480720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  <a:endCxn id="20" idx="1"/>
          </p:cNvCxnSpPr>
          <p:nvPr/>
        </p:nvCxnSpPr>
        <p:spPr>
          <a:xfrm>
            <a:off x="6660232" y="273725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ASM 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core compiler</a:t>
            </a:r>
            <a:endParaRPr lang="en-GB" dirty="0"/>
          </a:p>
        </p:txBody>
      </p:sp>
      <p:sp>
        <p:nvSpPr>
          <p:cNvPr id="48" name="Flowchart: Document 47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208537" y="1948959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813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4796755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Compiler options</a:t>
            </a:r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6922566" y="1397168"/>
            <a:ext cx="1255712" cy="10156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/>
              <a:t>PIC-AS</a:t>
            </a:r>
            <a:r>
              <a:rPr lang="en-GB" sz="1200" dirty="0" smtClean="0"/>
              <a:t>, MPASM, </a:t>
            </a:r>
          </a:p>
          <a:p>
            <a:pPr algn="ctr"/>
            <a:r>
              <a:rPr lang="en-GB" sz="1200" dirty="0" smtClean="0"/>
              <a:t>MPLAB-IDE,</a:t>
            </a:r>
          </a:p>
          <a:p>
            <a:pPr algn="ctr"/>
            <a:r>
              <a:rPr lang="en-GB" sz="1200" dirty="0" smtClean="0"/>
              <a:t>GPASM, AVRASM2</a:t>
            </a:r>
            <a:endParaRPr lang="en-GB" sz="1200" dirty="0"/>
          </a:p>
        </p:txBody>
      </p:sp>
      <p:cxnSp>
        <p:nvCxnSpPr>
          <p:cNvPr id="28" name="Shape 27"/>
          <p:cNvCxnSpPr>
            <a:stCxn id="37" idx="3"/>
            <a:endCxn id="20" idx="2"/>
          </p:cNvCxnSpPr>
          <p:nvPr/>
        </p:nvCxnSpPr>
        <p:spPr>
          <a:xfrm flipV="1">
            <a:off x="7452320" y="3025284"/>
            <a:ext cx="108012" cy="9361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Document 32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64310" y="1905000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26" name="TextBox 25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92753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Lab – Pre 2026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491630"/>
            <a:ext cx="6447501" cy="3507854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buNone/>
            </a:pPr>
            <a:r>
              <a:rPr lang="en-GB" sz="1200" dirty="0" smtClean="0"/>
              <a:t>We will</a:t>
            </a:r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Review the  simple LED program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/>
              <a:t>Change to PIC-AS in </a:t>
            </a:r>
            <a:r>
              <a:rPr lang="en-GB" sz="1000" dirty="0" err="1" smtClean="0"/>
              <a:t>Prefs</a:t>
            </a:r>
            <a:r>
              <a:rPr lang="en-GB" sz="1000" dirty="0" smtClean="0"/>
              <a:t> </a:t>
            </a:r>
            <a:r>
              <a:rPr lang="en-GB" sz="1000" dirty="0"/>
              <a:t>Editor</a:t>
            </a:r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endParaRPr lang="en-GB" sz="1000" dirty="0" smtClean="0"/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Create a Project in MPLAB-X using the GCBASIC .S as the source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Select Standalone project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Specify chip, select the Simulator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Select PIC-AS, latest version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Name project {</a:t>
            </a:r>
            <a:r>
              <a:rPr lang="en-GB" sz="1000" dirty="0" err="1" smtClean="0"/>
              <a:t>chipname</a:t>
            </a:r>
            <a:r>
              <a:rPr lang="en-GB" sz="1000" dirty="0" smtClean="0"/>
              <a:t>}, specify same directory.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Finish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Now, add the GCBASIC source file</a:t>
            </a:r>
          </a:p>
          <a:p>
            <a:pPr marL="893763" lvl="2" indent="-88900">
              <a:spcBef>
                <a:spcPts val="0"/>
              </a:spcBef>
              <a:buNone/>
            </a:pPr>
            <a:r>
              <a:rPr lang="en-GB" sz="1000" dirty="0" smtClean="0"/>
              <a:t>Add existing item/select source .S file with AUTO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endParaRPr lang="en-GB" sz="1000" dirty="0" smtClean="0"/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Select File/Project Properties</a:t>
            </a:r>
          </a:p>
          <a:p>
            <a:pPr marL="893763" lvl="2" indent="-88900">
              <a:spcBef>
                <a:spcPts val="0"/>
              </a:spcBef>
              <a:buNone/>
            </a:pPr>
            <a:r>
              <a:rPr lang="en-GB" sz="1000" dirty="0" smtClean="0"/>
              <a:t>Set  </a:t>
            </a:r>
            <a:r>
              <a:rPr lang="en-GB" sz="1000" dirty="0" smtClean="0">
                <a:hlinkClick r:id="rId2"/>
              </a:rPr>
              <a:t>Conf:[default</a:t>
            </a:r>
            <a:r>
              <a:rPr lang="en-GB" sz="1000" dirty="0" smtClean="0"/>
              <a:t>] Simulator  / Instruction Frequency to 64</a:t>
            </a:r>
          </a:p>
          <a:p>
            <a:pPr marL="893763" lvl="2" indent="-88900">
              <a:spcBef>
                <a:spcPts val="0"/>
              </a:spcBef>
              <a:buNone/>
            </a:pPr>
            <a:r>
              <a:rPr lang="en-GB" sz="1000" dirty="0" smtClean="0"/>
              <a:t>Set  </a:t>
            </a:r>
            <a:r>
              <a:rPr lang="en-GB" sz="1000" dirty="0" smtClean="0">
                <a:hlinkClick r:id="rId2"/>
              </a:rPr>
              <a:t>Conf:[default</a:t>
            </a:r>
            <a:r>
              <a:rPr lang="en-GB" sz="1000" dirty="0" smtClean="0"/>
              <a:t>] Building / Check Execute this line after build</a:t>
            </a:r>
          </a:p>
          <a:p>
            <a:pPr marL="893763" lvl="3" indent="-88900">
              <a:spcBef>
                <a:spcPts val="0"/>
              </a:spcBef>
              <a:buNone/>
            </a:pPr>
            <a:r>
              <a:rPr lang="en-GB" sz="1000" dirty="0" smtClean="0"/>
              <a:t>C:\GCSTUDIO\PICKitPlus\pickitcommandline.exe -w -p${Device} -f${</a:t>
            </a:r>
            <a:r>
              <a:rPr lang="en-GB" sz="1000" dirty="0" err="1" smtClean="0"/>
              <a:t>ImagePath</a:t>
            </a:r>
            <a:r>
              <a:rPr lang="en-GB" sz="1000" dirty="0" smtClean="0"/>
              <a:t>} -</a:t>
            </a:r>
            <a:r>
              <a:rPr lang="en-GB" sz="1000" dirty="0" err="1" smtClean="0"/>
              <a:t>mpec</a:t>
            </a:r>
            <a:r>
              <a:rPr lang="en-GB" sz="1000" dirty="0" smtClean="0"/>
              <a:t> -</a:t>
            </a:r>
            <a:r>
              <a:rPr lang="en-GB" sz="1000" dirty="0" err="1" smtClean="0"/>
              <a:t>zv</a:t>
            </a:r>
            <a:r>
              <a:rPr lang="en-GB" sz="1000" dirty="0" smtClean="0"/>
              <a:t> -a5</a:t>
            </a:r>
          </a:p>
          <a:p>
            <a:pPr marL="893763" lvl="2" indent="-88900">
              <a:spcBef>
                <a:spcPts val="0"/>
              </a:spcBef>
              <a:buNone/>
            </a:pPr>
            <a:r>
              <a:rPr lang="en-GB" sz="1000" dirty="0" smtClean="0"/>
              <a:t>Press OK to save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endParaRPr lang="en-GB" sz="1000" dirty="0" smtClean="0"/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Test compile &lt;F11&gt; and program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endParaRPr lang="en-GB" sz="1000" dirty="0" smtClean="0"/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Use the debugger to walk the code</a:t>
            </a:r>
            <a:endParaRPr lang="en-GB" sz="800" dirty="0" smtClean="0"/>
          </a:p>
          <a:p>
            <a:pPr marL="829354" lvl="1" indent="-457200">
              <a:spcBef>
                <a:spcPts val="0"/>
              </a:spcBef>
              <a:buFont typeface="+mj-lt"/>
              <a:buAutoNum type="arabicPeriod"/>
            </a:pPr>
            <a:endParaRPr lang="en-GB" sz="800" dirty="0" smtClean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228184" y="5452070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86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Lab – Post 2025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491630"/>
            <a:ext cx="6447501" cy="3507854"/>
          </a:xfrm>
          <a:noFill/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buNone/>
            </a:pPr>
            <a:r>
              <a:rPr lang="en-GB" sz="1200" dirty="0" smtClean="0"/>
              <a:t>We will</a:t>
            </a:r>
          </a:p>
          <a:p>
            <a:pPr marL="457200" indent="-457200">
              <a:spcBef>
                <a:spcPts val="0"/>
              </a:spcBef>
              <a:buNone/>
            </a:pPr>
            <a:endParaRPr lang="en-GB" sz="1200" dirty="0" smtClean="0"/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r>
              <a:rPr lang="en-GB" dirty="0" smtClean="0"/>
              <a:t>Review the  simple LED </a:t>
            </a:r>
            <a:r>
              <a:rPr lang="en-GB" dirty="0" smtClean="0"/>
              <a:t>program</a:t>
            </a:r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endParaRPr lang="en-GB" dirty="0" smtClean="0"/>
          </a:p>
          <a:p>
            <a:pPr marL="266700" indent="-266700">
              <a:spcBef>
                <a:spcPts val="0"/>
              </a:spcBef>
              <a:buFont typeface="+mj-lt"/>
              <a:buAutoNum type="arabicPeriod"/>
            </a:pPr>
            <a:r>
              <a:rPr lang="en-GB" dirty="0" smtClean="0"/>
              <a:t>Start </a:t>
            </a:r>
            <a:r>
              <a:rPr lang="en-GB" dirty="0" smtClean="0"/>
              <a:t>the GC Code PIC Debugger</a:t>
            </a:r>
            <a:endParaRPr lang="en-GB" dirty="0"/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400" dirty="0" smtClean="0"/>
              <a:t>Select the debugger tool or the simulator</a:t>
            </a:r>
          </a:p>
          <a:p>
            <a:pPr marL="539750" lvl="1" indent="-168275">
              <a:spcBef>
                <a:spcPts val="0"/>
              </a:spcBef>
              <a:buFont typeface="+mj-lt"/>
              <a:buAutoNum type="arabicPeriod"/>
            </a:pPr>
            <a:r>
              <a:rPr lang="en-GB" sz="1400" dirty="0" smtClean="0"/>
              <a:t>Use the debugger to walk the code</a:t>
            </a:r>
          </a:p>
          <a:p>
            <a:pPr marL="839787" lvl="2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Source Code </a:t>
            </a:r>
          </a:p>
          <a:p>
            <a:pPr marL="839787" lvl="2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Variables</a:t>
            </a:r>
          </a:p>
          <a:p>
            <a:pPr marL="839787" lvl="2" indent="-168275">
              <a:spcBef>
                <a:spcPts val="0"/>
              </a:spcBef>
              <a:buFont typeface="+mj-lt"/>
              <a:buAutoNum type="arabicPeriod"/>
            </a:pPr>
            <a:r>
              <a:rPr lang="en-GB" sz="1000" dirty="0" smtClean="0"/>
              <a:t>Registers</a:t>
            </a:r>
          </a:p>
          <a:p>
            <a:pPr marL="839787" lvl="2" indent="-168275">
              <a:spcBef>
                <a:spcPts val="0"/>
              </a:spcBef>
              <a:buFont typeface="+mj-lt"/>
              <a:buAutoNum type="arabicPeriod"/>
            </a:pPr>
            <a:endParaRPr lang="en-GB" sz="1000" dirty="0" smtClean="0"/>
          </a:p>
          <a:p>
            <a:pPr marL="829354" lvl="1" indent="-457200">
              <a:spcBef>
                <a:spcPts val="0"/>
              </a:spcBef>
              <a:buFont typeface="+mj-lt"/>
              <a:buAutoNum type="arabicPeriod"/>
            </a:pPr>
            <a:endParaRPr lang="en-GB" sz="800" dirty="0" smtClean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228184" y="5452070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1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</a:t>
            </a:r>
            <a:r>
              <a:rPr lang="en-GB" sz="1100" dirty="0" smtClean="0"/>
              <a:t>chip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/>
              <a:t>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Debugging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85000" lnSpcReduction="20000"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PIC16fF175xx</a:t>
            </a:r>
          </a:p>
          <a:p>
            <a:r>
              <a:rPr lang="en-GB" dirty="0" smtClean="0"/>
              <a:t>Part 19 - Assembly , alternatives assemblers and MPLAB-X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65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15333</TotalTime>
  <Words>781</Words>
  <Application>Microsoft Office PowerPoint</Application>
  <PresentationFormat>On-screen Show (16:9)</PresentationFormat>
  <Paragraphs>160</Paragraphs>
  <Slides>14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GCBASIC Compiler</vt:lpstr>
      <vt:lpstr>The core compiler</vt:lpstr>
      <vt:lpstr>Compiler options</vt:lpstr>
      <vt:lpstr>Lab – Pre 2026</vt:lpstr>
      <vt:lpstr>Lab – Post 2025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792</cp:revision>
  <dcterms:created xsi:type="dcterms:W3CDTF">2019-01-08T20:03:06Z</dcterms:created>
  <dcterms:modified xsi:type="dcterms:W3CDTF">2026-01-25T13:41:12Z</dcterms:modified>
</cp:coreProperties>
</file>