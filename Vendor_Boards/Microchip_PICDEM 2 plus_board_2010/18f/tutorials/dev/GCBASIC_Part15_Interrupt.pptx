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294" r:id="rId2"/>
    <p:sldId id="256" r:id="rId3"/>
    <p:sldId id="295" r:id="rId4"/>
    <p:sldId id="360" r:id="rId5"/>
    <p:sldId id="296" r:id="rId6"/>
    <p:sldId id="282" r:id="rId7"/>
    <p:sldId id="361" r:id="rId8"/>
    <p:sldId id="362" r:id="rId9"/>
    <p:sldId id="354" r:id="rId10"/>
    <p:sldId id="364" r:id="rId11"/>
    <p:sldId id="363" r:id="rId12"/>
    <p:sldId id="355" r:id="rId13"/>
    <p:sldId id="356" r:id="rId14"/>
    <p:sldId id="357" r:id="rId15"/>
    <p:sldId id="358" r:id="rId16"/>
    <p:sldId id="359" r:id="rId17"/>
    <p:sldId id="288" r:id="rId18"/>
    <p:sldId id="353" r:id="rId19"/>
    <p:sldId id="352" r:id="rId20"/>
  </p:sldIdLst>
  <p:sldSz cx="9144000" cy="5143500" type="screen16x9"/>
  <p:notesSz cx="6858000" cy="9144000"/>
  <p:defaultTextStyle>
    <a:defPPr>
      <a:defRPr lang="en-US"/>
    </a:defPPr>
    <a:lvl1pPr marL="0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4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>
      <p:cViewPr varScale="1">
        <p:scale>
          <a:sx n="146" d="100"/>
          <a:sy n="146" d="100"/>
        </p:scale>
        <p:origin x="-630" y="-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545A-AB39-44F0-B5A6-04A90C6C9399}" type="datetimeFigureOut">
              <a:rPr lang="en-GB" smtClean="0"/>
              <a:pPr/>
              <a:t>16/12/2025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31C5-F37A-4CF6-BFE3-A572240BD62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042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00B3C-2E11-428B-8555-A77018253716}" type="datetimeFigureOut">
              <a:rPr lang="en-GB" smtClean="0"/>
              <a:pPr/>
              <a:t>16/12/2025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3471A-AA0F-4CD3-BA89-C1C7FB68C6D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186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3471A-AA0F-4CD3-BA89-C1C7FB68C6DB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6735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C757326-0232-4CDF-81FF-302CA676961B}"/>
              </a:ext>
            </a:extLst>
          </p:cNvPr>
          <p:cNvSpPr/>
          <p:nvPr/>
        </p:nvSpPr>
        <p:spPr>
          <a:xfrm>
            <a:off x="1" y="0"/>
            <a:ext cx="9143999" cy="51435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4900613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4618" y="1406112"/>
            <a:ext cx="3342860" cy="1369936"/>
          </a:xfrm>
        </p:spPr>
        <p:txBody>
          <a:bodyPr anchor="b">
            <a:normAutofit/>
          </a:bodyPr>
          <a:lstStyle>
            <a:lvl1pPr algn="l">
              <a:defRPr sz="41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144617" y="2776047"/>
            <a:ext cx="334286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374553" y="158920"/>
            <a:ext cx="1677709" cy="323789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99060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6447501" cy="2744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16/12/2025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2" y="-6350"/>
            <a:ext cx="9209330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803400"/>
            <a:ext cx="4124707" cy="1234727"/>
          </a:xfrm>
        </p:spPr>
        <p:txBody>
          <a:bodyPr anchor="b">
            <a:noAutofit/>
          </a:bodyPr>
          <a:lstStyle>
            <a:lvl1pPr algn="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5494" y="3038125"/>
            <a:ext cx="4124707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16/12/2025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3" y="1803400"/>
            <a:ext cx="6134709" cy="1234727"/>
          </a:xfrm>
        </p:spPr>
        <p:txBody>
          <a:bodyPr anchor="b">
            <a:noAutofit/>
          </a:bodyPr>
          <a:lstStyle>
            <a:lvl1pPr algn="ct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2" y="3038125"/>
            <a:ext cx="6134709" cy="822674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16/12/2025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16/12/2025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16/12/2025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4639034" cy="990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16/12/2025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4624895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16/12/2025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16/12/2025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8897" y="495300"/>
            <a:ext cx="3385156" cy="40357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  <a:lvl2pPr marL="342797" indent="0">
              <a:buNone/>
              <a:defRPr sz="1100"/>
            </a:lvl2pPr>
            <a:lvl3pPr marL="685595" indent="0">
              <a:buNone/>
              <a:defRPr sz="900"/>
            </a:lvl3pPr>
            <a:lvl4pPr marL="1028392" indent="0">
              <a:buNone/>
              <a:defRPr sz="800"/>
            </a:lvl4pPr>
            <a:lvl5pPr marL="1371188" indent="0">
              <a:buNone/>
              <a:defRPr sz="800"/>
            </a:lvl5pPr>
            <a:lvl6pPr marL="1713986" indent="0">
              <a:buNone/>
              <a:defRPr sz="800"/>
            </a:lvl6pPr>
            <a:lvl7pPr marL="2056783" indent="0">
              <a:buNone/>
              <a:defRPr sz="800"/>
            </a:lvl7pPr>
            <a:lvl8pPr marL="2399580" indent="0">
              <a:buNone/>
              <a:defRPr sz="800"/>
            </a:lvl8pPr>
            <a:lvl9pPr marL="2742377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16/12/2025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706966"/>
            <a:ext cx="6447501" cy="289348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16/12/2025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16/12/2025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16/12/2025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16/12/2025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16/12/2025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16/12/2025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5402469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16/12/2025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934278"/>
            <a:ext cx="978557" cy="3461510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16/12/2025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3AACB-D821-4991-9D88-46EB8D29E619}" type="datetimeFigureOut">
              <a:rPr lang="en-GB" smtClean="0"/>
              <a:pPr/>
              <a:t>16/12/2025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GCBASIC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4144617" y="2776047"/>
            <a:ext cx="3523727" cy="645300"/>
          </a:xfrm>
        </p:spPr>
        <p:txBody>
          <a:bodyPr>
            <a:normAutofit/>
          </a:bodyPr>
          <a:lstStyle/>
          <a:p>
            <a:r>
              <a:rPr lang="en-GB" dirty="0"/>
              <a:t>PIC16F175xx</a:t>
            </a:r>
          </a:p>
          <a:p>
            <a:r>
              <a:rPr lang="en-GB" dirty="0"/>
              <a:t>Part 15 – Millis and Interrupts</a:t>
            </a:r>
            <a:endParaRPr lang="en-GB" sz="16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4043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GCBASIC</a:t>
            </a:r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3805512" y="293179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PIC16F175xx</a:t>
            </a:r>
          </a:p>
          <a:p>
            <a:r>
              <a:rPr lang="en-GB" dirty="0"/>
              <a:t>Part 15 – Millis and Interrupts</a:t>
            </a:r>
          </a:p>
        </p:txBody>
      </p:sp>
      <p:pic>
        <p:nvPicPr>
          <p:cNvPr id="7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6864" y="3922804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VQFN /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1760" y="4074815"/>
            <a:ext cx="1142256" cy="102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GCBASIC</a:t>
            </a:r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39552" y="2067694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subscribe!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113182" y="4384422"/>
            <a:ext cx="354882" cy="305233"/>
          </a:xfrm>
        </p:spPr>
        <p:txBody>
          <a:bodyPr/>
          <a:lstStyle/>
          <a:p>
            <a:fld id="{1E700B27-DE4C-4B9E-BB11-B9027034A00F}" type="datetimeFigureOut">
              <a:rPr lang="en-US" smtClean="0"/>
              <a:pPr/>
              <a:t>12/16/2025</a:t>
            </a:fld>
            <a:endParaRPr lang="en-US" dirty="0"/>
          </a:p>
        </p:txBody>
      </p:sp>
      <p:pic>
        <p:nvPicPr>
          <p:cNvPr id="9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6864" y="3922804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VQFN /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1760" y="4074815"/>
            <a:ext cx="1142256" cy="102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3573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PIC16F175xx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/>
              <a:t>PIC16175xx  </a:t>
            </a:r>
            <a:r>
              <a:rPr lang="en-GB" dirty="0"/>
              <a:t>is a high performance PIC16</a:t>
            </a:r>
          </a:p>
          <a:p>
            <a:pPr lvl="1"/>
            <a:r>
              <a:rPr lang="en-GB" b="1" dirty="0"/>
              <a:t>Digital and </a:t>
            </a:r>
            <a:r>
              <a:rPr lang="en-GB" b="1" dirty="0" err="1"/>
              <a:t>analog</a:t>
            </a:r>
            <a:r>
              <a:rPr lang="en-GB" b="1" dirty="0"/>
              <a:t> peripherals</a:t>
            </a:r>
            <a:r>
              <a:rPr lang="en-GB" dirty="0"/>
              <a:t> for flexible embedded control</a:t>
            </a:r>
          </a:p>
          <a:p>
            <a:pPr lvl="1"/>
            <a:r>
              <a:rPr lang="en-GB" b="1" dirty="0"/>
              <a:t>10-bit ADC</a:t>
            </a:r>
            <a:r>
              <a:rPr lang="en-GB" dirty="0"/>
              <a:t> for accurate </a:t>
            </a:r>
            <a:r>
              <a:rPr lang="en-GB" dirty="0" err="1"/>
              <a:t>analog</a:t>
            </a:r>
            <a:r>
              <a:rPr lang="en-GB" dirty="0"/>
              <a:t> signal conversion</a:t>
            </a:r>
          </a:p>
          <a:p>
            <a:pPr lvl="1"/>
            <a:r>
              <a:rPr lang="en-GB" b="1" dirty="0"/>
              <a:t>Multiple communication interfaces</a:t>
            </a:r>
            <a:r>
              <a:rPr lang="en-GB" dirty="0"/>
              <a:t> including UART (serial), I²C, and SPI</a:t>
            </a:r>
          </a:p>
          <a:p>
            <a:pPr lvl="1"/>
            <a:r>
              <a:rPr lang="en-GB" b="1" dirty="0"/>
              <a:t>PWM modules</a:t>
            </a:r>
            <a:r>
              <a:rPr lang="en-GB" dirty="0"/>
              <a:t> with CCP and 16-bit resolution for precise timing and motor control</a:t>
            </a:r>
          </a:p>
          <a:p>
            <a:pPr lvl="1"/>
            <a:r>
              <a:rPr lang="en-GB" b="1" dirty="0"/>
              <a:t>Configurable Logic Cells (CLCs)</a:t>
            </a:r>
            <a:r>
              <a:rPr lang="en-GB" dirty="0"/>
              <a:t> for custom hardware-level logic without external components</a:t>
            </a:r>
          </a:p>
          <a:p>
            <a:pPr lvl="1"/>
            <a:r>
              <a:rPr lang="en-GB" b="1" dirty="0"/>
              <a:t>Integrated op amps</a:t>
            </a:r>
            <a:r>
              <a:rPr lang="en-GB" dirty="0"/>
              <a:t> for </a:t>
            </a:r>
            <a:r>
              <a:rPr lang="en-GB" dirty="0" err="1"/>
              <a:t>onboard</a:t>
            </a:r>
            <a:r>
              <a:rPr lang="en-GB" dirty="0"/>
              <a:t> </a:t>
            </a:r>
            <a:r>
              <a:rPr lang="en-GB" dirty="0" err="1"/>
              <a:t>analog</a:t>
            </a:r>
            <a:r>
              <a:rPr lang="en-GB" dirty="0"/>
              <a:t> signal conditioning and amplification</a:t>
            </a:r>
          </a:p>
          <a:p>
            <a:endParaRPr lang="en-GB" dirty="0"/>
          </a:p>
          <a:p>
            <a:r>
              <a:rPr lang="en-GB" dirty="0"/>
              <a:t>The PIC16175xx offers 14, 20, 28, 40 and 44-pin products in small footprint packages to support customers in a wide variety of applications.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0768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Videos...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timer0 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EEProm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GCLD display solutions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GLCD  display solutions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6  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Millis and Interrupts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Progmem,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1947865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7" y="1707656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/>
              <a:t>GCBASIC </a:t>
            </a:r>
            <a:r>
              <a:rPr lang="en-GB" sz="1500" dirty="0"/>
              <a:t>Compiler</a:t>
            </a:r>
            <a:endParaRPr lang="en-GB" sz="11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GCBASIC Compiler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3888" y="2643758"/>
            <a:ext cx="3528392" cy="1655553"/>
          </a:xfrm>
          <a:prstGeom prst="rect">
            <a:avLst/>
          </a:prstGeom>
          <a:noFill/>
        </p:spPr>
        <p:txBody>
          <a:bodyPr wrap="square" lIns="85064" tIns="42531" rIns="85064" bIns="42531" rtlCol="0">
            <a:spAutoFit/>
          </a:bodyPr>
          <a:lstStyle/>
          <a:p>
            <a:r>
              <a:rPr lang="en-GB" dirty="0"/>
              <a:t>GCBASIC is an Open Source compiler for PIC, AVR and LGT microcontrollers</a:t>
            </a:r>
          </a:p>
          <a:p>
            <a:endParaRPr lang="en-GB" dirty="0"/>
          </a:p>
          <a:p>
            <a:r>
              <a:rPr lang="en-GB" dirty="0"/>
              <a:t>GCBASIC now supports the 16F175xx chip family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Prerequisites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07654"/>
            <a:ext cx="6447501" cy="2744167"/>
          </a:xfrm>
        </p:spPr>
        <p:txBody>
          <a:bodyPr/>
          <a:lstStyle/>
          <a:p>
            <a:r>
              <a:rPr lang="en-GB" dirty="0"/>
              <a:t>Assumes you have </a:t>
            </a:r>
          </a:p>
          <a:p>
            <a:pPr marL="778521" lvl="1" indent="-478483"/>
            <a:r>
              <a:rPr lang="en-GB" dirty="0"/>
              <a:t>Installed the GCBASIC software</a:t>
            </a:r>
          </a:p>
          <a:p>
            <a:pPr marL="778521" lvl="1" indent="-478483"/>
            <a:r>
              <a:rPr lang="en-GB" dirty="0"/>
              <a:t>Installed your programmer software</a:t>
            </a:r>
          </a:p>
          <a:p>
            <a:pPr marL="778521" lvl="1" indent="-478483"/>
            <a:r>
              <a:rPr lang="en-GB" dirty="0"/>
              <a:t>Test that you have the 16F175xx attached</a:t>
            </a:r>
          </a:p>
          <a:p>
            <a:pPr marL="778521" lvl="1" indent="-478483"/>
            <a:r>
              <a:rPr lang="en-GB" dirty="0"/>
              <a:t>Switch attached</a:t>
            </a:r>
          </a:p>
          <a:p>
            <a:pPr marL="778521" lvl="1" indent="-478483"/>
            <a:r>
              <a:rPr lang="en-GB" dirty="0"/>
              <a:t>You have the 4 LEDs operating</a:t>
            </a:r>
          </a:p>
        </p:txBody>
      </p:sp>
    </p:spTree>
    <p:extLst>
      <p:ext uri="{BB962C8B-B14F-4D97-AF65-F5344CB8AC3E}">
        <p14:creationId xmlns:p14="http://schemas.microsoft.com/office/powerpoint/2010/main" val="1694456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Prototype Board</a:t>
            </a:r>
          </a:p>
          <a:p>
            <a:r>
              <a:rPr lang="en-GB" dirty="0"/>
              <a:t>Power 5v0</a:t>
            </a:r>
          </a:p>
          <a:p>
            <a:r>
              <a:rPr lang="en-GB" dirty="0"/>
              <a:t>Programmer</a:t>
            </a:r>
          </a:p>
          <a:p>
            <a:r>
              <a:rPr lang="en-GB" dirty="0"/>
              <a:t>Switch</a:t>
            </a:r>
          </a:p>
          <a:p>
            <a:r>
              <a:rPr lang="en-GB" dirty="0"/>
              <a:t>LEDs &amp; resistors</a:t>
            </a:r>
          </a:p>
          <a:p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2483768" y="1275606"/>
            <a:ext cx="4320480" cy="37856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Hardware</a:t>
            </a:r>
            <a:b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-------------------PORTA----------------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IO:   ------------------SW----------ADC-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      ----------------------------------</a:t>
            </a:r>
          </a:p>
          <a:p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-------------------PORTB----------------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IO:    ---------------------------------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       ---------------------------------</a:t>
            </a:r>
          </a:p>
          <a:p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------------------PORTC-----------------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IO:    ----------------LED-LED-LED-LED--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       ---------------------------------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------------------PORTE-----------------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IO:    ----------------MCLR-------------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       -----------------SW--------------</a:t>
            </a:r>
          </a:p>
        </p:txBody>
      </p:sp>
    </p:spTree>
    <p:extLst>
      <p:ext uri="{BB962C8B-B14F-4D97-AF65-F5344CB8AC3E}">
        <p14:creationId xmlns:p14="http://schemas.microsoft.com/office/powerpoint/2010/main" val="2393354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Millis()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39552" y="1563638"/>
            <a:ext cx="7416824" cy="3456384"/>
          </a:xfrm>
          <a:solidFill>
            <a:schemeClr val="bg1"/>
          </a:solidFill>
        </p:spPr>
        <p:txBody>
          <a:bodyPr vert="horz" lIns="85064" tIns="42531" rIns="85064" bIns="42531" rtlCol="0">
            <a:noAutofit/>
          </a:bodyPr>
          <a:lstStyle/>
          <a:p>
            <a:pPr marL="266700" indent="-174625" defTabSz="898525">
              <a:spcBef>
                <a:spcPts val="0"/>
              </a:spcBef>
            </a:pPr>
            <a:r>
              <a:rPr lang="en-GB" sz="1600" dirty="0"/>
              <a:t>Returns milliseconds since program start/reset</a:t>
            </a:r>
          </a:p>
          <a:p>
            <a:pPr marL="566738" lvl="1" indent="-174625" defTabSz="898525">
              <a:spcBef>
                <a:spcPts val="0"/>
              </a:spcBef>
            </a:pPr>
            <a:r>
              <a:rPr lang="en-GB" sz="1100" dirty="0"/>
              <a:t>like </a:t>
            </a:r>
            <a:r>
              <a:rPr lang="en-GB" sz="1100" dirty="0" err="1"/>
              <a:t>Arduino's</a:t>
            </a:r>
            <a:r>
              <a:rPr lang="en-GB" sz="1100" dirty="0"/>
              <a:t> timing for GCBASIC</a:t>
            </a:r>
          </a:p>
          <a:p>
            <a:pPr marL="566738" lvl="1" indent="-174625" defTabSz="898525">
              <a:spcBef>
                <a:spcPts val="0"/>
              </a:spcBef>
            </a:pPr>
            <a:endParaRPr lang="en-GB" sz="1100" dirty="0"/>
          </a:p>
          <a:p>
            <a:pPr marL="266700" indent="-174625" defTabSz="898525">
              <a:spcBef>
                <a:spcPts val="0"/>
              </a:spcBef>
            </a:pPr>
            <a:r>
              <a:rPr lang="en-GB" sz="1600" dirty="0"/>
              <a:t>Key Benefit</a:t>
            </a:r>
          </a:p>
          <a:p>
            <a:pPr marL="566738" lvl="1" indent="-174625" defTabSz="898525">
              <a:spcBef>
                <a:spcPts val="0"/>
              </a:spcBef>
            </a:pPr>
            <a:r>
              <a:rPr lang="en-GB" sz="1100" dirty="0"/>
              <a:t>Non-blocking delays for multitasking</a:t>
            </a:r>
          </a:p>
          <a:p>
            <a:pPr marL="566738" lvl="1" indent="-174625" defTabSz="898525">
              <a:spcBef>
                <a:spcPts val="0"/>
              </a:spcBef>
            </a:pPr>
            <a:r>
              <a:rPr lang="en-GB" sz="1100" dirty="0"/>
              <a:t>no code halts</a:t>
            </a:r>
          </a:p>
          <a:p>
            <a:pPr marL="566738" lvl="1" indent="-174625" defTabSz="898525">
              <a:spcBef>
                <a:spcPts val="0"/>
              </a:spcBef>
            </a:pPr>
            <a:r>
              <a:rPr lang="en-GB" sz="1100" dirty="0"/>
              <a:t>unlike </a:t>
            </a:r>
            <a:r>
              <a:rPr lang="en-GB" sz="1100" dirty="0" err="1"/>
              <a:t>DelayMS</a:t>
            </a:r>
            <a:endParaRPr lang="en-GB" sz="1100" dirty="0"/>
          </a:p>
          <a:p>
            <a:pPr marL="566738" lvl="1" indent="-174625" defTabSz="898525">
              <a:spcBef>
                <a:spcPts val="0"/>
              </a:spcBef>
            </a:pPr>
            <a:endParaRPr lang="en-GB" sz="1100" dirty="0"/>
          </a:p>
          <a:p>
            <a:pPr marL="266700" indent="-174625" defTabSz="898525">
              <a:spcBef>
                <a:spcPts val="0"/>
              </a:spcBef>
            </a:pPr>
            <a:r>
              <a:rPr lang="en-GB" sz="1600" dirty="0"/>
              <a:t>Return Type</a:t>
            </a:r>
          </a:p>
          <a:p>
            <a:pPr marL="566738" lvl="1" indent="-174625" defTabSz="898525">
              <a:spcBef>
                <a:spcPts val="0"/>
              </a:spcBef>
            </a:pPr>
            <a:r>
              <a:rPr lang="en-GB" sz="1100" dirty="0"/>
              <a:t>32-bit unsigned long (0–4.3B </a:t>
            </a:r>
            <a:r>
              <a:rPr lang="en-GB" sz="1100" dirty="0" err="1"/>
              <a:t>ms</a:t>
            </a:r>
            <a:r>
              <a:rPr lang="en-GB" sz="1100" dirty="0"/>
              <a:t>)</a:t>
            </a:r>
          </a:p>
          <a:p>
            <a:pPr marL="566738" lvl="1" indent="-174625" defTabSz="898525">
              <a:spcBef>
                <a:spcPts val="0"/>
              </a:spcBef>
            </a:pPr>
            <a:r>
              <a:rPr lang="en-GB" sz="1100" dirty="0"/>
              <a:t>1ms precision via timers</a:t>
            </a:r>
          </a:p>
          <a:p>
            <a:pPr marL="566738" lvl="1" indent="-174625" defTabSz="898525">
              <a:spcBef>
                <a:spcPts val="0"/>
              </a:spcBef>
            </a:pPr>
            <a:endParaRPr lang="en-GB" sz="1100" dirty="0"/>
          </a:p>
          <a:p>
            <a:pPr marL="266700" indent="-174625" defTabSz="898525">
              <a:spcBef>
                <a:spcPts val="0"/>
              </a:spcBef>
            </a:pPr>
            <a:r>
              <a:rPr lang="en-GB" sz="1600" dirty="0"/>
              <a:t>Time Limit</a:t>
            </a:r>
          </a:p>
          <a:p>
            <a:pPr marL="566738" lvl="1" indent="-174625" defTabSz="898525">
              <a:spcBef>
                <a:spcPts val="0"/>
              </a:spcBef>
            </a:pPr>
            <a:r>
              <a:rPr lang="en-GB" sz="1100" dirty="0"/>
              <a:t>~49.7 days before overflow</a:t>
            </a:r>
          </a:p>
          <a:p>
            <a:pPr marL="566738" lvl="1" indent="-174625" defTabSz="898525">
              <a:spcBef>
                <a:spcPts val="0"/>
              </a:spcBef>
            </a:pPr>
            <a:r>
              <a:rPr lang="en-GB" sz="1100" dirty="0"/>
              <a:t>Resets on power cycle.</a:t>
            </a:r>
          </a:p>
        </p:txBody>
      </p:sp>
    </p:spTree>
    <p:extLst>
      <p:ext uri="{BB962C8B-B14F-4D97-AF65-F5344CB8AC3E}">
        <p14:creationId xmlns:p14="http://schemas.microsoft.com/office/powerpoint/2010/main" val="3780033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ctr">
            <a:normAutofit/>
          </a:bodyPr>
          <a:lstStyle/>
          <a:p>
            <a:pPr algn="l"/>
            <a:r>
              <a:rPr lang="en-GB" dirty="0"/>
              <a:t>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Walk the example </a:t>
            </a:r>
          </a:p>
        </p:txBody>
      </p:sp>
    </p:spTree>
    <p:extLst>
      <p:ext uri="{BB962C8B-B14F-4D97-AF65-F5344CB8AC3E}">
        <p14:creationId xmlns:p14="http://schemas.microsoft.com/office/powerpoint/2010/main" val="3369390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Principles of Interrupts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39552" y="1563638"/>
            <a:ext cx="7416824" cy="3456384"/>
          </a:xfrm>
          <a:solidFill>
            <a:schemeClr val="bg1"/>
          </a:solidFill>
        </p:spPr>
        <p:txBody>
          <a:bodyPr vert="horz" lIns="85064" tIns="42531" rIns="85064" bIns="42531" rtlCol="0">
            <a:noAutofit/>
          </a:bodyPr>
          <a:lstStyle/>
          <a:p>
            <a:pPr marL="266700" indent="-174625" defTabSz="898525">
              <a:spcBef>
                <a:spcPts val="0"/>
              </a:spcBef>
            </a:pPr>
            <a:r>
              <a:rPr lang="en-GB" sz="1100" b="1" dirty="0"/>
              <a:t>Interrupts are events that alter the normal execution flow of a program to respond to external or internal events.</a:t>
            </a:r>
          </a:p>
          <a:p>
            <a:pPr marL="266700" indent="-174625" defTabSz="898525">
              <a:spcBef>
                <a:spcPts val="0"/>
              </a:spcBef>
            </a:pPr>
            <a:endParaRPr lang="en-GB" sz="1100" b="1" dirty="0"/>
          </a:p>
          <a:p>
            <a:pPr marL="266700" indent="-174625" defTabSz="898525">
              <a:spcBef>
                <a:spcPts val="0"/>
              </a:spcBef>
            </a:pPr>
            <a:r>
              <a:rPr lang="en-GB" sz="1100" b="1" dirty="0"/>
              <a:t>Advantages</a:t>
            </a:r>
          </a:p>
          <a:p>
            <a:pPr marL="566737" lvl="2" indent="-174625" defTabSz="898525">
              <a:spcBef>
                <a:spcPts val="0"/>
              </a:spcBef>
            </a:pPr>
            <a:r>
              <a:rPr lang="en-GB" dirty="0"/>
              <a:t>Immediate response to critical events</a:t>
            </a:r>
          </a:p>
          <a:p>
            <a:pPr marL="566737" lvl="2" indent="-174625" defTabSz="898525">
              <a:spcBef>
                <a:spcPts val="0"/>
              </a:spcBef>
            </a:pPr>
            <a:r>
              <a:rPr lang="en-GB" dirty="0"/>
              <a:t>Efficient use of the microcontroller's resources</a:t>
            </a:r>
            <a:endParaRPr lang="en-GB" b="1" dirty="0"/>
          </a:p>
          <a:p>
            <a:pPr marL="266700" indent="-174625" defTabSz="898525">
              <a:spcBef>
                <a:spcPts val="0"/>
              </a:spcBef>
            </a:pPr>
            <a:endParaRPr lang="en-GB" sz="1100" b="1" dirty="0"/>
          </a:p>
          <a:p>
            <a:pPr marL="266700" indent="-174625" defTabSz="898525">
              <a:spcBef>
                <a:spcPts val="0"/>
              </a:spcBef>
            </a:pPr>
            <a:r>
              <a:rPr lang="en-GB" sz="1100" b="1" dirty="0"/>
              <a:t>Types of Interrupts</a:t>
            </a:r>
          </a:p>
          <a:p>
            <a:pPr marL="566737" lvl="2" indent="-174625" defTabSz="898525">
              <a:spcBef>
                <a:spcPts val="0"/>
              </a:spcBef>
            </a:pPr>
            <a:r>
              <a:rPr lang="en-GB" dirty="0"/>
              <a:t>External Interrupts: Triggered by events on external pins (RB0/INT0, RB1/INT1, etc.)</a:t>
            </a:r>
          </a:p>
          <a:p>
            <a:pPr marL="566737" lvl="2" indent="-174625" defTabSz="898525">
              <a:spcBef>
                <a:spcPts val="0"/>
              </a:spcBef>
            </a:pPr>
            <a:r>
              <a:rPr lang="en-GB" dirty="0"/>
              <a:t>Timer Interrupts: Triggered by timer overflows or matches</a:t>
            </a:r>
          </a:p>
          <a:p>
            <a:pPr marL="566737" lvl="2" indent="-174625" defTabSz="898525">
              <a:spcBef>
                <a:spcPts val="0"/>
              </a:spcBef>
            </a:pPr>
            <a:r>
              <a:rPr lang="en-GB" dirty="0"/>
              <a:t>Peripheral Interrupts: Triggered by events from peripherals (USART, ADC, etc.)</a:t>
            </a:r>
          </a:p>
          <a:p>
            <a:pPr marL="566737" lvl="2" indent="-174625" defTabSz="898525">
              <a:spcBef>
                <a:spcPts val="0"/>
              </a:spcBef>
            </a:pPr>
            <a:r>
              <a:rPr lang="en-GB" dirty="0"/>
              <a:t>Software Interrupts: Triggered by software instructions</a:t>
            </a:r>
            <a:endParaRPr lang="en-GB" b="1" dirty="0"/>
          </a:p>
          <a:p>
            <a:pPr marL="266700" indent="-174625" defTabSz="898525">
              <a:spcBef>
                <a:spcPts val="0"/>
              </a:spcBef>
            </a:pPr>
            <a:endParaRPr lang="en-GB" sz="1100" b="1" dirty="0"/>
          </a:p>
          <a:p>
            <a:pPr marL="266700" indent="-174625" defTabSz="898525">
              <a:spcBef>
                <a:spcPts val="0"/>
              </a:spcBef>
            </a:pPr>
            <a:r>
              <a:rPr lang="en-GB" sz="1100" b="1" dirty="0"/>
              <a:t>Key Registers</a:t>
            </a:r>
          </a:p>
          <a:p>
            <a:pPr marL="566737" lvl="2" indent="-174625" defTabSz="898525">
              <a:spcBef>
                <a:spcPts val="0"/>
              </a:spcBef>
            </a:pPr>
            <a:r>
              <a:rPr lang="en-GB" dirty="0"/>
              <a:t>INTCON: Controls global interrupt enable and individual interrupt flags</a:t>
            </a:r>
          </a:p>
          <a:p>
            <a:pPr marL="566737" lvl="2" indent="-174625" defTabSz="898525">
              <a:spcBef>
                <a:spcPts val="0"/>
              </a:spcBef>
            </a:pPr>
            <a:r>
              <a:rPr lang="en-GB" dirty="0"/>
              <a:t>PIE1, PIE2: Peripheral Interrupt Enable registers</a:t>
            </a:r>
          </a:p>
          <a:p>
            <a:pPr marL="566737" lvl="2" indent="-174625" defTabSz="898525">
              <a:spcBef>
                <a:spcPts val="0"/>
              </a:spcBef>
            </a:pPr>
            <a:r>
              <a:rPr lang="en-GB" dirty="0"/>
              <a:t>PIR1, PIR2: Peripheral Interrupt Request (flag) registers</a:t>
            </a:r>
            <a:endParaRPr lang="en-GB" b="1" dirty="0"/>
          </a:p>
          <a:p>
            <a:pPr marL="266700" indent="-174625" defTabSz="898525">
              <a:spcBef>
                <a:spcPts val="0"/>
              </a:spcBef>
            </a:pPr>
            <a:endParaRPr lang="en-GB" sz="1100" b="1" dirty="0"/>
          </a:p>
          <a:p>
            <a:pPr marL="266700" indent="-174625" defTabSz="898525">
              <a:spcBef>
                <a:spcPts val="0"/>
              </a:spcBef>
            </a:pPr>
            <a:r>
              <a:rPr lang="en-GB" sz="1100" b="1" dirty="0"/>
              <a:t>Interrupt Service Routine (ISR)</a:t>
            </a:r>
          </a:p>
          <a:p>
            <a:pPr marL="566737" lvl="2" indent="-174625" defTabSz="898525">
              <a:spcBef>
                <a:spcPts val="0"/>
              </a:spcBef>
            </a:pPr>
            <a:r>
              <a:rPr lang="en-GB" dirty="0"/>
              <a:t>Special function that executes when an interrupt occurs</a:t>
            </a:r>
          </a:p>
          <a:p>
            <a:pPr marL="566737" lvl="2" indent="-174625" defTabSz="898525">
              <a:spcBef>
                <a:spcPts val="0"/>
              </a:spcBef>
            </a:pPr>
            <a:r>
              <a:rPr lang="en-GB" dirty="0"/>
              <a:t>Must be as short and efficient as possible to avoid delaying other operations</a:t>
            </a:r>
          </a:p>
          <a:p>
            <a:pPr marL="92075" indent="0" defTabSz="898525">
              <a:spcBef>
                <a:spcPts val="0"/>
              </a:spcBef>
              <a:buNone/>
            </a:pPr>
            <a:endParaRPr lang="en-GB" sz="1100" b="1" dirty="0"/>
          </a:p>
        </p:txBody>
      </p:sp>
    </p:spTree>
    <p:extLst>
      <p:ext uri="{BB962C8B-B14F-4D97-AF65-F5344CB8AC3E}">
        <p14:creationId xmlns:p14="http://schemas.microsoft.com/office/powerpoint/2010/main" val="2429066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Interrupts…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67544" y="915566"/>
            <a:ext cx="3754757" cy="3960440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800" dirty="0"/>
              <a:t>For specific details of the interrupts see the microcontroller datasheet</a:t>
            </a:r>
          </a:p>
          <a:p>
            <a:pPr marL="0" indent="0">
              <a:buNone/>
            </a:pPr>
            <a:r>
              <a:rPr lang="en-GB" sz="800" dirty="0"/>
              <a:t>The first parameter is the GCBASIC identifier used in user code to expose the specific interrupt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/>
              <a:t>1. </a:t>
            </a:r>
            <a:r>
              <a:rPr lang="en-GB" sz="800" dirty="0" err="1"/>
              <a:t>ADCReady:ADIE,ADIF</a:t>
            </a:r>
            <a:r>
              <a:rPr lang="en-GB" sz="800" dirty="0"/>
              <a:t>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/>
              <a:t>2. </a:t>
            </a:r>
            <a:r>
              <a:rPr lang="en-GB" sz="800" dirty="0" err="1"/>
              <a:t>ADThreshold:ADTIE,ADTIF</a:t>
            </a:r>
            <a:r>
              <a:rPr lang="en-GB" sz="800" dirty="0"/>
              <a:t>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/>
              <a:t>3. </a:t>
            </a:r>
            <a:r>
              <a:rPr lang="en-GB" sz="800" dirty="0" err="1"/>
              <a:t>ActiveClockTuning:ACTIE,ACTIF</a:t>
            </a:r>
            <a:r>
              <a:rPr lang="en-GB" sz="800" dirty="0"/>
              <a:t>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/>
              <a:t>4. CCP1:CCP1IE,CCP1IF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/>
              <a:t>5. CCP2:CCP2IE,CCP2IF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/>
              <a:t>6. </a:t>
            </a:r>
            <a:r>
              <a:rPr lang="en-GB" sz="800" dirty="0" err="1"/>
              <a:t>CRCComplete:CRCIE,CRCIF</a:t>
            </a:r>
            <a:r>
              <a:rPr lang="en-GB" sz="800" dirty="0"/>
              <a:t>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/>
              <a:t>7. CWG1ShutDown:CWG1IE,CWG1IF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/>
              <a:t>8. </a:t>
            </a:r>
            <a:r>
              <a:rPr lang="en-GB" sz="800" dirty="0" err="1"/>
              <a:t>ClockSwitchComplete:CSWIE,CSWIF</a:t>
            </a:r>
            <a:r>
              <a:rPr lang="en-GB" sz="800" dirty="0"/>
              <a:t>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/>
              <a:t>9. Comp1Change:CM1IE,CM1IF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/>
              <a:t>10. ExtInt0:INTE,INTF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/>
              <a:t>11. LogicCell1Event:CLC1IE,CLC1IF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/>
              <a:t>12. LogicCell2Event:CLC2IE,CLC2IF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/>
              <a:t>13. LogicCell3Event:CLC3IE,CLC3IF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/>
              <a:t>14. LogicCell4Event:CLC4IE,CLC4IF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/>
              <a:t>15. LowPowerComparator:CMLP1IE,CMLP1IF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/>
              <a:t>16. </a:t>
            </a:r>
            <a:r>
              <a:rPr lang="en-GB" sz="800" dirty="0" err="1"/>
              <a:t>NVMComplete:NVMIE,NVMIF</a:t>
            </a:r>
            <a:r>
              <a:rPr lang="en-GB" sz="800" dirty="0"/>
              <a:t>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/>
              <a:t>17. NumericOscOverflow:NCO1IE,NCO1IF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/>
              <a:t>18. OPA1SelfCalibration:OPA1CIE,OPA1CIF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/>
              <a:t>19. OPA2SelfCalibration:OPA2CIE,OPA2CIF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/>
              <a:t>20. OPA3SelfCalibration:OPA3CIE,OPA3CIF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/>
              <a:t>21. </a:t>
            </a:r>
            <a:r>
              <a:rPr lang="en-GB" sz="800" dirty="0" err="1"/>
              <a:t>OscillatorFail:OSFIE,OSFIF</a:t>
            </a:r>
            <a:r>
              <a:rPr lang="en-GB" sz="800" dirty="0"/>
              <a:t>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/>
              <a:t>22. </a:t>
            </a:r>
            <a:r>
              <a:rPr lang="en-GB" sz="800" dirty="0" err="1"/>
              <a:t>PORTABChange:IOCIE,IOCIF</a:t>
            </a:r>
            <a:r>
              <a:rPr lang="en-GB" sz="800" dirty="0"/>
              <a:t>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/>
              <a:t>23. PWM1MatchEvent:PWM1IE,PWM1IF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/>
              <a:t>24. PWM2MatchEvent:PWM2IE,PWM2IF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/>
              <a:t>25. PWM2PeriodEvent:PWM2PIE,PWM2PIF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/>
              <a:t>26. PWMPeriodEvent:PWM1PIE,PWM1PIF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/>
              <a:t>27. </a:t>
            </a:r>
            <a:r>
              <a:rPr lang="en-GB" sz="800" dirty="0" err="1"/>
              <a:t>PortChange:IOCIE,IOCIF</a:t>
            </a:r>
            <a:r>
              <a:rPr lang="en-GB" sz="800" dirty="0"/>
              <a:t>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/>
              <a:t>28. SSP1Collision:BCL1IE,BCL1IF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/>
              <a:t>29. SSP1Ready:SSP1IE,SSP1IF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/>
              <a:t>30. SSP2Collision:BCL2IE,BCL2IF  </a:t>
            </a:r>
          </a:p>
        </p:txBody>
      </p:sp>
      <p:sp>
        <p:nvSpPr>
          <p:cNvPr id="4" name="Content Placeholder 5"/>
          <p:cNvSpPr txBox="1">
            <a:spLocks/>
          </p:cNvSpPr>
          <p:nvPr/>
        </p:nvSpPr>
        <p:spPr>
          <a:xfrm>
            <a:off x="4139952" y="1275606"/>
            <a:ext cx="3250702" cy="3394472"/>
          </a:xfrm>
          <a:prstGeom prst="rect">
            <a:avLst/>
          </a:prstGeom>
          <a:solidFill>
            <a:schemeClr val="bg1"/>
          </a:solidFill>
        </p:spPr>
        <p:txBody>
          <a:bodyPr vert="horz" lIns="85064" tIns="42531" rIns="85064" bIns="42531" rtlCol="0">
            <a:normAutofit/>
          </a:bodyPr>
          <a:lstStyle>
            <a:lvl1pPr marL="318988" indent="-318988" algn="l" defTabSz="85063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1142" indent="-265824" algn="l" defTabSz="850636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3295" indent="-212659" algn="l" defTabSz="85063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88614" indent="-212659" algn="l" defTabSz="850636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3932" indent="-212659" algn="l" defTabSz="850636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9250" indent="-212659" algn="l" defTabSz="85063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64568" indent="-212659" algn="l" defTabSz="85063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89887" indent="-212659" algn="l" defTabSz="85063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15205" indent="-212659" algn="l" defTabSz="85063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342900">
              <a:spcBef>
                <a:spcPts val="0"/>
              </a:spcBef>
              <a:buClr>
                <a:schemeClr val="accent1"/>
              </a:buClr>
              <a:buSzPct val="80000"/>
              <a:buNone/>
            </a:pPr>
            <a:r>
              <a:rPr lang="en-GB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31. SSP2Ready:SSP2IE,SSP2IF  </a:t>
            </a:r>
          </a:p>
          <a:p>
            <a:pPr marL="0" indent="0" defTabSz="342900">
              <a:spcBef>
                <a:spcPts val="0"/>
              </a:spcBef>
              <a:buClr>
                <a:schemeClr val="accent1"/>
              </a:buClr>
              <a:buSzPct val="80000"/>
              <a:buNone/>
            </a:pPr>
            <a:r>
              <a:rPr lang="en-GB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32. </a:t>
            </a:r>
            <a:r>
              <a:rPr lang="en-GB" sz="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ScanComplete:SCANIE,SCANIF</a:t>
            </a:r>
            <a:r>
              <a:rPr lang="en-GB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</a:p>
          <a:p>
            <a:pPr marL="0" indent="0" defTabSz="342900">
              <a:spcBef>
                <a:spcPts val="0"/>
              </a:spcBef>
              <a:buClr>
                <a:schemeClr val="accent1"/>
              </a:buClr>
              <a:buSzPct val="80000"/>
              <a:buNone/>
            </a:pPr>
            <a:r>
              <a:rPr lang="en-GB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33. </a:t>
            </a:r>
            <a:r>
              <a:rPr lang="en-GB" sz="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SignalRoutingPortIOC:IOCSRIE,IOCSRIF</a:t>
            </a:r>
            <a:r>
              <a:rPr lang="en-GB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</a:p>
          <a:p>
            <a:pPr marL="0" indent="0" defTabSz="342900">
              <a:spcBef>
                <a:spcPts val="0"/>
              </a:spcBef>
              <a:buClr>
                <a:schemeClr val="accent1"/>
              </a:buClr>
              <a:buSzPct val="80000"/>
              <a:buNone/>
            </a:pPr>
            <a:r>
              <a:rPr lang="en-GB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34. Timer0Overflow:TMR0IE,TMR0IF  </a:t>
            </a:r>
          </a:p>
          <a:p>
            <a:pPr marL="0" indent="0" defTabSz="342900">
              <a:spcBef>
                <a:spcPts val="0"/>
              </a:spcBef>
              <a:buClr>
                <a:schemeClr val="accent1"/>
              </a:buClr>
              <a:buSzPct val="80000"/>
              <a:buNone/>
            </a:pPr>
            <a:r>
              <a:rPr lang="en-GB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35. Timer1Gate:TMR1GIE,TMR1GIF  </a:t>
            </a:r>
          </a:p>
          <a:p>
            <a:pPr marL="0" indent="0" defTabSz="342900">
              <a:spcBef>
                <a:spcPts val="0"/>
              </a:spcBef>
              <a:buClr>
                <a:schemeClr val="accent1"/>
              </a:buClr>
              <a:buSzPct val="80000"/>
              <a:buNone/>
            </a:pPr>
            <a:r>
              <a:rPr lang="en-GB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36. Timer1Overflow:TMR1IE,TMR1IF  </a:t>
            </a:r>
          </a:p>
          <a:p>
            <a:pPr marL="0" indent="0" defTabSz="342900">
              <a:spcBef>
                <a:spcPts val="0"/>
              </a:spcBef>
              <a:buClr>
                <a:schemeClr val="accent1"/>
              </a:buClr>
              <a:buSzPct val="80000"/>
              <a:buNone/>
            </a:pPr>
            <a:r>
              <a:rPr lang="en-GB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37. Timer2Match:TMR2IE,TMR2IF  </a:t>
            </a:r>
          </a:p>
          <a:p>
            <a:pPr marL="0" indent="0" defTabSz="342900">
              <a:spcBef>
                <a:spcPts val="0"/>
              </a:spcBef>
              <a:buClr>
                <a:schemeClr val="accent1"/>
              </a:buClr>
              <a:buSzPct val="80000"/>
              <a:buNone/>
            </a:pPr>
            <a:r>
              <a:rPr lang="en-GB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38. Timer3Gate:TMR3GIE,TMR3GIF  </a:t>
            </a:r>
          </a:p>
          <a:p>
            <a:pPr marL="0" indent="0" defTabSz="342900">
              <a:spcBef>
                <a:spcPts val="0"/>
              </a:spcBef>
              <a:buClr>
                <a:schemeClr val="accent1"/>
              </a:buClr>
              <a:buSzPct val="80000"/>
              <a:buNone/>
            </a:pPr>
            <a:r>
              <a:rPr lang="en-GB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39. Timer3Overflow:TMR3IE,TMR3IF  </a:t>
            </a:r>
          </a:p>
          <a:p>
            <a:pPr marL="0" indent="0" defTabSz="342900">
              <a:spcBef>
                <a:spcPts val="0"/>
              </a:spcBef>
              <a:buClr>
                <a:schemeClr val="accent1"/>
              </a:buClr>
              <a:buSzPct val="80000"/>
              <a:buNone/>
            </a:pPr>
            <a:r>
              <a:rPr lang="en-GB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40. Timer4Match:TMR4IE,TMR4IF  </a:t>
            </a:r>
          </a:p>
          <a:p>
            <a:pPr marL="0" indent="0" defTabSz="342900">
              <a:spcBef>
                <a:spcPts val="0"/>
              </a:spcBef>
              <a:buClr>
                <a:schemeClr val="accent1"/>
              </a:buClr>
              <a:buSzPct val="80000"/>
              <a:buNone/>
            </a:pPr>
            <a:r>
              <a:rPr lang="en-GB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41. Timer6Match:TMR6IE,TMR6IF  </a:t>
            </a:r>
          </a:p>
          <a:p>
            <a:pPr marL="0" indent="0" defTabSz="342900">
              <a:spcBef>
                <a:spcPts val="0"/>
              </a:spcBef>
              <a:buClr>
                <a:schemeClr val="accent1"/>
              </a:buClr>
              <a:buSzPct val="80000"/>
              <a:buNone/>
            </a:pPr>
            <a:r>
              <a:rPr lang="en-GB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42. UsartRX1Ready:RC1IE,RC1IF  </a:t>
            </a:r>
          </a:p>
          <a:p>
            <a:pPr marL="0" indent="0" defTabSz="342900">
              <a:spcBef>
                <a:spcPts val="0"/>
              </a:spcBef>
              <a:buClr>
                <a:schemeClr val="accent1"/>
              </a:buClr>
              <a:buSzPct val="80000"/>
              <a:buNone/>
            </a:pPr>
            <a:r>
              <a:rPr lang="en-GB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43. UsartRX2Ready:RC2IE,RC2IF  </a:t>
            </a:r>
          </a:p>
          <a:p>
            <a:pPr marL="0" indent="0" defTabSz="342900">
              <a:spcBef>
                <a:spcPts val="0"/>
              </a:spcBef>
              <a:buClr>
                <a:schemeClr val="accent1"/>
              </a:buClr>
              <a:buSzPct val="80000"/>
              <a:buNone/>
            </a:pPr>
            <a:r>
              <a:rPr lang="en-GB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44. UsartTX1Ready:TX1IE,TX1IF  </a:t>
            </a:r>
          </a:p>
          <a:p>
            <a:pPr marL="0" indent="0" defTabSz="342900">
              <a:spcBef>
                <a:spcPts val="0"/>
              </a:spcBef>
              <a:buClr>
                <a:schemeClr val="accent1"/>
              </a:buClr>
              <a:buSzPct val="80000"/>
              <a:buNone/>
            </a:pPr>
            <a:r>
              <a:rPr lang="en-GB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45. UsartTX2Ready:TX2IE,TX2IF  </a:t>
            </a:r>
          </a:p>
          <a:p>
            <a:pPr marL="0" indent="0" defTabSz="342900">
              <a:spcBef>
                <a:spcPts val="0"/>
              </a:spcBef>
              <a:buClr>
                <a:schemeClr val="accent1"/>
              </a:buClr>
              <a:buSzPct val="80000"/>
              <a:buNone/>
            </a:pPr>
            <a:r>
              <a:rPr lang="en-GB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46. </a:t>
            </a:r>
            <a:r>
              <a:rPr lang="en-GB" sz="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ZeroCrossDetect:ZCDIE,ZCDIF</a:t>
            </a:r>
            <a:endParaRPr lang="en-GB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291147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11510"/>
            <a:ext cx="5400600" cy="558552"/>
          </a:xfrm>
        </p:spPr>
        <p:txBody>
          <a:bodyPr vert="horz" lIns="85064" tIns="42531" rIns="85064" bIns="42531" rtlCol="0" anchor="ctr">
            <a:normAutofit/>
          </a:bodyPr>
          <a:lstStyle/>
          <a:p>
            <a:pPr algn="l"/>
            <a:r>
              <a:rPr lang="en-GB" dirty="0"/>
              <a:t>Interrupt on Change (IOC)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 vert="horz" lIns="85064" tIns="42531" rIns="85064" bIns="42531" rtlCol="0">
            <a:noAutofit/>
          </a:bodyPr>
          <a:lstStyle/>
          <a:p>
            <a:pPr marL="266700" indent="-174625" defTabSz="898525"/>
            <a:r>
              <a:rPr lang="en-GB" sz="1400" dirty="0"/>
              <a:t>Detects changes in the state of selected pins</a:t>
            </a:r>
          </a:p>
          <a:p>
            <a:pPr marL="266700" indent="-174625" defTabSz="898525"/>
            <a:endParaRPr lang="en-GB" sz="1400" dirty="0"/>
          </a:p>
          <a:p>
            <a:pPr marL="266700" indent="-174625" defTabSz="898525"/>
            <a:r>
              <a:rPr lang="en-GB" sz="1400" dirty="0"/>
              <a:t>Key Points</a:t>
            </a:r>
          </a:p>
          <a:p>
            <a:pPr marL="638854" lvl="1" indent="-174625" defTabSz="898525"/>
            <a:r>
              <a:rPr lang="en-GB" sz="1200" dirty="0"/>
              <a:t>Configuration: Set IO </a:t>
            </a:r>
            <a:r>
              <a:rPr lang="en-GB" sz="1200" dirty="0" err="1"/>
              <a:t>port.pin</a:t>
            </a:r>
            <a:r>
              <a:rPr lang="en-GB" sz="1200" dirty="0"/>
              <a:t> as inputs and configure the correct register for edge detection (rising or falling edge)</a:t>
            </a:r>
          </a:p>
          <a:p>
            <a:pPr marL="266700" indent="-174625" defTabSz="898525"/>
            <a:r>
              <a:rPr lang="en-GB" sz="1400" dirty="0"/>
              <a:t>Interrupt Service Routine (ISR)</a:t>
            </a:r>
          </a:p>
          <a:p>
            <a:pPr marL="638854" lvl="1" indent="-174625" defTabSz="898525"/>
            <a:r>
              <a:rPr lang="en-GB" sz="1200" dirty="0"/>
              <a:t>Handles the interrupt event</a:t>
            </a:r>
          </a:p>
          <a:p>
            <a:pPr marL="266700" indent="-174625" defTabSz="898525"/>
            <a:r>
              <a:rPr lang="en-GB" sz="1400" dirty="0"/>
              <a:t>Global Interrupt Enable (GIE)</a:t>
            </a:r>
          </a:p>
          <a:p>
            <a:pPr marL="638854" lvl="1" indent="-174625" defTabSz="898525"/>
            <a:r>
              <a:rPr lang="en-GB" sz="1200" dirty="0"/>
              <a:t>Enables the microcontroller to respond to interrupts</a:t>
            </a:r>
          </a:p>
          <a:p>
            <a:pPr marL="266700" indent="-174625" defTabSz="898525"/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782854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1086671"/>
            <a:ext cx="8930578" cy="2973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Interrupt - IOC</a:t>
            </a:r>
          </a:p>
        </p:txBody>
      </p:sp>
      <p:sp>
        <p:nvSpPr>
          <p:cNvPr id="4" name="Rectangle 3"/>
          <p:cNvSpPr/>
          <p:nvPr/>
        </p:nvSpPr>
        <p:spPr>
          <a:xfrm>
            <a:off x="7524328" y="1293223"/>
            <a:ext cx="432048" cy="27497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38693" y="3488613"/>
            <a:ext cx="8874678" cy="5543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6709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Interrupt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131590"/>
            <a:ext cx="7598216" cy="4011910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GB" sz="800" dirty="0"/>
              <a:t>……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>
                <a:latin typeface="Courier New" pitchFamily="49" charset="0"/>
                <a:cs typeface="Courier New" pitchFamily="49" charset="0"/>
              </a:rPr>
              <a:t>//IO ports setup</a:t>
            </a:r>
          </a:p>
          <a:p>
            <a:pPr marL="0" indent="0">
              <a:spcBef>
                <a:spcPts val="0"/>
              </a:spcBef>
              <a:buNone/>
            </a:pPr>
            <a:endParaRPr lang="en-GB" sz="8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>
                <a:latin typeface="Courier New" pitchFamily="49" charset="0"/>
                <a:cs typeface="Courier New" pitchFamily="49" charset="0"/>
              </a:rPr>
              <a:t>/* Interrupt-on-change enabled on the </a:t>
            </a:r>
            <a:r>
              <a:rPr lang="en-GB" sz="800" dirty="0" err="1">
                <a:latin typeface="Courier New" pitchFamily="49" charset="0"/>
                <a:cs typeface="Courier New" pitchFamily="49" charset="0"/>
              </a:rPr>
              <a:t>IOCx</a:t>
            </a:r>
            <a:r>
              <a:rPr lang="en-GB" sz="800" dirty="0">
                <a:latin typeface="Courier New" pitchFamily="49" charset="0"/>
                <a:cs typeface="Courier New" pitchFamily="49" charset="0"/>
              </a:rPr>
              <a:t> pin for a negative-going edge. Associated Status bit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>
                <a:latin typeface="Courier New" pitchFamily="49" charset="0"/>
                <a:cs typeface="Courier New" pitchFamily="49" charset="0"/>
              </a:rPr>
              <a:t>    and interrupt flag will be set upon detecting an edge. */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b="1" dirty="0">
                <a:latin typeface="Courier New" pitchFamily="49" charset="0"/>
                <a:cs typeface="Courier New" pitchFamily="49" charset="0"/>
              </a:rPr>
              <a:t>IOCAN3</a:t>
            </a:r>
            <a:r>
              <a:rPr lang="en-GB" sz="800" dirty="0">
                <a:latin typeface="Courier New" pitchFamily="49" charset="0"/>
                <a:cs typeface="Courier New" pitchFamily="49" charset="0"/>
              </a:rPr>
              <a:t> = 1</a:t>
            </a:r>
          </a:p>
          <a:p>
            <a:pPr marL="0" indent="0">
              <a:spcBef>
                <a:spcPts val="0"/>
              </a:spcBef>
              <a:buNone/>
            </a:pPr>
            <a:endParaRPr lang="en-GB" sz="8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>
                <a:latin typeface="Courier New" pitchFamily="49" charset="0"/>
                <a:cs typeface="Courier New" pitchFamily="49" charset="0"/>
              </a:rPr>
              <a:t>//Sets up GIE, create handler for interrupt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>
                <a:latin typeface="Courier New" pitchFamily="49" charset="0"/>
                <a:cs typeface="Courier New" pitchFamily="49" charset="0"/>
              </a:rPr>
              <a:t>On Interrupt </a:t>
            </a:r>
            <a:r>
              <a:rPr lang="en-GB" sz="800" b="1" dirty="0" err="1">
                <a:latin typeface="Courier New" pitchFamily="49" charset="0"/>
                <a:cs typeface="Courier New" pitchFamily="49" charset="0"/>
              </a:rPr>
              <a:t>PORTChange</a:t>
            </a:r>
            <a:r>
              <a:rPr lang="en-GB" sz="800" dirty="0">
                <a:latin typeface="Courier New" pitchFamily="49" charset="0"/>
                <a:cs typeface="Courier New" pitchFamily="49" charset="0"/>
              </a:rPr>
              <a:t>  Call </a:t>
            </a:r>
            <a:r>
              <a:rPr lang="en-GB" sz="800" b="1" dirty="0" err="1">
                <a:latin typeface="Courier New" pitchFamily="49" charset="0"/>
                <a:cs typeface="Courier New" pitchFamily="49" charset="0"/>
              </a:rPr>
              <a:t>InterruptHandler</a:t>
            </a:r>
            <a:endParaRPr lang="en-GB" sz="8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GB" sz="8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>
                <a:latin typeface="Courier New" pitchFamily="49" charset="0"/>
                <a:cs typeface="Courier New" pitchFamily="49" charset="0"/>
              </a:rPr>
              <a:t>Do</a:t>
            </a:r>
            <a:br>
              <a:rPr lang="en-GB" sz="800" dirty="0">
                <a:latin typeface="Courier New" pitchFamily="49" charset="0"/>
                <a:cs typeface="Courier New" pitchFamily="49" charset="0"/>
              </a:rPr>
            </a:br>
            <a:r>
              <a:rPr lang="en-GB" sz="800" dirty="0">
                <a:latin typeface="Courier New" pitchFamily="49" charset="0"/>
                <a:cs typeface="Courier New" pitchFamily="49" charset="0"/>
              </a:rPr>
              <a:t>   lots of code</a:t>
            </a:r>
          </a:p>
          <a:p>
            <a:pPr marL="0" indent="0">
              <a:spcBef>
                <a:spcPts val="0"/>
              </a:spcBef>
              <a:buNone/>
            </a:pPr>
            <a:endParaRPr lang="en-GB" sz="8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>
                <a:latin typeface="Courier New" pitchFamily="49" charset="0"/>
                <a:cs typeface="Courier New" pitchFamily="49" charset="0"/>
              </a:rPr>
              <a:t>   If </a:t>
            </a:r>
            <a:r>
              <a:rPr lang="en-GB" sz="800" dirty="0" err="1">
                <a:latin typeface="Courier New" pitchFamily="49" charset="0"/>
                <a:cs typeface="Courier New" pitchFamily="49" charset="0"/>
              </a:rPr>
              <a:t>SWPressed</a:t>
            </a:r>
            <a:r>
              <a:rPr lang="en-GB" sz="800" dirty="0">
                <a:latin typeface="Courier New" pitchFamily="49" charset="0"/>
                <a:cs typeface="Courier New" pitchFamily="49" charset="0"/>
              </a:rPr>
              <a:t> Then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>
                <a:latin typeface="Courier New" pitchFamily="49" charset="0"/>
                <a:cs typeface="Courier New" pitchFamily="49" charset="0"/>
              </a:rPr>
              <a:t>     RC3 = </a:t>
            </a:r>
            <a:r>
              <a:rPr lang="en-GB" sz="800" dirty="0" err="1">
                <a:latin typeface="Courier New" pitchFamily="49" charset="0"/>
                <a:cs typeface="Courier New" pitchFamily="49" charset="0"/>
              </a:rPr>
              <a:t>SWState</a:t>
            </a:r>
            <a:endParaRPr lang="en-GB" sz="8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GB" sz="800" dirty="0" err="1">
                <a:latin typeface="Courier New" pitchFamily="49" charset="0"/>
                <a:cs typeface="Courier New" pitchFamily="49" charset="0"/>
              </a:rPr>
              <a:t>SWPressed</a:t>
            </a:r>
            <a:r>
              <a:rPr lang="en-GB" sz="800" dirty="0">
                <a:latin typeface="Courier New" pitchFamily="49" charset="0"/>
                <a:cs typeface="Courier New" pitchFamily="49" charset="0"/>
              </a:rPr>
              <a:t> = False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>
                <a:latin typeface="Courier New" pitchFamily="49" charset="0"/>
                <a:cs typeface="Courier New" pitchFamily="49" charset="0"/>
              </a:rPr>
              <a:t>   End If</a:t>
            </a:r>
          </a:p>
          <a:p>
            <a:pPr marL="0" indent="0">
              <a:spcBef>
                <a:spcPts val="0"/>
              </a:spcBef>
              <a:buNone/>
            </a:pPr>
            <a:endParaRPr lang="en-GB" sz="8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>
                <a:latin typeface="Courier New" pitchFamily="49" charset="0"/>
                <a:cs typeface="Courier New" pitchFamily="49" charset="0"/>
              </a:rPr>
              <a:t>Loop</a:t>
            </a:r>
            <a:br>
              <a:rPr lang="en-GB" sz="800" dirty="0">
                <a:latin typeface="Courier New" pitchFamily="49" charset="0"/>
                <a:cs typeface="Courier New" pitchFamily="49" charset="0"/>
              </a:rPr>
            </a:br>
            <a:endParaRPr lang="en-GB" sz="8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>
                <a:latin typeface="Courier New" pitchFamily="49" charset="0"/>
                <a:cs typeface="Courier New" pitchFamily="49" charset="0"/>
              </a:rPr>
              <a:t>Sub </a:t>
            </a:r>
            <a:r>
              <a:rPr lang="en-GB" sz="800" b="1" dirty="0" err="1">
                <a:latin typeface="Courier New" pitchFamily="49" charset="0"/>
                <a:cs typeface="Courier New" pitchFamily="49" charset="0"/>
              </a:rPr>
              <a:t>InterruptHandler</a:t>
            </a:r>
            <a:endParaRPr lang="en-GB" sz="8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>
                <a:latin typeface="Courier New" pitchFamily="49" charset="0"/>
                <a:cs typeface="Courier New" pitchFamily="49" charset="0"/>
              </a:rPr>
              <a:t>    Dim </a:t>
            </a:r>
            <a:r>
              <a:rPr lang="en-GB" sz="800" dirty="0" err="1">
                <a:latin typeface="Courier New" pitchFamily="49" charset="0"/>
                <a:cs typeface="Courier New" pitchFamily="49" charset="0"/>
              </a:rPr>
              <a:t>SWState,SWPressed</a:t>
            </a:r>
            <a:r>
              <a:rPr lang="en-GB" sz="800" dirty="0">
                <a:latin typeface="Courier New" pitchFamily="49" charset="0"/>
                <a:cs typeface="Courier New" pitchFamily="49" charset="0"/>
              </a:rPr>
              <a:t> as BIT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>
                <a:latin typeface="Courier New" pitchFamily="49" charset="0"/>
                <a:cs typeface="Courier New" pitchFamily="49" charset="0"/>
              </a:rPr>
              <a:t>    If </a:t>
            </a:r>
            <a:r>
              <a:rPr lang="en-GB" sz="800" dirty="0" err="1">
                <a:latin typeface="Courier New" pitchFamily="49" charset="0"/>
                <a:cs typeface="Courier New" pitchFamily="49" charset="0"/>
              </a:rPr>
              <a:t>SWState</a:t>
            </a:r>
            <a:r>
              <a:rPr lang="en-GB" sz="800" dirty="0">
                <a:latin typeface="Courier New" pitchFamily="49" charset="0"/>
                <a:cs typeface="Courier New" pitchFamily="49" charset="0"/>
              </a:rPr>
              <a:t> &lt;&gt; SWITCHIN AND </a:t>
            </a:r>
            <a:r>
              <a:rPr lang="en-GB" sz="800" dirty="0" err="1">
                <a:latin typeface="Courier New" pitchFamily="49" charset="0"/>
                <a:cs typeface="Courier New" pitchFamily="49" charset="0"/>
              </a:rPr>
              <a:t>SWPressed</a:t>
            </a:r>
            <a:r>
              <a:rPr lang="en-GB" sz="800" dirty="0">
                <a:latin typeface="Courier New" pitchFamily="49" charset="0"/>
                <a:cs typeface="Courier New" pitchFamily="49" charset="0"/>
              </a:rPr>
              <a:t> = False Then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>
                <a:latin typeface="Courier New" pitchFamily="49" charset="0"/>
                <a:cs typeface="Courier New" pitchFamily="49" charset="0"/>
              </a:rPr>
              <a:t>      wait 10 us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>
                <a:latin typeface="Courier New" pitchFamily="49" charset="0"/>
                <a:cs typeface="Courier New" pitchFamily="49" charset="0"/>
              </a:rPr>
              <a:t>      'Save the switch state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GB" sz="800" dirty="0" err="1">
                <a:latin typeface="Courier New" pitchFamily="49" charset="0"/>
                <a:cs typeface="Courier New" pitchFamily="49" charset="0"/>
              </a:rPr>
              <a:t>SWState</a:t>
            </a:r>
            <a:r>
              <a:rPr lang="en-GB" sz="800" dirty="0">
                <a:latin typeface="Courier New" pitchFamily="49" charset="0"/>
                <a:cs typeface="Courier New" pitchFamily="49" charset="0"/>
              </a:rPr>
              <a:t> = SWITCHIN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>
                <a:latin typeface="Courier New" pitchFamily="49" charset="0"/>
                <a:cs typeface="Courier New" pitchFamily="49" charset="0"/>
              </a:rPr>
              <a:t>      'Inform main loop of interrupt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GB" sz="800" dirty="0" err="1">
                <a:latin typeface="Courier New" pitchFamily="49" charset="0"/>
                <a:cs typeface="Courier New" pitchFamily="49" charset="0"/>
              </a:rPr>
              <a:t>SWPressed</a:t>
            </a:r>
            <a:r>
              <a:rPr lang="en-GB" sz="800" dirty="0">
                <a:latin typeface="Courier New" pitchFamily="49" charset="0"/>
                <a:cs typeface="Courier New" pitchFamily="49" charset="0"/>
              </a:rPr>
              <a:t> = True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>
                <a:latin typeface="Courier New" pitchFamily="49" charset="0"/>
                <a:cs typeface="Courier New" pitchFamily="49" charset="0"/>
              </a:rPr>
              <a:t>    End If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>
                <a:latin typeface="Courier New" pitchFamily="49" charset="0"/>
                <a:cs typeface="Courier New" pitchFamily="49" charset="0"/>
              </a:rPr>
              <a:t>    'We must clear this specific bit flag in software, the main IOC is </a:t>
            </a:r>
            <a:r>
              <a:rPr lang="en-GB" sz="800" dirty="0" err="1">
                <a:latin typeface="Courier New" pitchFamily="49" charset="0"/>
                <a:cs typeface="Courier New" pitchFamily="49" charset="0"/>
              </a:rPr>
              <a:t>cleare</a:t>
            </a:r>
            <a:r>
              <a:rPr lang="en-GB" sz="800" dirty="0">
                <a:latin typeface="Courier New" pitchFamily="49" charset="0"/>
                <a:cs typeface="Courier New" pitchFamily="49" charset="0"/>
              </a:rPr>
              <a:t> by the GCBASIC interrupt handler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sz="800" b="1" dirty="0">
                <a:latin typeface="Courier New" pitchFamily="49" charset="0"/>
                <a:cs typeface="Courier New" pitchFamily="49" charset="0"/>
              </a:rPr>
              <a:t>IOCAF3</a:t>
            </a:r>
            <a:r>
              <a:rPr lang="en-GB" sz="800" dirty="0">
                <a:latin typeface="Courier New" pitchFamily="49" charset="0"/>
                <a:cs typeface="Courier New" pitchFamily="49" charset="0"/>
              </a:rPr>
              <a:t>  =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800" dirty="0">
                <a:latin typeface="Courier New" pitchFamily="49" charset="0"/>
                <a:cs typeface="Courier New" pitchFamily="49" charset="0"/>
              </a:rPr>
              <a:t>End Sub</a:t>
            </a:r>
            <a:r>
              <a:rPr lang="en-GB" sz="800" dirty="0"/>
              <a:t/>
            </a:r>
            <a:br>
              <a:rPr lang="en-GB" sz="800" dirty="0"/>
            </a:br>
            <a:endParaRPr lang="en-GB" sz="800" dirty="0"/>
          </a:p>
          <a:p>
            <a:pPr marL="0" indent="0">
              <a:spcBef>
                <a:spcPts val="0"/>
              </a:spcBef>
              <a:buNone/>
            </a:pPr>
            <a:endParaRPr lang="en-GB" sz="800" dirty="0"/>
          </a:p>
        </p:txBody>
      </p:sp>
    </p:spTree>
    <p:extLst>
      <p:ext uri="{BB962C8B-B14F-4D97-AF65-F5344CB8AC3E}">
        <p14:creationId xmlns:p14="http://schemas.microsoft.com/office/powerpoint/2010/main" val="3171796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ctr">
            <a:normAutofit/>
          </a:bodyPr>
          <a:lstStyle/>
          <a:p>
            <a:pPr algn="l"/>
            <a:r>
              <a:rPr lang="en-GB" dirty="0"/>
              <a:t>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Walk the example </a:t>
            </a:r>
          </a:p>
          <a:p>
            <a:r>
              <a:rPr lang="en-GB" sz="2000" dirty="0"/>
              <a:t>View the scope</a:t>
            </a:r>
          </a:p>
        </p:txBody>
      </p:sp>
    </p:spTree>
    <p:extLst>
      <p:ext uri="{BB962C8B-B14F-4D97-AF65-F5344CB8AC3E}">
        <p14:creationId xmlns:p14="http://schemas.microsoft.com/office/powerpoint/2010/main" val="2319042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Videos...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timer0 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EEProm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GCLD display solutions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GLCD  display solutions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6  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Millis and Interrupts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storage within the chip – Progmem,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215715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GCBASIC</a:t>
            </a:r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3805512" y="293179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PIC16F175xx</a:t>
            </a:r>
          </a:p>
          <a:p>
            <a:r>
              <a:rPr lang="en-GB" dirty="0"/>
              <a:t>Part 15 – Millis and Interrupts</a:t>
            </a:r>
          </a:p>
        </p:txBody>
      </p:sp>
      <p:pic>
        <p:nvPicPr>
          <p:cNvPr id="7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6864" y="3922804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VQFN /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1760" y="4074815"/>
            <a:ext cx="1142256" cy="102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5653422"/>
      </p:ext>
    </p:extLst>
  </p:cSld>
  <p:clrMapOvr>
    <a:masterClrMapping/>
  </p:clrMapOvr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15076</TotalTime>
  <Words>1000</Words>
  <Application>Microsoft Office PowerPoint</Application>
  <PresentationFormat>On-screen Show (16:9)</PresentationFormat>
  <Paragraphs>244</Paragraphs>
  <Slides>19</Slides>
  <Notes>1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GCstudioThemeLight</vt:lpstr>
      <vt:lpstr>GCBASIC</vt:lpstr>
      <vt:lpstr>GCBASIC</vt:lpstr>
      <vt:lpstr>GCBASIC</vt:lpstr>
      <vt:lpstr>PIC16F175xx</vt:lpstr>
      <vt:lpstr>Videos...</vt:lpstr>
      <vt:lpstr>GCBASIC Compiler</vt:lpstr>
      <vt:lpstr>Prerequisites </vt:lpstr>
      <vt:lpstr>Hardware</vt:lpstr>
      <vt:lpstr>Millis()</vt:lpstr>
      <vt:lpstr>Lab</vt:lpstr>
      <vt:lpstr>Principles of Interrupts</vt:lpstr>
      <vt:lpstr>Interrupts…</vt:lpstr>
      <vt:lpstr>Interrupt on Change (IOC)</vt:lpstr>
      <vt:lpstr>Interrupt - IOC</vt:lpstr>
      <vt:lpstr>Interrupt Code</vt:lpstr>
      <vt:lpstr>Lab</vt:lpstr>
      <vt:lpstr>PowerPoint Presentation</vt:lpstr>
      <vt:lpstr>Videos...</vt:lpstr>
      <vt:lpstr>GCBASIC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Cow BASIC</dc:title>
  <dc:creator>admin</dc:creator>
  <cp:lastModifiedBy>Evan R. Venn</cp:lastModifiedBy>
  <cp:revision>774</cp:revision>
  <dcterms:created xsi:type="dcterms:W3CDTF">2019-01-08T20:03:06Z</dcterms:created>
  <dcterms:modified xsi:type="dcterms:W3CDTF">2025-12-16T15:30:23Z</dcterms:modified>
</cp:coreProperties>
</file>