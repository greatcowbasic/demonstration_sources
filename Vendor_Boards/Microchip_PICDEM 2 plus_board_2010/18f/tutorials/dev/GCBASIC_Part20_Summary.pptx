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94" r:id="rId2"/>
    <p:sldId id="256" r:id="rId3"/>
    <p:sldId id="295" r:id="rId4"/>
    <p:sldId id="364" r:id="rId5"/>
    <p:sldId id="365" r:id="rId6"/>
    <p:sldId id="358" r:id="rId7"/>
    <p:sldId id="359" r:id="rId8"/>
    <p:sldId id="360" r:id="rId9"/>
    <p:sldId id="361" r:id="rId10"/>
    <p:sldId id="362" r:id="rId11"/>
    <p:sldId id="363" r:id="rId12"/>
    <p:sldId id="366" r:id="rId13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79" d="100"/>
          <a:sy n="79" d="100"/>
        </p:scale>
        <p:origin x="-96" y="-11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pPr marL="538163" indent="-538163"/>
            <a:r>
              <a:rPr lang="en-GB" dirty="0" smtClean="0"/>
              <a:t>Part 20 - 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20 - Summary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1/26/2026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PIC16F175xx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/>
              <a:t>PIC16175xx  </a:t>
            </a:r>
            <a:r>
              <a:rPr lang="en-GB" dirty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/>
          </a:p>
          <a:p>
            <a:r>
              <a:rPr lang="en-GB" dirty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5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</a:t>
            </a:r>
            <a:r>
              <a:rPr lang="en-GB" sz="1100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Debugging</a:t>
            </a:r>
            <a:endParaRPr lang="en-GB" sz="11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41285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339502"/>
            <a:ext cx="8229601" cy="857250"/>
          </a:xfrm>
        </p:spPr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779912" y="2043487"/>
            <a:ext cx="3960440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chip </a:t>
            </a:r>
            <a:r>
              <a:rPr lang="en-GB" dirty="0" smtClean="0"/>
              <a:t>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14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1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32476" y="1554068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PIC-AS,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580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Capability 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9582"/>
            <a:ext cx="6480720" cy="408391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buNone/>
            </a:pPr>
            <a:endParaRPr lang="en-GB" sz="1800" dirty="0" smtClean="0"/>
          </a:p>
          <a:p>
            <a:pPr marL="457200" indent="-457200">
              <a:buAutoNum type="arabicPeriod"/>
            </a:pPr>
            <a:endParaRPr lang="en-GB" sz="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827584" y="1707655"/>
            <a:ext cx="288032" cy="115212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827584" y="3115948"/>
            <a:ext cx="288032" cy="17588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827585" y="3435847"/>
            <a:ext cx="288032" cy="14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27585" y="3837526"/>
            <a:ext cx="288032" cy="4624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635896" y="1375470"/>
            <a:ext cx="288032" cy="3821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3635896" y="3154975"/>
            <a:ext cx="288032" cy="720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25999" y="2934657"/>
            <a:ext cx="288032" cy="14114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27585" y="3332414"/>
            <a:ext cx="288032" cy="6284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827585" y="3627336"/>
            <a:ext cx="288032" cy="1685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3635896" y="2528802"/>
            <a:ext cx="288032" cy="576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635896" y="3254246"/>
            <a:ext cx="288032" cy="3730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825999" y="1491949"/>
            <a:ext cx="288032" cy="720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3618427" y="4863276"/>
            <a:ext cx="288032" cy="796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933988" y="4791505"/>
            <a:ext cx="12410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 smtClean="0"/>
              <a:t>Supported -  see video</a:t>
            </a:r>
            <a:endParaRPr lang="en-GB" sz="900" dirty="0"/>
          </a:p>
        </p:txBody>
      </p:sp>
      <p:sp>
        <p:nvSpPr>
          <p:cNvPr id="29" name="Rectangle 28"/>
          <p:cNvSpPr/>
          <p:nvPr/>
        </p:nvSpPr>
        <p:spPr>
          <a:xfrm>
            <a:off x="5264551" y="4859460"/>
            <a:ext cx="288032" cy="796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5580112" y="4787689"/>
            <a:ext cx="15840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 smtClean="0"/>
              <a:t>Supported -  see other demos</a:t>
            </a:r>
            <a:endParaRPr lang="en-GB" sz="900" dirty="0"/>
          </a:p>
        </p:txBody>
      </p:sp>
      <p:sp>
        <p:nvSpPr>
          <p:cNvPr id="31" name="Rectangle 30"/>
          <p:cNvSpPr/>
          <p:nvPr/>
        </p:nvSpPr>
        <p:spPr>
          <a:xfrm>
            <a:off x="5264551" y="5014639"/>
            <a:ext cx="288032" cy="797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5580112" y="4939118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 smtClean="0"/>
              <a:t>No examples</a:t>
            </a:r>
            <a:endParaRPr lang="en-GB" sz="9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75606"/>
            <a:ext cx="2341384" cy="309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241" y="1375469"/>
            <a:ext cx="2824652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3635896" y="1788823"/>
            <a:ext cx="288032" cy="6284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3635896" y="1900384"/>
            <a:ext cx="288032" cy="342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/>
          <p:cNvSpPr/>
          <p:nvPr/>
        </p:nvSpPr>
        <p:spPr>
          <a:xfrm>
            <a:off x="3635896" y="2292879"/>
            <a:ext cx="288032" cy="6284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3631719" y="2427734"/>
            <a:ext cx="288032" cy="720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84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Tutorial source code</a:t>
            </a:r>
          </a:p>
          <a:p>
            <a:pPr lvl="1">
              <a:buNone/>
            </a:pPr>
            <a:r>
              <a:rPr lang="en-GB" sz="900" u="sng" dirty="0"/>
              <a:t>https://</a:t>
            </a:r>
            <a:r>
              <a:rPr lang="en-GB" sz="900" u="sng" dirty="0" smtClean="0"/>
              <a:t>github.com/GreatCowBASIC/Demonstration_Sources/tree/main/Vendor_Boards/Great_Cow_Basic_Demo_Board/18Fx6q24_ChipRange_Demonstrations</a:t>
            </a:r>
          </a:p>
          <a:p>
            <a:pPr marL="318988" lvl="1" indent="-318988">
              <a:buFont typeface="Arial" pitchFamily="34" charset="0"/>
              <a:buChar char="•"/>
            </a:pPr>
            <a:r>
              <a:rPr lang="en-GB" sz="3000" dirty="0" smtClean="0"/>
              <a:t>Tutorial presentations</a:t>
            </a:r>
          </a:p>
          <a:p>
            <a:pPr lvl="1">
              <a:buNone/>
            </a:pPr>
            <a:r>
              <a:rPr lang="en-GB" sz="900" u="sng" dirty="0"/>
              <a:t>https://</a:t>
            </a:r>
            <a:r>
              <a:rPr lang="en-GB" sz="900" u="sng" dirty="0" smtClean="0"/>
              <a:t>github.com/GreatCowBASIC/Demonstration_Sources/tree/main/Vendor_Boards/Great_Cow_Basic_Demo_Board/18Fx6q24_ChipRange_Demonstrations/tutorials</a:t>
            </a:r>
            <a:endParaRPr lang="en-GB" sz="900" u="sng" dirty="0"/>
          </a:p>
        </p:txBody>
      </p:sp>
    </p:spTree>
    <p:extLst>
      <p:ext uri="{BB962C8B-B14F-4D97-AF65-F5344CB8AC3E}">
        <p14:creationId xmlns:p14="http://schemas.microsoft.com/office/powerpoint/2010/main" val="397385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9662"/>
            <a:ext cx="6447501" cy="2744167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GCBASIC supports the </a:t>
            </a:r>
            <a:r>
              <a:rPr lang="en-GB" dirty="0" smtClean="0"/>
              <a:t>PIC16F175xx</a:t>
            </a:r>
            <a:endParaRPr lang="en-GB" dirty="0" smtClean="0"/>
          </a:p>
          <a:p>
            <a:endParaRPr lang="en-GB" dirty="0" smtClean="0"/>
          </a:p>
          <a:p>
            <a:pPr lvl="1"/>
            <a:r>
              <a:rPr lang="en-GB" dirty="0" smtClean="0"/>
              <a:t>Digital and </a:t>
            </a:r>
            <a:r>
              <a:rPr lang="en-GB" dirty="0" err="1" smtClean="0"/>
              <a:t>Analog</a:t>
            </a:r>
            <a:r>
              <a:rPr lang="en-GB" dirty="0" smtClean="0"/>
              <a:t> peripherals </a:t>
            </a:r>
          </a:p>
          <a:p>
            <a:pPr lvl="1"/>
            <a:r>
              <a:rPr lang="en-GB" dirty="0" smtClean="0"/>
              <a:t>10-bit </a:t>
            </a:r>
            <a:r>
              <a:rPr lang="en-GB" dirty="0" smtClean="0"/>
              <a:t>ADC</a:t>
            </a:r>
          </a:p>
          <a:p>
            <a:pPr lvl="1"/>
            <a:r>
              <a:rPr lang="en-GB" dirty="0" smtClean="0"/>
              <a:t>Multiple communication interfaces</a:t>
            </a:r>
          </a:p>
          <a:p>
            <a:pPr lvl="2"/>
            <a:r>
              <a:rPr lang="en-GB" dirty="0" smtClean="0"/>
              <a:t>Serial, I2C, SPI</a:t>
            </a:r>
          </a:p>
          <a:p>
            <a:pPr lvl="1"/>
            <a:r>
              <a:rPr lang="en-GB" dirty="0" smtClean="0"/>
              <a:t>PWM – CCP/PWM and 16Bit</a:t>
            </a:r>
          </a:p>
          <a:p>
            <a:pPr lvl="1"/>
            <a:r>
              <a:rPr lang="en-GB" dirty="0" smtClean="0"/>
              <a:t>Configurable Logic Cells</a:t>
            </a:r>
          </a:p>
          <a:p>
            <a:endParaRPr lang="en-GB" dirty="0" smtClean="0"/>
          </a:p>
          <a:p>
            <a:r>
              <a:rPr lang="en-GB" dirty="0" smtClean="0"/>
              <a:t>GCBASIC supports multiple 32/64 bit operating  systems and integrates with MPLAB-X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55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pPr marL="538163" indent="-538163"/>
            <a:r>
              <a:rPr lang="en-GB" dirty="0" smtClean="0"/>
              <a:t>Part 20 - 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6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15242</TotalTime>
  <Words>462</Words>
  <Application>Microsoft Office PowerPoint</Application>
  <PresentationFormat>On-screen Show (16:9)</PresentationFormat>
  <Paragraphs>114</Paragraphs>
  <Slides>12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The core compiler</vt:lpstr>
      <vt:lpstr>Compiler options</vt:lpstr>
      <vt:lpstr>Capability Review</vt:lpstr>
      <vt:lpstr>Resources</vt:lpstr>
      <vt:lpstr>Summary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790</cp:revision>
  <dcterms:created xsi:type="dcterms:W3CDTF">2019-01-08T20:03:06Z</dcterms:created>
  <dcterms:modified xsi:type="dcterms:W3CDTF">2026-01-26T17:44:14Z</dcterms:modified>
</cp:coreProperties>
</file>