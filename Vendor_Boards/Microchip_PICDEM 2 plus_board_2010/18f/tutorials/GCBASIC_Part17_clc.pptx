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handoutMasterIdLst>
    <p:handoutMasterId r:id="rId18"/>
  </p:handoutMasterIdLst>
  <p:sldIdLst>
    <p:sldId id="364" r:id="rId2"/>
    <p:sldId id="365" r:id="rId3"/>
    <p:sldId id="359" r:id="rId4"/>
    <p:sldId id="360" r:id="rId5"/>
    <p:sldId id="361" r:id="rId6"/>
    <p:sldId id="362" r:id="rId7"/>
    <p:sldId id="363" r:id="rId8"/>
    <p:sldId id="354" r:id="rId9"/>
    <p:sldId id="355" r:id="rId10"/>
    <p:sldId id="356" r:id="rId11"/>
    <p:sldId id="357" r:id="rId12"/>
    <p:sldId id="358" r:id="rId13"/>
    <p:sldId id="288" r:id="rId14"/>
    <p:sldId id="353" r:id="rId15"/>
    <p:sldId id="352" r:id="rId16"/>
  </p:sldIdLst>
  <p:sldSz cx="9144000" cy="5143500" type="screen16x9"/>
  <p:notesSz cx="6858000" cy="9144000"/>
  <p:defaultTextStyle>
    <a:defPPr>
      <a:defRPr lang="en-US"/>
    </a:defPPr>
    <a:lvl1pPr marL="0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4C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4660"/>
  </p:normalViewPr>
  <p:slideViewPr>
    <p:cSldViewPr>
      <p:cViewPr>
        <p:scale>
          <a:sx n="164" d="100"/>
          <a:sy n="164" d="100"/>
        </p:scale>
        <p:origin x="-120" y="-15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7" d="100"/>
          <a:sy n="97" d="100"/>
        </p:scale>
        <p:origin x="-3582" y="-11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E545A-AB39-44F0-B5A6-04A90C6C9399}" type="datetimeFigureOut">
              <a:rPr lang="en-GB" smtClean="0"/>
              <a:pPr/>
              <a:t>19/08/2026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131C5-F37A-4CF6-BFE3-A572240BD62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0428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100B3C-2E11-428B-8555-A77018253716}" type="datetimeFigureOut">
              <a:rPr lang="en-GB" smtClean="0"/>
              <a:pPr/>
              <a:t>19/08/2026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3471A-AA0F-4CD3-BA89-C1C7FB68C6D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1865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C757326-0232-4CDF-81FF-302CA676961B}"/>
              </a:ext>
            </a:extLst>
          </p:cNvPr>
          <p:cNvSpPr/>
          <p:nvPr/>
        </p:nvSpPr>
        <p:spPr>
          <a:xfrm>
            <a:off x="1" y="0"/>
            <a:ext cx="9143999" cy="5143500"/>
          </a:xfrm>
          <a:prstGeom prst="rect">
            <a:avLst/>
          </a:prstGeom>
          <a:solidFill>
            <a:srgbClr val="0A0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4987E008-68E6-4A43-85BC-1A6ACDF91D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A1F8C892-C868-4DF6-91AB-B18CE632B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3000"/>
            <a:ext cx="4900613" cy="2857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44618" y="1406112"/>
            <a:ext cx="3342860" cy="1369936"/>
          </a:xfrm>
        </p:spPr>
        <p:txBody>
          <a:bodyPr anchor="b">
            <a:normAutofit/>
          </a:bodyPr>
          <a:lstStyle>
            <a:lvl1pPr algn="l">
              <a:defRPr sz="4100" b="0" cap="none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App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144617" y="2776047"/>
            <a:ext cx="334286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bg1">
                    <a:lumMod val="6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xmlns="" id="{D547E580-E6D6-4D97-BB04-05795A83014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374553" y="158920"/>
            <a:ext cx="1677709" cy="323789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accent1"/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web page</a:t>
            </a:r>
          </a:p>
        </p:txBody>
      </p:sp>
    </p:spTree>
    <p:extLst>
      <p:ext uri="{BB962C8B-B14F-4D97-AF65-F5344CB8AC3E}">
        <p14:creationId xmlns:p14="http://schemas.microsoft.com/office/powerpoint/2010/main" val="3656688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5B5B8CA2-02D4-408C-B548-182D4F5F5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483518"/>
            <a:ext cx="5400600" cy="990600"/>
          </a:xfrm>
        </p:spPr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786855"/>
            <a:ext cx="6447501" cy="274416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19/08/2026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9200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2" y="-6350"/>
            <a:ext cx="9209330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75495" y="1803400"/>
            <a:ext cx="4124707" cy="1234727"/>
          </a:xfrm>
        </p:spPr>
        <p:txBody>
          <a:bodyPr anchor="b">
            <a:noAutofit/>
          </a:bodyPr>
          <a:lstStyle>
            <a:lvl1pPr algn="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75494" y="3038125"/>
            <a:ext cx="4124707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19/08/2026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0491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493" y="1803400"/>
            <a:ext cx="6134709" cy="1234727"/>
          </a:xfrm>
        </p:spPr>
        <p:txBody>
          <a:bodyPr anchor="b">
            <a:noAutofit/>
          </a:bodyPr>
          <a:lstStyle>
            <a:lvl1pPr algn="ct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492" y="3038125"/>
            <a:ext cx="6134709" cy="822674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19/08/2026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17767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19/08/2026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6331EFED-43C1-4CBA-8BE3-308E3AA13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314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19/08/2026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034EA63-4BE3-4A73-A7E6-4A75BE4C1D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64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204DC1E6-B5F4-4160-90F3-351FB3242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4639034" cy="9906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19/08/2026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5165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7897C67-3827-4595-8E3A-71E9F2EAB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457200"/>
            <a:ext cx="4624895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19/08/2026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4849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19/08/2026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F1825398-026A-4668-BB48-C16AD1C906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172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7CE2C968-D10A-4226-8FDC-CBC4C7EDD0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8897" y="495300"/>
            <a:ext cx="3385156" cy="40357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100"/>
            </a:lvl1pPr>
            <a:lvl2pPr marL="342797" indent="0">
              <a:buNone/>
              <a:defRPr sz="1100"/>
            </a:lvl2pPr>
            <a:lvl3pPr marL="685595" indent="0">
              <a:buNone/>
              <a:defRPr sz="900"/>
            </a:lvl3pPr>
            <a:lvl4pPr marL="1028392" indent="0">
              <a:buNone/>
              <a:defRPr sz="800"/>
            </a:lvl4pPr>
            <a:lvl5pPr marL="1371188" indent="0">
              <a:buNone/>
              <a:defRPr sz="800"/>
            </a:lvl5pPr>
            <a:lvl6pPr marL="1713986" indent="0">
              <a:buNone/>
              <a:defRPr sz="800"/>
            </a:lvl6pPr>
            <a:lvl7pPr marL="2056783" indent="0">
              <a:buNone/>
              <a:defRPr sz="800"/>
            </a:lvl7pPr>
            <a:lvl8pPr marL="2399580" indent="0">
              <a:buNone/>
              <a:defRPr sz="800"/>
            </a:lvl8pPr>
            <a:lvl9pPr marL="2742377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19/08/2026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9860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6AB5D66D-00C1-40EA-BFC8-305566F103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706966"/>
            <a:ext cx="6447501" cy="2893484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19/08/2026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5029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19/08/2026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AD4D4CB4-D965-4BB6-B218-086244C13B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625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19/08/2026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A3B58C4E-0EF0-466C-9740-EC9F485CBD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487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19/08/2026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2D0B9223-1250-44AA-A6C3-F2013B85A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894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19/08/2026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D49E1C7C-7E53-49A2-B2C9-52307876DB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5291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19/08/2026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23082AB0-2BB5-46FE-9A17-15E1ACC069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026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1862E859-E5AF-4D76-9FC9-2355B24FF1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5402469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19/08/2026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56703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91908D0E-7544-4687-965B-72EF64AA4C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934278"/>
            <a:ext cx="978557" cy="3461510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19/08/2026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6687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3AACB-D821-4991-9D88-46EB8D29E619}" type="datetimeFigureOut">
              <a:rPr lang="en-GB" smtClean="0"/>
              <a:pPr/>
              <a:t>19/08/2026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443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icrochip.com/en-us/tools-resources/configure/mplab-code-configurator#download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GB" sz="1400" dirty="0" smtClean="0"/>
              <a:t>PIC18FxxQ35chip Family</a:t>
            </a:r>
          </a:p>
          <a:p>
            <a:r>
              <a:rPr lang="en-GB" sz="1400" dirty="0"/>
              <a:t>Part </a:t>
            </a:r>
            <a:r>
              <a:rPr lang="en-GB" sz="1400" dirty="0" smtClean="0"/>
              <a:t>17 – Using CLC</a:t>
            </a:r>
            <a:endParaRPr lang="en-GB" sz="1400" dirty="0"/>
          </a:p>
          <a:p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217888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Text Placeholder 4"/>
          <p:cNvSpPr txBox="1">
            <a:spLocks/>
          </p:cNvSpPr>
          <p:nvPr/>
        </p:nvSpPr>
        <p:spPr>
          <a:xfrm>
            <a:off x="3995936" y="3291830"/>
            <a:ext cx="3342861" cy="645300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marL="0" indent="0" algn="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dirty="0" smtClean="0"/>
              <a:t>PIC18FxxQ35chip Family</a:t>
            </a:r>
          </a:p>
          <a:p>
            <a:pPr algn="l"/>
            <a:r>
              <a:rPr lang="en-GB" dirty="0"/>
              <a:t>Part 17 – Using CLC</a:t>
            </a:r>
          </a:p>
        </p:txBody>
      </p:sp>
    </p:spTree>
    <p:extLst>
      <p:ext uri="{BB962C8B-B14F-4D97-AF65-F5344CB8AC3E}">
        <p14:creationId xmlns:p14="http://schemas.microsoft.com/office/powerpoint/2010/main" val="696662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15141" y="79363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539552" y="2067694"/>
            <a:ext cx="7367888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Like and subscribe!</a:t>
            </a:r>
          </a:p>
        </p:txBody>
      </p:sp>
      <p:pic>
        <p:nvPicPr>
          <p:cNvPr id="2050" name="Picture 2" descr="PIC18F46Q35-NHX-Regula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795886"/>
            <a:ext cx="1280591" cy="1128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4" descr="PIC18F46Q35-S2X-Regular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" name="AutoShape 6" descr="PIC18F46Q35-S2X-Regular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2056" name="Picture 8" descr="PIC18F46Q35-S2X-Regula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316" y="3540195"/>
            <a:ext cx="2692623" cy="1256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0062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PIC18FxxQ35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 smtClean="0"/>
              <a:t>PIC18FxxQ35  is a high performance PIC18</a:t>
            </a:r>
          </a:p>
          <a:p>
            <a:pPr lvl="1"/>
            <a:r>
              <a:rPr lang="en-GB" b="1" dirty="0"/>
              <a:t>Digital and </a:t>
            </a:r>
            <a:r>
              <a:rPr lang="en-GB" b="1" dirty="0" err="1"/>
              <a:t>analog</a:t>
            </a:r>
            <a:r>
              <a:rPr lang="en-GB" b="1" dirty="0"/>
              <a:t> peripherals</a:t>
            </a:r>
            <a:r>
              <a:rPr lang="en-GB" dirty="0"/>
              <a:t> for flexible embedded control</a:t>
            </a:r>
          </a:p>
          <a:p>
            <a:pPr lvl="1"/>
            <a:r>
              <a:rPr lang="en-GB" b="1" dirty="0"/>
              <a:t>10-bit ADC</a:t>
            </a:r>
            <a:r>
              <a:rPr lang="en-GB" dirty="0"/>
              <a:t> for accurate </a:t>
            </a:r>
            <a:r>
              <a:rPr lang="en-GB" dirty="0" err="1"/>
              <a:t>analog</a:t>
            </a:r>
            <a:r>
              <a:rPr lang="en-GB" dirty="0"/>
              <a:t> signal conversion</a:t>
            </a:r>
          </a:p>
          <a:p>
            <a:pPr lvl="1"/>
            <a:r>
              <a:rPr lang="en-GB" b="1" dirty="0"/>
              <a:t>Multiple communication interfaces</a:t>
            </a:r>
            <a:r>
              <a:rPr lang="en-GB" dirty="0"/>
              <a:t> including UART (serial), I²C, and SPI</a:t>
            </a:r>
          </a:p>
          <a:p>
            <a:pPr lvl="1"/>
            <a:r>
              <a:rPr lang="en-GB" b="1" dirty="0"/>
              <a:t>PWM modules</a:t>
            </a:r>
            <a:r>
              <a:rPr lang="en-GB" dirty="0"/>
              <a:t> with CCP and 16-bit resolution for precise timing and motor control</a:t>
            </a:r>
          </a:p>
          <a:p>
            <a:pPr lvl="1"/>
            <a:r>
              <a:rPr lang="en-GB" b="1" dirty="0"/>
              <a:t>Configurable Logic Cells (CLCs)</a:t>
            </a:r>
            <a:r>
              <a:rPr lang="en-GB" dirty="0"/>
              <a:t> for custom hardware-level logic without external components</a:t>
            </a:r>
          </a:p>
          <a:p>
            <a:pPr lvl="1"/>
            <a:r>
              <a:rPr lang="en-GB" b="1" dirty="0"/>
              <a:t>Integrated op amps</a:t>
            </a:r>
            <a:r>
              <a:rPr lang="en-GB" dirty="0"/>
              <a:t> for </a:t>
            </a:r>
            <a:r>
              <a:rPr lang="en-GB" dirty="0" err="1"/>
              <a:t>onboard</a:t>
            </a:r>
            <a:r>
              <a:rPr lang="en-GB" dirty="0"/>
              <a:t> </a:t>
            </a:r>
            <a:r>
              <a:rPr lang="en-GB" dirty="0" err="1"/>
              <a:t>analog</a:t>
            </a:r>
            <a:r>
              <a:rPr lang="en-GB" dirty="0"/>
              <a:t> signal conditioning and amplification</a:t>
            </a:r>
          </a:p>
          <a:p>
            <a:endParaRPr lang="en-GB" dirty="0" smtClean="0"/>
          </a:p>
          <a:p>
            <a:r>
              <a:rPr lang="en-GB" dirty="0" smtClean="0"/>
              <a:t>The PIC18FxxQ35 offers 28, 40 and 44-pin products in small footprint packages to support customers in a wide variety of applications. 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0018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</a:t>
            </a:r>
            <a:r>
              <a:rPr lang="en-GB" sz="1100" dirty="0" smtClean="0"/>
              <a:t>– make LEDs work</a:t>
            </a:r>
            <a:endParaRPr lang="en-GB" sz="11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timer0 overflow, 8bit timer, 16bit timer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</a:t>
            </a:r>
            <a:r>
              <a:rPr lang="en-GB" sz="1100" dirty="0" err="1"/>
              <a:t>EEProm</a:t>
            </a:r>
            <a:r>
              <a:rPr lang="en-GB" sz="1100" dirty="0"/>
              <a:t>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I2C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SPI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</a:t>
            </a:r>
            <a:r>
              <a:rPr lang="en-GB" sz="1100" dirty="0" smtClean="0"/>
              <a:t>many  </a:t>
            </a:r>
            <a:r>
              <a:rPr lang="en-GB" sz="1100" dirty="0"/>
              <a:t>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Millis and Interrupts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 smtClean="0"/>
              <a:t>Using </a:t>
            </a:r>
            <a:r>
              <a:rPr lang="en-GB" sz="1100" dirty="0"/>
              <a:t>storage within the chip – </a:t>
            </a:r>
            <a:r>
              <a:rPr lang="en-GB" sz="1100" dirty="0" err="1"/>
              <a:t>Progmem</a:t>
            </a:r>
            <a:r>
              <a:rPr lang="en-GB" sz="1100" dirty="0"/>
              <a:t>, SAF memory, EEPROM and DATA blocks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3494554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1835697" y="1707656"/>
            <a:ext cx="1605103" cy="14252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100" dirty="0" smtClean="0"/>
              <a:t>GCBASIC </a:t>
            </a:r>
            <a:r>
              <a:rPr lang="en-GB" sz="1500" dirty="0" smtClean="0"/>
              <a:t>Compiler</a:t>
            </a:r>
            <a:endParaRPr lang="en-GB" sz="1100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GCBASIC Compiler</a:t>
            </a:r>
            <a:endParaRPr lang="en-GB" dirty="0"/>
          </a:p>
        </p:txBody>
      </p:sp>
      <p:sp>
        <p:nvSpPr>
          <p:cNvPr id="13" name="TextBox 12"/>
          <p:cNvSpPr txBox="1"/>
          <p:nvPr/>
        </p:nvSpPr>
        <p:spPr>
          <a:xfrm>
            <a:off x="3563888" y="2643758"/>
            <a:ext cx="4176464" cy="2178773"/>
          </a:xfrm>
          <a:prstGeom prst="rect">
            <a:avLst/>
          </a:prstGeom>
          <a:noFill/>
        </p:spPr>
        <p:txBody>
          <a:bodyPr wrap="square" lIns="85064" tIns="42531" rIns="85064" bIns="42531" rtlCol="0">
            <a:spAutoFit/>
          </a:bodyPr>
          <a:lstStyle/>
          <a:p>
            <a:r>
              <a:rPr lang="en-GB" dirty="0" smtClean="0"/>
              <a:t>GCBASIC is an Open Source compiler for PIC, AVR and LGT microcontrollers</a:t>
            </a:r>
          </a:p>
          <a:p>
            <a:endParaRPr lang="en-GB" dirty="0" smtClean="0"/>
          </a:p>
          <a:p>
            <a:r>
              <a:rPr lang="en-GB" dirty="0" smtClean="0"/>
              <a:t>GCBASIC now supports the 18FxxQ35 chip family </a:t>
            </a:r>
          </a:p>
          <a:p>
            <a:endParaRPr lang="en-GB" dirty="0"/>
          </a:p>
          <a:p>
            <a:r>
              <a:rPr lang="en-GB" dirty="0"/>
              <a:t>GCBASIC now </a:t>
            </a:r>
            <a:r>
              <a:rPr lang="en-GB" dirty="0" smtClean="0"/>
              <a:t>supports 1400+ microcontrollers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16824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8" t="6534" r="2270" b="5416"/>
          <a:stretch/>
        </p:blipFill>
        <p:spPr bwMode="auto">
          <a:xfrm>
            <a:off x="251518" y="1026170"/>
            <a:ext cx="4635501" cy="400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0" y="103003"/>
            <a:ext cx="6367321" cy="884571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 anchor="t">
            <a:normAutofit lnSpcReduction="10000"/>
          </a:bodyPr>
          <a:lstStyle/>
          <a:p>
            <a:pPr defTabSz="342900">
              <a:spcBef>
                <a:spcPct val="0"/>
              </a:spcBef>
            </a:pPr>
            <a:r>
              <a:rPr lang="en-GB" sz="27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PICDEM 2 Plus </a:t>
            </a: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Demonstration</a:t>
            </a:r>
          </a:p>
          <a:p>
            <a:pPr defTabSz="342900">
              <a:spcBef>
                <a:spcPct val="0"/>
              </a:spcBef>
            </a:pP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Board </a:t>
            </a:r>
            <a:endParaRPr lang="en-GB" sz="27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04048" y="75944"/>
            <a:ext cx="3995936" cy="455509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GB" sz="1000" dirty="0" smtClean="0">
                <a:solidFill>
                  <a:srgbClr val="FF0000"/>
                </a:solidFill>
              </a:rPr>
              <a:t>1</a:t>
            </a:r>
            <a:r>
              <a:rPr lang="en-GB" sz="1000" dirty="0">
                <a:solidFill>
                  <a:srgbClr val="FF0000"/>
                </a:solidFill>
              </a:rPr>
              <a:t>. 18-, 28- and 40-pin DIP sockets</a:t>
            </a:r>
          </a:p>
          <a:p>
            <a:r>
              <a:rPr lang="en-GB" sz="1000" dirty="0">
                <a:solidFill>
                  <a:srgbClr val="FF0000"/>
                </a:solidFill>
              </a:rPr>
              <a:t>(although three sockets are provided, only one device may be used at a time)</a:t>
            </a:r>
          </a:p>
          <a:p>
            <a:r>
              <a:rPr lang="en-GB" sz="1000" dirty="0">
                <a:solidFill>
                  <a:srgbClr val="FF0000"/>
                </a:solidFill>
              </a:rPr>
              <a:t>2. On-board, +5V regulator for direct input from 9V, 100 mA AC/DC wall adapter </a:t>
            </a:r>
            <a:r>
              <a:rPr lang="en-GB" sz="1000" dirty="0" smtClean="0">
                <a:solidFill>
                  <a:srgbClr val="FF0000"/>
                </a:solidFill>
              </a:rPr>
              <a:t>or 9V </a:t>
            </a:r>
            <a:r>
              <a:rPr lang="en-GB" sz="1000" dirty="0">
                <a:solidFill>
                  <a:srgbClr val="FF0000"/>
                </a:solidFill>
              </a:rPr>
              <a:t>battery, or hooks for a +5V, 100 mA regulated DC supply</a:t>
            </a:r>
          </a:p>
          <a:p>
            <a:r>
              <a:rPr lang="en-GB" sz="1000" u="sng" dirty="0">
                <a:solidFill>
                  <a:srgbClr val="FF0000"/>
                </a:solidFill>
              </a:rPr>
              <a:t>3. </a:t>
            </a:r>
            <a:r>
              <a:rPr lang="en-GB" sz="1000" dirty="0">
                <a:solidFill>
                  <a:srgbClr val="FF0000"/>
                </a:solidFill>
              </a:rPr>
              <a:t>RS-232 socket and associated hardware for direct connection to an </a:t>
            </a:r>
            <a:r>
              <a:rPr lang="en-GB" sz="1000" dirty="0" smtClean="0">
                <a:solidFill>
                  <a:srgbClr val="FF0000"/>
                </a:solidFill>
              </a:rPr>
              <a:t>RS-232 interface</a:t>
            </a:r>
            <a:endParaRPr lang="en-GB" sz="1000" dirty="0">
              <a:solidFill>
                <a:srgbClr val="FF0000"/>
              </a:solidFill>
            </a:endParaRPr>
          </a:p>
          <a:p>
            <a:r>
              <a:rPr lang="en-GB" sz="1000" dirty="0">
                <a:solidFill>
                  <a:srgbClr val="FF0000"/>
                </a:solidFill>
              </a:rPr>
              <a:t>4. Programmer/debugger connectivity supporting MPLAB® ICD 3, MPLAB </a:t>
            </a:r>
            <a:r>
              <a:rPr lang="en-GB" sz="1000" dirty="0" smtClean="0">
                <a:solidFill>
                  <a:srgbClr val="FF0000"/>
                </a:solidFill>
              </a:rPr>
              <a:t>REAL ICE </a:t>
            </a:r>
            <a:r>
              <a:rPr lang="en-GB" sz="1000" dirty="0">
                <a:solidFill>
                  <a:srgbClr val="FF0000"/>
                </a:solidFill>
              </a:rPr>
              <a:t>and </a:t>
            </a:r>
            <a:r>
              <a:rPr lang="en-GB" sz="1000" dirty="0" err="1" smtClean="0">
                <a:solidFill>
                  <a:srgbClr val="FF0000"/>
                </a:solidFill>
              </a:rPr>
              <a:t>PICkitPlus</a:t>
            </a:r>
            <a:endParaRPr lang="en-GB" sz="1000" dirty="0">
              <a:solidFill>
                <a:srgbClr val="FF0000"/>
              </a:solidFill>
            </a:endParaRPr>
          </a:p>
          <a:p>
            <a:r>
              <a:rPr lang="en-GB" sz="1000" dirty="0">
                <a:solidFill>
                  <a:srgbClr val="FF0000"/>
                </a:solidFill>
              </a:rPr>
              <a:t>5. </a:t>
            </a:r>
            <a:r>
              <a:rPr lang="en-GB" sz="1000" dirty="0" err="1">
                <a:solidFill>
                  <a:srgbClr val="FF0000"/>
                </a:solidFill>
              </a:rPr>
              <a:t>PICkit</a:t>
            </a:r>
            <a:r>
              <a:rPr lang="en-GB" sz="1000" dirty="0">
                <a:solidFill>
                  <a:srgbClr val="FF0000"/>
                </a:solidFill>
              </a:rPr>
              <a:t> Serial Connector for analysis of serial communications peripherals </a:t>
            </a:r>
            <a:r>
              <a:rPr lang="en-GB" sz="1000" dirty="0" smtClean="0">
                <a:solidFill>
                  <a:srgbClr val="FF0000"/>
                </a:solidFill>
              </a:rPr>
              <a:t>such as </a:t>
            </a:r>
            <a:r>
              <a:rPr lang="en-GB" sz="1000" dirty="0">
                <a:solidFill>
                  <a:srgbClr val="FF0000"/>
                </a:solidFill>
              </a:rPr>
              <a:t>SPI or I2C™</a:t>
            </a:r>
          </a:p>
          <a:p>
            <a:r>
              <a:rPr lang="en-GB" sz="1000" u="sng" dirty="0">
                <a:solidFill>
                  <a:srgbClr val="FF0000"/>
                </a:solidFill>
              </a:rPr>
              <a:t>6. </a:t>
            </a:r>
            <a:r>
              <a:rPr lang="en-GB" sz="1000" dirty="0">
                <a:solidFill>
                  <a:srgbClr val="FF0000"/>
                </a:solidFill>
              </a:rPr>
              <a:t>5 </a:t>
            </a:r>
            <a:r>
              <a:rPr lang="en-GB" sz="1000" dirty="0" smtClean="0">
                <a:solidFill>
                  <a:srgbClr val="FF0000"/>
                </a:solidFill>
              </a:rPr>
              <a:t>k </a:t>
            </a:r>
            <a:r>
              <a:rPr lang="en-GB" sz="1000" dirty="0">
                <a:solidFill>
                  <a:srgbClr val="FF0000"/>
                </a:solidFill>
              </a:rPr>
              <a:t>pot for devices with </a:t>
            </a:r>
            <a:r>
              <a:rPr lang="en-GB" sz="1000" dirty="0" err="1">
                <a:solidFill>
                  <a:srgbClr val="FF0000"/>
                </a:solidFill>
              </a:rPr>
              <a:t>analog</a:t>
            </a:r>
            <a:r>
              <a:rPr lang="en-GB" sz="1000" dirty="0">
                <a:solidFill>
                  <a:srgbClr val="FF0000"/>
                </a:solidFill>
              </a:rPr>
              <a:t> inputs</a:t>
            </a:r>
          </a:p>
          <a:p>
            <a:r>
              <a:rPr lang="en-GB" sz="1000" dirty="0">
                <a:solidFill>
                  <a:srgbClr val="FF0000"/>
                </a:solidFill>
              </a:rPr>
              <a:t>7. Three push button switches for external stimulus and Reset</a:t>
            </a:r>
          </a:p>
          <a:p>
            <a:r>
              <a:rPr lang="en-GB" sz="1000" dirty="0"/>
              <a:t>8. </a:t>
            </a:r>
            <a:r>
              <a:rPr lang="en-GB" sz="1000" dirty="0">
                <a:solidFill>
                  <a:srgbClr val="FF0000"/>
                </a:solidFill>
              </a:rPr>
              <a:t>Power-on indicator LED</a:t>
            </a:r>
          </a:p>
          <a:p>
            <a:r>
              <a:rPr lang="en-GB" sz="1000" dirty="0">
                <a:solidFill>
                  <a:srgbClr val="FF0000"/>
                </a:solidFill>
              </a:rPr>
              <a:t>9. Four LEDs connected to PORTB</a:t>
            </a:r>
          </a:p>
          <a:p>
            <a:r>
              <a:rPr lang="en-GB" sz="1000" dirty="0"/>
              <a:t>10. On-board external oscillators including:</a:t>
            </a:r>
          </a:p>
          <a:p>
            <a:r>
              <a:rPr lang="en-GB" sz="1000" dirty="0"/>
              <a:t>a) Unpopulated DIP socket for canned crystal oscillator (Y2)</a:t>
            </a:r>
          </a:p>
          <a:p>
            <a:r>
              <a:rPr lang="en-GB" sz="1000" dirty="0"/>
              <a:t>b) RC oscillator circuit (R4, C3)</a:t>
            </a:r>
          </a:p>
          <a:p>
            <a:r>
              <a:rPr lang="en-GB" sz="1000" dirty="0"/>
              <a:t>c) Unpopulated holes for crystal connection (Y1)</a:t>
            </a:r>
          </a:p>
          <a:p>
            <a:r>
              <a:rPr lang="en-GB" sz="1000" dirty="0"/>
              <a:t>d) 32.768 kHz crystal for Timer1 clock operation (Y3)</a:t>
            </a:r>
            <a:br>
              <a:rPr lang="en-GB" sz="1000" dirty="0"/>
            </a:br>
            <a:r>
              <a:rPr lang="en-GB" sz="1000" b="1" dirty="0">
                <a:solidFill>
                  <a:srgbClr val="FF0000"/>
                </a:solidFill>
              </a:rPr>
              <a:t>11. 32K x 8 Serial EEPROM</a:t>
            </a:r>
          </a:p>
          <a:p>
            <a:r>
              <a:rPr lang="en-GB" sz="1000" dirty="0">
                <a:solidFill>
                  <a:srgbClr val="FF0000"/>
                </a:solidFill>
              </a:rPr>
              <a:t>12. LCD display</a:t>
            </a:r>
          </a:p>
          <a:p>
            <a:r>
              <a:rPr lang="en-GB" sz="1000" dirty="0"/>
              <a:t>13. </a:t>
            </a:r>
            <a:r>
              <a:rPr lang="en-GB" sz="1000" dirty="0" err="1"/>
              <a:t>Piezo</a:t>
            </a:r>
            <a:r>
              <a:rPr lang="en-GB" sz="1000" dirty="0"/>
              <a:t> buzzer</a:t>
            </a:r>
          </a:p>
          <a:p>
            <a:r>
              <a:rPr lang="en-GB" sz="1000" dirty="0"/>
              <a:t>14. Prototype area for user hardware</a:t>
            </a:r>
          </a:p>
          <a:p>
            <a:r>
              <a:rPr lang="en-GB" sz="1000" dirty="0"/>
              <a:t>15. Expansion Header for </a:t>
            </a:r>
            <a:r>
              <a:rPr lang="en-GB" sz="1000" dirty="0" err="1"/>
              <a:t>PICtail</a:t>
            </a:r>
            <a:r>
              <a:rPr lang="en-GB" sz="1000" dirty="0"/>
              <a:t>™ daughter card connectivity or user access </a:t>
            </a:r>
            <a:r>
              <a:rPr lang="en-GB" sz="1000" dirty="0" smtClean="0"/>
              <a:t>to MCU </a:t>
            </a:r>
            <a:r>
              <a:rPr lang="en-GB" sz="1000" dirty="0"/>
              <a:t>pins</a:t>
            </a:r>
          </a:p>
          <a:p>
            <a:r>
              <a:rPr lang="en-GB" sz="1000" b="1" u="sng" dirty="0">
                <a:solidFill>
                  <a:srgbClr val="FF0000"/>
                </a:solidFill>
              </a:rPr>
              <a:t>16. Microchip TC74 thermal </a:t>
            </a:r>
            <a:r>
              <a:rPr lang="en-GB" sz="1000" b="1" u="sng" dirty="0" smtClean="0">
                <a:solidFill>
                  <a:srgbClr val="FF0000"/>
                </a:solidFill>
              </a:rPr>
              <a:t>sensor</a:t>
            </a:r>
            <a:br>
              <a:rPr lang="en-GB" sz="1000" b="1" u="sng" dirty="0" smtClean="0">
                <a:solidFill>
                  <a:srgbClr val="FF0000"/>
                </a:solidFill>
              </a:rPr>
            </a:br>
            <a:endParaRPr lang="en-GB" sz="1000" b="1" u="sng" dirty="0" smtClean="0">
              <a:solidFill>
                <a:srgbClr val="FF0000"/>
              </a:solidFill>
            </a:endParaRPr>
          </a:p>
          <a:p>
            <a:r>
              <a:rPr lang="en-GB" sz="1000" b="1" u="sng" dirty="0" smtClean="0">
                <a:solidFill>
                  <a:srgbClr val="FF0000"/>
                </a:solidFill>
              </a:rPr>
              <a:t>Plus SPI GLCD</a:t>
            </a:r>
            <a:endParaRPr lang="en-GB" sz="1000" b="1" u="sng" dirty="0">
              <a:solidFill>
                <a:srgbClr val="FF0000"/>
              </a:solidFill>
            </a:endParaRPr>
          </a:p>
        </p:txBody>
      </p:sp>
      <p:sp>
        <p:nvSpPr>
          <p:cNvPr id="2" name="Oval 1"/>
          <p:cNvSpPr/>
          <p:nvPr/>
        </p:nvSpPr>
        <p:spPr>
          <a:xfrm>
            <a:off x="1441760" y="2445270"/>
            <a:ext cx="216024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323528" y="2565676"/>
            <a:ext cx="216024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50" b="1" dirty="0" smtClean="0">
                <a:solidFill>
                  <a:srgbClr val="FF0000"/>
                </a:solidFill>
              </a:rPr>
              <a:t>3A</a:t>
            </a:r>
            <a:endParaRPr lang="en-GB" sz="1050" b="1" dirty="0">
              <a:solidFill>
                <a:srgbClr val="FF0000"/>
              </a:solidFill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539552" y="2589286"/>
            <a:ext cx="902208" cy="120406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2664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ctr">
            <a:normAutofit/>
          </a:bodyPr>
          <a:lstStyle/>
          <a:p>
            <a:pPr algn="l"/>
            <a:r>
              <a:rPr lang="en-GB" dirty="0" smtClean="0"/>
              <a:t>CLC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b="1" dirty="0"/>
              <a:t>CLC </a:t>
            </a:r>
            <a:r>
              <a:rPr lang="en-GB" sz="2000" b="1" dirty="0" smtClean="0"/>
              <a:t>Functionality</a:t>
            </a:r>
            <a:endParaRPr lang="en-GB" sz="2000" dirty="0"/>
          </a:p>
          <a:p>
            <a:pPr lvl="1"/>
            <a:r>
              <a:rPr lang="en-GB" sz="1600" dirty="0" smtClean="0"/>
              <a:t>The </a:t>
            </a:r>
            <a:r>
              <a:rPr lang="en-GB" sz="1600" dirty="0"/>
              <a:t>CLC module allows users to implement custom logic functions directly in hardware, providing flexibility without CPU </a:t>
            </a:r>
            <a:r>
              <a:rPr lang="en-GB" sz="1600" dirty="0" smtClean="0"/>
              <a:t>intervention</a:t>
            </a:r>
          </a:p>
          <a:p>
            <a:pPr lvl="1"/>
            <a:endParaRPr lang="en-GB" sz="1600" dirty="0"/>
          </a:p>
          <a:p>
            <a:r>
              <a:rPr lang="en-GB" sz="2000" b="1" dirty="0" smtClean="0"/>
              <a:t>Purpose</a:t>
            </a:r>
            <a:endParaRPr lang="en-GB" sz="2000" dirty="0"/>
          </a:p>
          <a:p>
            <a:pPr lvl="1"/>
            <a:r>
              <a:rPr lang="en-GB" sz="1600" dirty="0" smtClean="0"/>
              <a:t>It </a:t>
            </a:r>
            <a:r>
              <a:rPr lang="en-GB" sz="1600" dirty="0"/>
              <a:t>can be used to create complex logic functions with simple </a:t>
            </a:r>
            <a:r>
              <a:rPr lang="en-GB" sz="1600" dirty="0" smtClean="0"/>
              <a:t>configurations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4093815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ctr">
            <a:normAutofit/>
          </a:bodyPr>
          <a:lstStyle/>
          <a:p>
            <a:pPr algn="l"/>
            <a:r>
              <a:rPr lang="en-GB" dirty="0" smtClean="0"/>
              <a:t>CLC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sz="2000" b="1" dirty="0"/>
              <a:t>Key </a:t>
            </a:r>
            <a:r>
              <a:rPr lang="en-GB" sz="2000" b="1" dirty="0" smtClean="0"/>
              <a:t>Features</a:t>
            </a:r>
            <a:endParaRPr lang="en-GB" sz="2000" b="1" dirty="0"/>
          </a:p>
          <a:p>
            <a:pPr lvl="1"/>
            <a:r>
              <a:rPr lang="en-GB" sz="1600" b="1" dirty="0"/>
              <a:t>Logic Gates</a:t>
            </a:r>
            <a:r>
              <a:rPr lang="en-GB" sz="1600" dirty="0"/>
              <a:t>: Configures standard logic gates like AND, OR, XOR, </a:t>
            </a:r>
            <a:r>
              <a:rPr lang="en-GB" sz="1600" dirty="0" err="1" smtClean="0"/>
              <a:t>etc</a:t>
            </a:r>
            <a:endParaRPr lang="en-GB" sz="1600" dirty="0"/>
          </a:p>
          <a:p>
            <a:pPr lvl="1"/>
            <a:r>
              <a:rPr lang="en-GB" sz="1600" b="1" dirty="0"/>
              <a:t>Sequential Logic</a:t>
            </a:r>
            <a:r>
              <a:rPr lang="en-GB" sz="1600" dirty="0"/>
              <a:t>: Supports latches and </a:t>
            </a:r>
            <a:r>
              <a:rPr lang="en-GB" sz="1600" dirty="0" smtClean="0"/>
              <a:t>flip-flops</a:t>
            </a:r>
            <a:endParaRPr lang="en-GB" sz="1600" dirty="0"/>
          </a:p>
          <a:p>
            <a:pPr lvl="1"/>
            <a:r>
              <a:rPr lang="en-GB" sz="1600" b="1" dirty="0"/>
              <a:t>Input Sources</a:t>
            </a:r>
            <a:r>
              <a:rPr lang="en-GB" sz="1600" dirty="0"/>
              <a:t>: Can use internal signals (from other peripherals) and external signals (from pins</a:t>
            </a:r>
            <a:r>
              <a:rPr lang="en-GB" sz="1600" dirty="0" smtClean="0"/>
              <a:t>)</a:t>
            </a:r>
          </a:p>
          <a:p>
            <a:pPr lvl="1"/>
            <a:r>
              <a:rPr lang="en-GB" sz="1600" b="1" dirty="0" smtClean="0"/>
              <a:t>Output </a:t>
            </a:r>
            <a:r>
              <a:rPr lang="en-GB" sz="1600" b="1" dirty="0"/>
              <a:t>Options</a:t>
            </a:r>
            <a:r>
              <a:rPr lang="en-GB" sz="1600" dirty="0"/>
              <a:t>: Outputs can be routed to other peripherals or I/O </a:t>
            </a:r>
            <a:r>
              <a:rPr lang="en-GB" sz="1600" dirty="0" smtClean="0"/>
              <a:t>pins</a:t>
            </a:r>
          </a:p>
          <a:p>
            <a:pPr lvl="1"/>
            <a:endParaRPr lang="en-GB" sz="1600" dirty="0"/>
          </a:p>
          <a:p>
            <a:r>
              <a:rPr lang="en-GB" sz="2000" b="1" dirty="0" smtClean="0"/>
              <a:t>Applications</a:t>
            </a:r>
            <a:endParaRPr lang="en-GB" sz="2000" b="1" dirty="0"/>
          </a:p>
          <a:p>
            <a:pPr lvl="1"/>
            <a:r>
              <a:rPr lang="en-GB" sz="1600" b="1" dirty="0"/>
              <a:t>Custom PWM Generation</a:t>
            </a:r>
            <a:r>
              <a:rPr lang="en-GB" sz="1600" dirty="0"/>
              <a:t>: Used for tasks like motor </a:t>
            </a:r>
            <a:r>
              <a:rPr lang="en-GB" sz="1600" dirty="0" smtClean="0"/>
              <a:t>control</a:t>
            </a:r>
            <a:endParaRPr lang="en-GB" sz="1600" dirty="0"/>
          </a:p>
          <a:p>
            <a:pPr lvl="1"/>
            <a:r>
              <a:rPr lang="en-GB" sz="1600" b="1" dirty="0"/>
              <a:t>Data Signal Modulation</a:t>
            </a:r>
            <a:r>
              <a:rPr lang="en-GB" sz="1600" dirty="0"/>
              <a:t>: Can be used to create custom communication </a:t>
            </a:r>
            <a:r>
              <a:rPr lang="en-GB" sz="1600" dirty="0" smtClean="0"/>
              <a:t>protocols</a:t>
            </a:r>
            <a:endParaRPr lang="en-GB" sz="1600" dirty="0"/>
          </a:p>
          <a:p>
            <a:pPr lvl="1"/>
            <a:r>
              <a:rPr lang="en-GB" sz="1600" b="1" dirty="0"/>
              <a:t>LED Control</a:t>
            </a:r>
            <a:r>
              <a:rPr lang="en-GB" sz="1600" dirty="0"/>
              <a:t>: Efficiently manage LED lighting sequences.</a:t>
            </a:r>
          </a:p>
        </p:txBody>
      </p:sp>
    </p:spTree>
    <p:extLst>
      <p:ext uri="{BB962C8B-B14F-4D97-AF65-F5344CB8AC3E}">
        <p14:creationId xmlns:p14="http://schemas.microsoft.com/office/powerpoint/2010/main" val="1428487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ctr">
            <a:normAutofit/>
          </a:bodyPr>
          <a:lstStyle/>
          <a:p>
            <a:pPr algn="l"/>
            <a:r>
              <a:rPr lang="en-GB" dirty="0" smtClean="0"/>
              <a:t>CLC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 smtClean="0"/>
              <a:t>CLC </a:t>
            </a:r>
            <a:r>
              <a:rPr lang="en-GB" b="1" dirty="0"/>
              <a:t>Diagram</a:t>
            </a:r>
          </a:p>
          <a:p>
            <a:pPr marL="939668" lvl="1" indent="-514350">
              <a:buFont typeface="+mj-lt"/>
              <a:buAutoNum type="arabicPeriod"/>
            </a:pPr>
            <a:r>
              <a:rPr lang="en-GB" b="1" dirty="0" smtClean="0"/>
              <a:t>Inputs</a:t>
            </a:r>
            <a:endParaRPr lang="en-GB" dirty="0" smtClean="0"/>
          </a:p>
          <a:p>
            <a:pPr lvl="2"/>
            <a:r>
              <a:rPr lang="en-GB" dirty="0" smtClean="0"/>
              <a:t>Up to 16 input sources can be selected from internal and external signals</a:t>
            </a:r>
          </a:p>
          <a:p>
            <a:pPr marL="939668" lvl="1" indent="-514350">
              <a:buFont typeface="+mj-lt"/>
              <a:buAutoNum type="arabicPeriod"/>
            </a:pPr>
            <a:r>
              <a:rPr lang="en-GB" b="1" dirty="0" smtClean="0"/>
              <a:t>Logic Gates Configuration</a:t>
            </a:r>
            <a:endParaRPr lang="en-GB" dirty="0" smtClean="0"/>
          </a:p>
          <a:p>
            <a:pPr lvl="2"/>
            <a:r>
              <a:rPr lang="en-GB" dirty="0" smtClean="0"/>
              <a:t>Configurable logic gates like AND, OR, XOR are used to combine the inputs</a:t>
            </a:r>
          </a:p>
          <a:p>
            <a:pPr marL="939668" lvl="1" indent="-514350">
              <a:buFont typeface="+mj-lt"/>
              <a:buAutoNum type="arabicPeriod"/>
            </a:pPr>
            <a:r>
              <a:rPr lang="en-GB" b="1" dirty="0" smtClean="0"/>
              <a:t>Sequential Logic Options</a:t>
            </a:r>
            <a:endParaRPr lang="en-GB" dirty="0" smtClean="0"/>
          </a:p>
          <a:p>
            <a:pPr lvl="2"/>
            <a:r>
              <a:rPr lang="en-GB" dirty="0" smtClean="0"/>
              <a:t>Supports sequential elements like latches and flip-flops</a:t>
            </a:r>
          </a:p>
          <a:p>
            <a:pPr marL="939668" lvl="1" indent="-514350">
              <a:buFont typeface="+mj-lt"/>
              <a:buAutoNum type="arabicPeriod"/>
            </a:pPr>
            <a:r>
              <a:rPr lang="en-GB" b="1" dirty="0" smtClean="0"/>
              <a:t>Output</a:t>
            </a:r>
            <a:endParaRPr lang="en-GB" dirty="0" smtClean="0"/>
          </a:p>
          <a:p>
            <a:pPr lvl="2"/>
            <a:r>
              <a:rPr lang="en-GB" dirty="0" smtClean="0"/>
              <a:t>The final logic output can be routed to I/O pins or other peripherals</a:t>
            </a:r>
            <a:endParaRPr lang="en-GB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411510"/>
            <a:ext cx="1898251" cy="4491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46000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dmin\OneDrive\Desktop\clc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18" y="1419622"/>
            <a:ext cx="9062482" cy="4464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3995936" y="-9217"/>
            <a:ext cx="5184576" cy="212365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GB" sz="1100" dirty="0" smtClean="0"/>
              <a:t>Digital </a:t>
            </a:r>
            <a:r>
              <a:rPr lang="en-GB" sz="1100" dirty="0"/>
              <a:t>logic circuit diagram consisting of multiple logic gates. </a:t>
            </a:r>
            <a:r>
              <a:rPr lang="en-GB" sz="1100" dirty="0" smtClean="0"/>
              <a:t>A  </a:t>
            </a:r>
            <a:r>
              <a:rPr lang="en-GB" sz="1100" dirty="0"/>
              <a:t>detailed breakdown:</a:t>
            </a:r>
          </a:p>
          <a:p>
            <a:r>
              <a:rPr lang="en-GB" sz="1100" b="1" dirty="0"/>
              <a:t>Inputs</a:t>
            </a:r>
            <a:r>
              <a:rPr lang="en-GB" sz="1100" dirty="0"/>
              <a:t>:</a:t>
            </a:r>
          </a:p>
          <a:p>
            <a:pPr lvl="1"/>
            <a:r>
              <a:rPr lang="en-GB" sz="1100" b="1" dirty="0"/>
              <a:t>CLCIN0 (CLCIN0PPS)</a:t>
            </a:r>
            <a:r>
              <a:rPr lang="en-GB" sz="1100" dirty="0"/>
              <a:t>: The primary input signal fed into the circuit.</a:t>
            </a:r>
          </a:p>
          <a:p>
            <a:r>
              <a:rPr lang="en-GB" sz="1100" b="1" dirty="0"/>
              <a:t>Logic Gates</a:t>
            </a:r>
            <a:r>
              <a:rPr lang="en-GB" sz="1100" dirty="0"/>
              <a:t>:</a:t>
            </a:r>
          </a:p>
          <a:p>
            <a:pPr lvl="1"/>
            <a:r>
              <a:rPr lang="en-GB" sz="1100" b="1" dirty="0"/>
              <a:t>AND Gates</a:t>
            </a:r>
            <a:r>
              <a:rPr lang="en-GB" sz="1100" dirty="0"/>
              <a:t>: There are several AND gates that process the input signals. These gates output a high signal (1) only if all their inputs are high.</a:t>
            </a:r>
          </a:p>
          <a:p>
            <a:pPr lvl="1"/>
            <a:r>
              <a:rPr lang="en-GB" sz="1100" b="1" dirty="0"/>
              <a:t>OR Gates</a:t>
            </a:r>
            <a:r>
              <a:rPr lang="en-GB" sz="1100" dirty="0"/>
              <a:t>: The outputs from the AND gates are fed into OR gates. These gates output a high signal if at least one of their inputs is high.</a:t>
            </a:r>
          </a:p>
          <a:p>
            <a:pPr lvl="1"/>
            <a:r>
              <a:rPr lang="en-GB" sz="1100" b="1" dirty="0"/>
              <a:t>NOT Gate</a:t>
            </a:r>
            <a:r>
              <a:rPr lang="en-GB" sz="1100" dirty="0"/>
              <a:t>: The final output from the OR gates is sent through a NOT gate, which inverts the signal. If the input is high, the output will be low, and vice versa.</a:t>
            </a:r>
          </a:p>
          <a:p>
            <a:r>
              <a:rPr lang="en-GB" sz="1100" b="1" dirty="0"/>
              <a:t>Outputs</a:t>
            </a:r>
            <a:r>
              <a:rPr lang="en-GB" sz="1100" dirty="0"/>
              <a:t>:</a:t>
            </a:r>
          </a:p>
          <a:p>
            <a:pPr lvl="1"/>
            <a:r>
              <a:rPr lang="en-GB" sz="1100" dirty="0"/>
              <a:t>The result of the NOT gate is the final output of the </a:t>
            </a:r>
            <a:r>
              <a:rPr lang="en-GB" sz="1100" dirty="0" smtClean="0"/>
              <a:t>circuit.</a:t>
            </a:r>
            <a:endParaRPr lang="en-GB" sz="1100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ctr">
            <a:normAutofit/>
          </a:bodyPr>
          <a:lstStyle/>
          <a:p>
            <a:pPr algn="l"/>
            <a:r>
              <a:rPr lang="en-GB" dirty="0" smtClean="0"/>
              <a:t>CLC</a:t>
            </a:r>
          </a:p>
        </p:txBody>
      </p:sp>
    </p:spTree>
    <p:extLst>
      <p:ext uri="{BB962C8B-B14F-4D97-AF65-F5344CB8AC3E}">
        <p14:creationId xmlns:p14="http://schemas.microsoft.com/office/powerpoint/2010/main" val="268339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ctr">
            <a:normAutofit/>
          </a:bodyPr>
          <a:lstStyle/>
          <a:p>
            <a:pPr algn="l"/>
            <a:r>
              <a:rPr lang="en-GB" dirty="0" smtClean="0"/>
              <a:t>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635646"/>
            <a:ext cx="6447501" cy="3384376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GB" sz="1200" dirty="0" smtClean="0"/>
              <a:t>Create an example using</a:t>
            </a:r>
          </a:p>
          <a:p>
            <a:pPr lvl="1"/>
            <a:r>
              <a:rPr lang="en-GB" sz="900" dirty="0" smtClean="0"/>
              <a:t>Microchip Standalone MCC</a:t>
            </a:r>
          </a:p>
          <a:p>
            <a:pPr lvl="2"/>
            <a:r>
              <a:rPr lang="en-GB" sz="900" dirty="0" smtClean="0">
                <a:hlinkClick r:id="rId2"/>
              </a:rPr>
              <a:t>https://www.microchip.com/en-us/tools-resources/configure/mplab-code-configurator#download</a:t>
            </a:r>
            <a:endParaRPr lang="en-GB" sz="900" dirty="0" smtClean="0"/>
          </a:p>
          <a:p>
            <a:pPr lvl="2"/>
            <a:endParaRPr lang="en-GB" sz="900" dirty="0"/>
          </a:p>
          <a:p>
            <a:pPr lvl="2"/>
            <a:r>
              <a:rPr lang="en-GB" sz="900" dirty="0"/>
              <a:t>C:\Users</a:t>
            </a:r>
            <a:r>
              <a:rPr lang="en-GB" sz="900" dirty="0" smtClean="0"/>
              <a:t>\{userID}\.mcc</a:t>
            </a:r>
          </a:p>
          <a:p>
            <a:pPr lvl="3"/>
            <a:r>
              <a:rPr lang="en-GB" b="1" dirty="0"/>
              <a:t>C:\Users</a:t>
            </a:r>
            <a:r>
              <a:rPr lang="en-GB" b="1" dirty="0" smtClean="0"/>
              <a:t>\</a:t>
            </a:r>
            <a:r>
              <a:rPr lang="en-GB" b="1" dirty="0"/>
              <a:t>{userID}</a:t>
            </a:r>
            <a:r>
              <a:rPr lang="en-GB" b="1" dirty="0" smtClean="0"/>
              <a:t>\.mcc\mcc_generated_files\clc\src\clc1.c             </a:t>
            </a:r>
            <a:r>
              <a:rPr lang="en-GB" dirty="0" smtClean="0"/>
              <a:t>- for CLC</a:t>
            </a:r>
          </a:p>
          <a:p>
            <a:pPr lvl="3"/>
            <a:r>
              <a:rPr lang="en-GB" b="1" dirty="0"/>
              <a:t>C:\Users</a:t>
            </a:r>
            <a:r>
              <a:rPr lang="en-GB" b="1" dirty="0" smtClean="0"/>
              <a:t>\</a:t>
            </a:r>
            <a:r>
              <a:rPr lang="en-GB" b="1" dirty="0"/>
              <a:t>{userID}</a:t>
            </a:r>
            <a:r>
              <a:rPr lang="en-GB" b="1" dirty="0" smtClean="0"/>
              <a:t>\.mcc\mcc_generated_files\system\src\pins.c     </a:t>
            </a:r>
            <a:r>
              <a:rPr lang="en-GB" dirty="0" smtClean="0"/>
              <a:t>- for PPS</a:t>
            </a:r>
          </a:p>
          <a:p>
            <a:pPr lvl="3"/>
            <a:endParaRPr lang="en-GB" dirty="0" smtClean="0"/>
          </a:p>
          <a:p>
            <a:pPr lvl="1"/>
            <a:r>
              <a:rPr lang="en-GB" sz="900" dirty="0" err="1" smtClean="0"/>
              <a:t>GCCode</a:t>
            </a:r>
            <a:endParaRPr lang="en-GB" sz="900" dirty="0" smtClean="0"/>
          </a:p>
          <a:p>
            <a:pPr lvl="2"/>
            <a:r>
              <a:rPr lang="en-GB" sz="900" dirty="0" smtClean="0"/>
              <a:t>Basic Hardware </a:t>
            </a:r>
          </a:p>
          <a:p>
            <a:pPr lvl="2"/>
            <a:r>
              <a:rPr lang="en-GB" sz="900" dirty="0" smtClean="0"/>
              <a:t>Merge contents</a:t>
            </a:r>
          </a:p>
          <a:p>
            <a:pPr lvl="2"/>
            <a:endParaRPr lang="en-GB" sz="500" dirty="0" smtClean="0"/>
          </a:p>
          <a:p>
            <a:pPr lvl="1"/>
            <a:r>
              <a:rPr lang="en-GB" sz="900" dirty="0" smtClean="0"/>
              <a:t>Test and enjoy</a:t>
            </a:r>
            <a:endParaRPr lang="en-GB" sz="900" dirty="0"/>
          </a:p>
        </p:txBody>
      </p:sp>
    </p:spTree>
    <p:extLst>
      <p:ext uri="{BB962C8B-B14F-4D97-AF65-F5344CB8AC3E}">
        <p14:creationId xmlns:p14="http://schemas.microsoft.com/office/powerpoint/2010/main" val="4278560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– three LED programs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</a:t>
            </a:r>
            <a:r>
              <a:rPr lang="en-GB" sz="1100" dirty="0" smtClean="0"/>
              <a:t>timer0 </a:t>
            </a:r>
            <a:r>
              <a:rPr lang="en-GB" sz="1100" dirty="0"/>
              <a:t>overflow, 8bit timer, 16bit timer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EEProm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</a:t>
            </a:r>
            <a:r>
              <a:rPr lang="en-GB" sz="1100" dirty="0" smtClean="0"/>
              <a:t>I2C </a:t>
            </a:r>
            <a:r>
              <a:rPr lang="en-GB" sz="1100" dirty="0"/>
              <a:t>GCLD </a:t>
            </a:r>
            <a:r>
              <a:rPr lang="en-GB" sz="1100" dirty="0" smtClean="0"/>
              <a:t>display solutions</a:t>
            </a:r>
            <a:endParaRPr lang="en-GB" sz="11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</a:t>
            </a:r>
            <a:r>
              <a:rPr lang="en-GB" sz="1100" dirty="0" smtClean="0"/>
              <a:t>SPI GLCD  display solutions</a:t>
            </a:r>
            <a:endParaRPr lang="en-GB" sz="11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</a:t>
            </a:r>
            <a:r>
              <a:rPr lang="en-GB" sz="1100" dirty="0" smtClean="0"/>
              <a:t>6  </a:t>
            </a:r>
            <a:r>
              <a:rPr lang="en-GB" sz="1100" dirty="0"/>
              <a:t>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storage within the </a:t>
            </a:r>
            <a:r>
              <a:rPr lang="en-GB" sz="1100" dirty="0" smtClean="0"/>
              <a:t>chip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 smtClean="0"/>
              <a:t>Using </a:t>
            </a:r>
            <a:r>
              <a:rPr lang="en-GB" sz="1100" dirty="0"/>
              <a:t>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21571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75495" y="1275606"/>
            <a:ext cx="4124707" cy="1234727"/>
          </a:xfrm>
        </p:spPr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8" name="Text Placeholder 4"/>
          <p:cNvSpPr txBox="1">
            <a:spLocks/>
          </p:cNvSpPr>
          <p:nvPr/>
        </p:nvSpPr>
        <p:spPr>
          <a:xfrm>
            <a:off x="3805512" y="2403996"/>
            <a:ext cx="3342861" cy="6453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marL="0" indent="0" algn="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PIC18FxxQ35</a:t>
            </a:r>
          </a:p>
          <a:p>
            <a:r>
              <a:rPr lang="en-GB" dirty="0" smtClean="0"/>
              <a:t>Part 17 - Using CLC</a:t>
            </a:r>
            <a:endParaRPr lang="en-GB" dirty="0"/>
          </a:p>
        </p:txBody>
      </p:sp>
      <p:pic>
        <p:nvPicPr>
          <p:cNvPr id="9" name="Picture 2" descr="PIC18F46Q35-NHX-Regula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795886"/>
            <a:ext cx="1280591" cy="1128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 descr="PIC18F46Q35-S2X-Regula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316" y="3540195"/>
            <a:ext cx="2692623" cy="1256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5653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CstudioThemeLigh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GC Basic Fonts">
      <a:majorFont>
        <a:latin typeface="Microsoft YaHei"/>
        <a:ea typeface=""/>
        <a:cs typeface=""/>
      </a:majorFont>
      <a:minorFont>
        <a:latin typeface="Corbel"/>
        <a:ea typeface=""/>
        <a:cs typeface="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GCstudioThemeLight" id="{4C740F94-33C0-4EEC-9234-F56C348A0987}" vid="{A43F8B96-90D8-489D-B80F-92F9D6F351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15183</TotalTime>
  <Words>1048</Words>
  <Application>Microsoft Office PowerPoint</Application>
  <PresentationFormat>On-screen Show (16:9)</PresentationFormat>
  <Paragraphs>155</Paragraphs>
  <Slides>15</Slides>
  <Notes>0</Notes>
  <HiddenSlides>2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GCstudioThemeLight</vt:lpstr>
      <vt:lpstr>GCBASIC</vt:lpstr>
      <vt:lpstr>GCBASIC</vt:lpstr>
      <vt:lpstr>GCBASIC</vt:lpstr>
      <vt:lpstr>PIC18FxxQ35</vt:lpstr>
      <vt:lpstr>Videos...</vt:lpstr>
      <vt:lpstr>GCBASIC Compiler</vt:lpstr>
      <vt:lpstr>PowerPoint Presentation</vt:lpstr>
      <vt:lpstr>CLC</vt:lpstr>
      <vt:lpstr>CLC</vt:lpstr>
      <vt:lpstr>CLC</vt:lpstr>
      <vt:lpstr>CLC</vt:lpstr>
      <vt:lpstr>Lab</vt:lpstr>
      <vt:lpstr>PowerPoint Presentation</vt:lpstr>
      <vt:lpstr>Videos...</vt:lpstr>
      <vt:lpstr>GCBASIC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Great Cow BASIC</dc:title>
  <dc:creator>admin</dc:creator>
  <cp:lastModifiedBy>admin</cp:lastModifiedBy>
  <cp:revision>785</cp:revision>
  <dcterms:created xsi:type="dcterms:W3CDTF">2019-01-08T20:03:06Z</dcterms:created>
  <dcterms:modified xsi:type="dcterms:W3CDTF">2026-08-19T16:48:26Z</dcterms:modified>
</cp:coreProperties>
</file>