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55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291" r:id="rId12"/>
    <p:sldId id="342" r:id="rId13"/>
    <p:sldId id="345" r:id="rId14"/>
    <p:sldId id="349" r:id="rId15"/>
    <p:sldId id="346" r:id="rId16"/>
    <p:sldId id="351" r:id="rId17"/>
    <p:sldId id="347" r:id="rId18"/>
    <p:sldId id="288" r:id="rId19"/>
    <p:sldId id="330" r:id="rId20"/>
    <p:sldId id="365" r:id="rId21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n_drain" TargetMode="External"/><Relationship Id="rId2" Type="http://schemas.openxmlformats.org/officeDocument/2006/relationships/hyperlink" Target="https://en.wikipedia.org/wiki/Open_collecto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Resistor" TargetMode="External"/><Relationship Id="rId4" Type="http://schemas.openxmlformats.org/officeDocument/2006/relationships/hyperlink" Target="https://en.wikipedia.org/wiki/Pull-up_resisto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12 - GLCD Operations using I2C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3779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12 - GLCD Operations using I2C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675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34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46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46639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77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I2C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97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12160" y="2787774"/>
            <a:ext cx="1440160" cy="8640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786960" y="924222"/>
            <a:ext cx="1440160" cy="8640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491880" y="1788318"/>
            <a:ext cx="1512167" cy="711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076056" y="3363838"/>
            <a:ext cx="792088" cy="486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1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539" y="555526"/>
            <a:ext cx="1634307" cy="139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24" y="3363838"/>
            <a:ext cx="1998590" cy="1252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24" y="1995686"/>
            <a:ext cx="1861121" cy="104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13263"/>
            <a:ext cx="3822998" cy="1563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2774" y="1554113"/>
            <a:ext cx="1571625" cy="1585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403648" y="3363838"/>
            <a:ext cx="250551" cy="144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400473" y="3045073"/>
            <a:ext cx="250551" cy="144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1525748" y="2067694"/>
            <a:ext cx="1678100" cy="1584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1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79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</a:t>
            </a:r>
            <a:r>
              <a:rPr lang="en-GB" dirty="0" smtClean="0"/>
              <a:t>18FxxQ35 </a:t>
            </a:r>
            <a:r>
              <a:rPr lang="en-GB" dirty="0" smtClean="0"/>
              <a:t>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  <a:p>
            <a:pPr marL="778521" lvl="1" indent="-478483"/>
            <a:r>
              <a:rPr lang="en-GB" b="1" dirty="0" smtClean="0"/>
              <a:t>GLCD i2C device and i2c discovery has worked!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 uses two bidirectional </a:t>
            </a:r>
            <a:r>
              <a:rPr lang="en-GB" dirty="0" smtClean="0">
                <a:hlinkClick r:id="rId2" tooltip="Open collector"/>
              </a:rPr>
              <a:t>open collector</a:t>
            </a:r>
            <a:r>
              <a:rPr lang="en-GB" dirty="0" smtClean="0"/>
              <a:t> or </a:t>
            </a:r>
            <a:r>
              <a:rPr lang="en-GB" dirty="0" smtClean="0">
                <a:hlinkClick r:id="rId3" tooltip="Open drain"/>
              </a:rPr>
              <a:t>open drain</a:t>
            </a:r>
            <a:r>
              <a:rPr lang="en-GB" dirty="0" smtClean="0"/>
              <a:t> lines </a:t>
            </a:r>
            <a:r>
              <a:rPr lang="en-GB" dirty="0" smtClean="0">
                <a:hlinkClick r:id="rId4" tooltip="Pull-up resistor"/>
              </a:rPr>
              <a:t>pulled up</a:t>
            </a:r>
            <a:r>
              <a:rPr lang="en-GB" dirty="0" smtClean="0"/>
              <a:t> with </a:t>
            </a:r>
            <a:r>
              <a:rPr lang="en-GB" dirty="0" smtClean="0">
                <a:hlinkClick r:id="rId5" tooltip="Resistor"/>
              </a:rPr>
              <a:t>resistors</a:t>
            </a:r>
            <a:endParaRPr lang="en-GB" dirty="0" smtClean="0"/>
          </a:p>
          <a:p>
            <a:pPr lvl="1"/>
            <a:r>
              <a:rPr lang="en-GB" dirty="0" smtClean="0"/>
              <a:t>Serial Data Line (SDA) </a:t>
            </a:r>
          </a:p>
          <a:p>
            <a:pPr lvl="1"/>
            <a:r>
              <a:rPr lang="en-GB" dirty="0" smtClean="0"/>
              <a:t>Serial Clock Line (SCL)</a:t>
            </a:r>
          </a:p>
          <a:p>
            <a:endParaRPr lang="en-GB" dirty="0" smtClean="0"/>
          </a:p>
          <a:p>
            <a:r>
              <a:rPr lang="en-GB" dirty="0" smtClean="0"/>
              <a:t>Typical voltages used are +5 V or +3.3 V, although systems with other voltages are permitted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707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555526"/>
            <a:ext cx="1910822" cy="2160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Connector 15"/>
          <p:cNvCxnSpPr/>
          <p:nvPr/>
        </p:nvCxnSpPr>
        <p:spPr>
          <a:xfrm flipV="1">
            <a:off x="4893568" y="651922"/>
            <a:ext cx="0" cy="43204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900816" y="662206"/>
            <a:ext cx="126529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6158488" y="669826"/>
            <a:ext cx="52144" cy="324953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015488" y="906046"/>
            <a:ext cx="11440" cy="16761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5940152" y="895028"/>
            <a:ext cx="35476" cy="297933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004048" y="895028"/>
            <a:ext cx="9361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28184" y="1903140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CLOCK</a:t>
            </a:r>
          </a:p>
          <a:p>
            <a:pPr algn="ctr"/>
            <a:r>
              <a:rPr lang="en-GB" i="1" dirty="0" smtClean="0"/>
              <a:t>---------</a:t>
            </a:r>
          </a:p>
          <a:p>
            <a:pPr algn="ctr"/>
            <a:r>
              <a:rPr lang="en-GB" i="1" dirty="0" smtClean="0"/>
              <a:t>SCL</a:t>
            </a:r>
            <a:endParaRPr lang="en-GB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5148064" y="2640742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</a:t>
            </a:r>
          </a:p>
          <a:p>
            <a:r>
              <a:rPr lang="en-GB" i="1" dirty="0" smtClean="0"/>
              <a:t>---------</a:t>
            </a:r>
            <a:endParaRPr lang="en-GB" dirty="0" smtClean="0"/>
          </a:p>
          <a:p>
            <a:pPr algn="ctr"/>
            <a:r>
              <a:rPr lang="en-GB" i="1" dirty="0" smtClean="0"/>
              <a:t>SDA</a:t>
            </a:r>
            <a:endParaRPr lang="en-GB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t="12335"/>
          <a:stretch>
            <a:fillRect/>
          </a:stretch>
        </p:blipFill>
        <p:spPr bwMode="auto">
          <a:xfrm>
            <a:off x="827584" y="1997561"/>
            <a:ext cx="2047875" cy="129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" name="TextBox 40"/>
          <p:cNvSpPr txBox="1"/>
          <p:nvPr/>
        </p:nvSpPr>
        <p:spPr>
          <a:xfrm>
            <a:off x="1244352" y="1691987"/>
            <a:ext cx="5402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VCC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280840" y="3024723"/>
            <a:ext cx="16561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123728" y="2848957"/>
            <a:ext cx="0" cy="16306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395413" y="2552095"/>
            <a:ext cx="0" cy="481012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585912" y="2544952"/>
            <a:ext cx="2382" cy="63579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271712" y="2835465"/>
            <a:ext cx="0" cy="34528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259632" y="3175982"/>
            <a:ext cx="1626443" cy="14288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PIC18F46Q35-NHX-Regula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922" y="3723878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5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79512" y="1131590"/>
            <a:ext cx="6048672" cy="792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I2C sequence</a:t>
            </a:r>
            <a:endParaRPr lang="en-GB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3528" y="1275606"/>
            <a:ext cx="5760640" cy="456216"/>
            <a:chOff x="179512" y="2643758"/>
            <a:chExt cx="5760640" cy="456216"/>
          </a:xfrm>
        </p:grpSpPr>
        <p:sp>
          <p:nvSpPr>
            <p:cNvPr id="6" name="Rectangle 5"/>
            <p:cNvSpPr/>
            <p:nvPr/>
          </p:nvSpPr>
          <p:spPr>
            <a:xfrm>
              <a:off x="179512" y="2667926"/>
              <a:ext cx="1224136" cy="4320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i2cStart</a:t>
              </a:r>
              <a:endParaRPr lang="en-GB" sz="16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1680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 Address</a:t>
              </a:r>
              <a:endParaRPr lang="en-GB" sz="16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03848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</a:t>
              </a:r>
            </a:p>
            <a:p>
              <a:pPr algn="ctr"/>
              <a:r>
                <a:rPr lang="en-GB" sz="1600" dirty="0" smtClean="0"/>
                <a:t>Data</a:t>
              </a:r>
              <a:endParaRPr lang="en-GB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716016" y="2643758"/>
              <a:ext cx="1224136" cy="43204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i2cStop</a:t>
              </a:r>
              <a:endParaRPr lang="en-GB" sz="16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971600" y="1995686"/>
            <a:ext cx="5040560" cy="3096344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Start </a:t>
            </a: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high-to-low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beginning of communication.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(Address):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the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address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slave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device including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the Read/Write bit.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Slave responds with an Acknowledgment (ACK) bit.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(Data):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or receives data bytes.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byte is followed by an Acknowledgment (ACK) from the receiver.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Stop 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low-to-high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end of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7513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699542"/>
            <a:ext cx="4953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1419622"/>
            <a:ext cx="4896544" cy="3569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51470"/>
            <a:ext cx="2088282" cy="1215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02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11560" y="123478"/>
            <a:ext cx="7308304" cy="47319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1118297" y="450715"/>
            <a:ext cx="6370491" cy="4196450"/>
            <a:chOff x="506737" y="738747"/>
            <a:chExt cx="6370491" cy="4196450"/>
          </a:xfrm>
        </p:grpSpPr>
        <p:cxnSp>
          <p:nvCxnSpPr>
            <p:cNvPr id="43" name="Straight Connector 42"/>
            <p:cNvCxnSpPr/>
            <p:nvPr/>
          </p:nvCxnSpPr>
          <p:spPr>
            <a:xfrm flipH="1">
              <a:off x="805441" y="1222581"/>
              <a:ext cx="7213" cy="320948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838272" y="1267982"/>
              <a:ext cx="0" cy="16674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506737" y="1468273"/>
              <a:ext cx="6370490" cy="1246085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r</a:t>
              </a:r>
              <a:endParaRPr lang="en-GB" sz="1200" dirty="0"/>
            </a:p>
          </p:txBody>
        </p:sp>
        <p:cxnSp>
          <p:nvCxnSpPr>
            <p:cNvPr id="39" name="Straight Connector 38"/>
            <p:cNvCxnSpPr>
              <a:stCxn id="11" idx="2"/>
            </p:cNvCxnSpPr>
            <p:nvPr/>
          </p:nvCxnSpPr>
          <p:spPr>
            <a:xfrm flipH="1">
              <a:off x="1929213" y="1262641"/>
              <a:ext cx="6944" cy="31598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506738" y="2935481"/>
              <a:ext cx="6370490" cy="1144068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r</a:t>
              </a:r>
              <a:endParaRPr lang="en-GB" sz="12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6841" y="762713"/>
              <a:ext cx="2718632" cy="4999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User Program</a:t>
              </a:r>
              <a:endParaRPr lang="en-GB" sz="12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6841" y="15115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91141" y="16258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05441" y="17401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19741" y="18544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34041" y="19687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148341" y="20830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Libraries – 125+</a:t>
              </a:r>
              <a:endParaRPr lang="en-GB" sz="12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6841" y="29985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91141" y="31128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05441" y="32271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19741" y="33414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34041" y="34557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err="1" smtClean="0"/>
                <a:t>Lowlevel</a:t>
              </a:r>
              <a:r>
                <a:rPr lang="en-GB" sz="1200" dirty="0" smtClean="0"/>
                <a:t> – 25+</a:t>
              </a:r>
              <a:endParaRPr lang="en-GB" sz="120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69812" y="738747"/>
              <a:ext cx="980897" cy="2072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User Functions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6841" y="4422449"/>
              <a:ext cx="2880734" cy="51274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>
                  <a:solidFill>
                    <a:schemeClr val="tx1"/>
                  </a:solidFill>
                </a:rPr>
                <a:t>Microcontroller specific solution (.HEX)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81830" y="1081845"/>
              <a:ext cx="980897" cy="2285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Converters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601910" y="768054"/>
              <a:ext cx="2147132" cy="4999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External Sources </a:t>
              </a:r>
            </a:p>
            <a:p>
              <a:pPr algn="ctr"/>
              <a:r>
                <a:rPr lang="en-GB" sz="1200" dirty="0" smtClean="0"/>
                <a:t>DB, BMP, Version control…</a:t>
              </a:r>
              <a:endParaRPr lang="en-GB" sz="12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601910" y="1790343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7 segment, GLCD, Maths…</a:t>
              </a:r>
              <a:endParaRPr lang="en-GB" sz="12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601910" y="3257551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USART, I2C, SPI….</a:t>
              </a:r>
              <a:endParaRPr lang="en-GB" sz="1200" dirty="0"/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1084047" y="2468667"/>
              <a:ext cx="0" cy="64414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406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Examine the sample code</a:t>
            </a:r>
          </a:p>
          <a:p>
            <a:pPr lvl="1"/>
            <a:r>
              <a:rPr lang="en-GB" dirty="0" smtClean="0"/>
              <a:t>Using PPS select the I</a:t>
            </a:r>
            <a:r>
              <a:rPr lang="en-GB" baseline="30000" dirty="0" smtClean="0"/>
              <a:t>2</a:t>
            </a:r>
            <a:r>
              <a:rPr lang="en-GB" dirty="0" smtClean="0"/>
              <a:t>C ports</a:t>
            </a:r>
          </a:p>
          <a:p>
            <a:pPr lvl="1"/>
            <a:r>
              <a:rPr lang="en-GB" dirty="0" smtClean="0"/>
              <a:t>Using PPS select the serial USART port</a:t>
            </a:r>
          </a:p>
          <a:p>
            <a:pPr lvl="1"/>
            <a:r>
              <a:rPr lang="en-GB" dirty="0" smtClean="0"/>
              <a:t>Set up the I</a:t>
            </a:r>
            <a:r>
              <a:rPr lang="en-GB" baseline="30000" dirty="0" smtClean="0"/>
              <a:t>2</a:t>
            </a:r>
            <a:r>
              <a:rPr lang="en-GB" dirty="0" smtClean="0"/>
              <a:t>C </a:t>
            </a:r>
          </a:p>
          <a:p>
            <a:pPr lvl="1"/>
            <a:r>
              <a:rPr lang="en-GB" dirty="0" smtClean="0"/>
              <a:t>Review demonstrations and see the results</a:t>
            </a: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47663"/>
              </p:ext>
            </p:extLst>
          </p:nvPr>
        </p:nvGraphicFramePr>
        <p:xfrm>
          <a:off x="1259632" y="3291830"/>
          <a:ext cx="4069729" cy="1510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2413545"/>
              </a:tblGrid>
              <a:tr h="144016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Focus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Shows</a:t>
                      </a:r>
                      <a:r>
                        <a:rPr lang="en-GB" sz="1000" baseline="0" dirty="0" smtClean="0"/>
                        <a:t> </a:t>
                      </a:r>
                      <a:endParaRPr lang="en-GB" sz="1000" dirty="0"/>
                    </a:p>
                  </a:txBody>
                  <a:tcPr/>
                </a:tc>
              </a:tr>
              <a:tr h="376557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64x32,</a:t>
                      </a:r>
                      <a:r>
                        <a:rPr lang="en-GB" sz="1000" baseline="0" dirty="0" smtClean="0"/>
                        <a:t> </a:t>
                      </a:r>
                      <a:r>
                        <a:rPr lang="en-GB" sz="1000" dirty="0" smtClean="0"/>
                        <a:t>128x32 </a:t>
                      </a:r>
                      <a:r>
                        <a:rPr lang="en-GB" sz="1000" dirty="0" smtClean="0"/>
                        <a:t>&amp; 128x64</a:t>
                      </a:r>
                      <a:r>
                        <a:rPr lang="en-GB" sz="1000" baseline="0" dirty="0" smtClean="0"/>
                        <a:t> capability demos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Primitives</a:t>
                      </a:r>
                    </a:p>
                    <a:p>
                      <a:r>
                        <a:rPr lang="en-GB" sz="1000" dirty="0" smtClean="0"/>
                        <a:t>Memory</a:t>
                      </a:r>
                      <a:r>
                        <a:rPr lang="en-GB" sz="1000" baseline="0" dirty="0" smtClean="0"/>
                        <a:t> usage &amp; Transactions</a:t>
                      </a:r>
                      <a:endParaRPr lang="en-GB" sz="1000" dirty="0"/>
                    </a:p>
                  </a:txBody>
                  <a:tcPr/>
                </a:tc>
              </a:tr>
              <a:tr h="239322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BMP</a:t>
                      </a:r>
                      <a:r>
                        <a:rPr lang="en-GB" sz="1000" baseline="0" dirty="0" smtClean="0"/>
                        <a:t> converter 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Converter</a:t>
                      </a:r>
                      <a:endParaRPr lang="en-GB" sz="1000" dirty="0"/>
                    </a:p>
                  </a:txBody>
                  <a:tcPr/>
                </a:tc>
              </a:tr>
              <a:tr h="273724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Sprite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Expose</a:t>
                      </a:r>
                      <a:r>
                        <a:rPr lang="en-GB" sz="1000" baseline="0" dirty="0" smtClean="0"/>
                        <a:t> buffer and custom I2C subroutine</a:t>
                      </a:r>
                      <a:endParaRPr lang="en-GB" sz="1000" dirty="0"/>
                    </a:p>
                  </a:txBody>
                  <a:tcPr/>
                </a:tc>
              </a:tr>
              <a:tr h="352418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Voltmeter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Trig2places</a:t>
                      </a:r>
                      <a:r>
                        <a:rPr lang="en-GB" sz="1000" b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Low level GLCD commands</a:t>
                      </a:r>
                      <a:endParaRPr lang="en-GB" sz="1000" b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22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timer0 overflow, 8bit timer, 16bit timer to flash the LEDs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</a:t>
            </a:r>
            <a:r>
              <a:rPr lang="en-GB" sz="1100" b="1" dirty="0" smtClean="0"/>
              <a:t>SPI </a:t>
            </a:r>
            <a:r>
              <a:rPr lang="en-GB" sz="1100" b="1" dirty="0"/>
              <a:t>GCLD </a:t>
            </a:r>
            <a:r>
              <a:rPr lang="en-GB" sz="1100" b="1" dirty="0" smtClean="0"/>
              <a:t>display </a:t>
            </a:r>
            <a:r>
              <a:rPr lang="en-GB" sz="1100" b="1" dirty="0"/>
              <a:t>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PWM, many ways</a:t>
            </a:r>
            <a:r>
              <a:rPr lang="en-GB" sz="1100" dirty="0"/>
              <a:t>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374124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862554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12 - GLCD Operations using I2C</a:t>
            </a:r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18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14868</TotalTime>
  <Words>974</Words>
  <Application>Microsoft Office PowerPoint</Application>
  <PresentationFormat>On-screen Show (16:9)</PresentationFormat>
  <Paragraphs>181</Paragraphs>
  <Slides>20</Slides>
  <Notes>0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VDDIO2 Domain Power</vt:lpstr>
      <vt:lpstr>Prerequisites </vt:lpstr>
      <vt:lpstr>I2C</vt:lpstr>
      <vt:lpstr>Setup</vt:lpstr>
      <vt:lpstr>I2C sequence</vt:lpstr>
      <vt:lpstr>I2C</vt:lpstr>
      <vt:lpstr>PowerPoint Presentation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765</cp:revision>
  <dcterms:created xsi:type="dcterms:W3CDTF">2019-01-08T20:03:06Z</dcterms:created>
  <dcterms:modified xsi:type="dcterms:W3CDTF">2026-08-14T13:57:04Z</dcterms:modified>
</cp:coreProperties>
</file>