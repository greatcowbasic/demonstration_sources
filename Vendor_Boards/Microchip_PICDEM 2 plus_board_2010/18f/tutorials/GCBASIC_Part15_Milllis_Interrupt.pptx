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365" r:id="rId2"/>
    <p:sldId id="366" r:id="rId3"/>
    <p:sldId id="367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54" r:id="rId12"/>
    <p:sldId id="364" r:id="rId13"/>
    <p:sldId id="363" r:id="rId14"/>
    <p:sldId id="355" r:id="rId15"/>
    <p:sldId id="356" r:id="rId16"/>
    <p:sldId id="357" r:id="rId17"/>
    <p:sldId id="358" r:id="rId18"/>
    <p:sldId id="359" r:id="rId19"/>
    <p:sldId id="288" r:id="rId20"/>
    <p:sldId id="353" r:id="rId21"/>
    <p:sldId id="375" r:id="rId22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60"/>
  </p:normalViewPr>
  <p:slideViewPr>
    <p:cSldViewPr>
      <p:cViewPr>
        <p:scale>
          <a:sx n="150" d="100"/>
          <a:sy n="150" d="100"/>
        </p:scale>
        <p:origin x="-510" y="-36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GB" sz="1400" dirty="0" smtClean="0"/>
              <a:t>PIC18FxxQ35chip Family</a:t>
            </a:r>
          </a:p>
          <a:p>
            <a:r>
              <a:rPr lang="en-GB" sz="1400" dirty="0"/>
              <a:t>Part 15 – Millis and Interrupts</a:t>
            </a:r>
          </a:p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221970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3995936" y="329183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PIC18FxxQ35chip Family</a:t>
            </a:r>
          </a:p>
          <a:p>
            <a:r>
              <a:rPr lang="en-GB" dirty="0"/>
              <a:t>Part 15 – Millis and Interrupts</a:t>
            </a:r>
          </a:p>
        </p:txBody>
      </p:sp>
    </p:spTree>
    <p:extLst>
      <p:ext uri="{BB962C8B-B14F-4D97-AF65-F5344CB8AC3E}">
        <p14:creationId xmlns:p14="http://schemas.microsoft.com/office/powerpoint/2010/main" val="1506782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141" y="79363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subscribe!</a:t>
            </a:r>
          </a:p>
        </p:txBody>
      </p:sp>
      <p:pic>
        <p:nvPicPr>
          <p:cNvPr id="2050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PIC18F46Q35-S2X-Regular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6" descr="PIC18F46Q35-S2X-Regular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6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9282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PIC18FxxQ35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PIC18FxxQ35  is a high performance PIC18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PIC18FxxQ35 offers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7100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</a:t>
            </a:r>
            <a:r>
              <a:rPr lang="en-GB" sz="1100" dirty="0" smtClean="0"/>
              <a:t>– make LEDs work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Millis and Interrupts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</a:t>
            </a:r>
            <a:r>
              <a:rPr lang="en-GB" sz="1100" dirty="0"/>
              <a:t>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2326978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4176464" cy="217877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PIC, AVR and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18FxxQ35 chip family </a:t>
            </a:r>
          </a:p>
          <a:p>
            <a:endParaRPr lang="en-GB" dirty="0"/>
          </a:p>
          <a:p>
            <a:r>
              <a:rPr lang="en-GB" dirty="0"/>
              <a:t>GCBASIC now </a:t>
            </a:r>
            <a:r>
              <a:rPr lang="en-GB" dirty="0" smtClean="0"/>
              <a:t>supports 1400+ microcontrollers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306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8" t="6534" r="2270" b="5416"/>
          <a:stretch/>
        </p:blipFill>
        <p:spPr bwMode="auto">
          <a:xfrm>
            <a:off x="251518" y="1026170"/>
            <a:ext cx="4635501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103003"/>
            <a:ext cx="6367321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04048" y="75944"/>
            <a:ext cx="3995936" cy="455509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000" dirty="0" smtClean="0">
                <a:solidFill>
                  <a:srgbClr val="FF0000"/>
                </a:solidFill>
              </a:rPr>
              <a:t>1</a:t>
            </a:r>
            <a:r>
              <a:rPr lang="en-GB" sz="1000" dirty="0">
                <a:solidFill>
                  <a:srgbClr val="FF0000"/>
                </a:solidFill>
              </a:rPr>
              <a:t>. 18-, 28- and 40-pin DIP sockets</a:t>
            </a:r>
          </a:p>
          <a:p>
            <a:r>
              <a:rPr lang="en-GB" sz="1000" dirty="0">
                <a:solidFill>
                  <a:srgbClr val="FF0000"/>
                </a:solidFill>
              </a:rPr>
              <a:t>(although three sockets are provided, only one device may be used at a time)</a:t>
            </a:r>
          </a:p>
          <a:p>
            <a:r>
              <a:rPr lang="en-GB" sz="1000" dirty="0">
                <a:solidFill>
                  <a:srgbClr val="FF0000"/>
                </a:solidFill>
              </a:rPr>
              <a:t>2. On-board, +5V regulator for direct input from 9V, 100 mA AC/DC wall adapter </a:t>
            </a:r>
            <a:r>
              <a:rPr lang="en-GB" sz="1000" dirty="0" smtClean="0">
                <a:solidFill>
                  <a:srgbClr val="FF0000"/>
                </a:solidFill>
              </a:rPr>
              <a:t>or 9V </a:t>
            </a:r>
            <a:r>
              <a:rPr lang="en-GB" sz="1000" dirty="0">
                <a:solidFill>
                  <a:srgbClr val="FF0000"/>
                </a:solidFill>
              </a:rPr>
              <a:t>battery, or hooks for a +5V, 100 mA regulated DC supply</a:t>
            </a:r>
          </a:p>
          <a:p>
            <a:r>
              <a:rPr lang="en-GB" sz="1000" u="sng" dirty="0">
                <a:solidFill>
                  <a:srgbClr val="FF0000"/>
                </a:solidFill>
              </a:rPr>
              <a:t>3. </a:t>
            </a:r>
            <a:r>
              <a:rPr lang="en-GB" sz="1000" dirty="0">
                <a:solidFill>
                  <a:srgbClr val="FF0000"/>
                </a:solidFill>
              </a:rPr>
              <a:t>RS-232 socket and associated hardware for direct connection to an </a:t>
            </a:r>
            <a:r>
              <a:rPr lang="en-GB" sz="1000" dirty="0" smtClean="0">
                <a:solidFill>
                  <a:srgbClr val="FF0000"/>
                </a:solidFill>
              </a:rPr>
              <a:t>RS-232 interface</a:t>
            </a:r>
            <a:endParaRPr lang="en-GB" sz="1000" dirty="0">
              <a:solidFill>
                <a:srgbClr val="FF0000"/>
              </a:solidFill>
            </a:endParaRPr>
          </a:p>
          <a:p>
            <a:r>
              <a:rPr lang="en-GB" sz="1000" dirty="0">
                <a:solidFill>
                  <a:srgbClr val="FF0000"/>
                </a:solidFill>
              </a:rPr>
              <a:t>4. Programmer/debugger connectivity supporting MPLAB® ICD 3, MPLAB </a:t>
            </a:r>
            <a:r>
              <a:rPr lang="en-GB" sz="1000" dirty="0" smtClean="0">
                <a:solidFill>
                  <a:srgbClr val="FF0000"/>
                </a:solidFill>
              </a:rPr>
              <a:t>REAL ICE </a:t>
            </a:r>
            <a:r>
              <a:rPr lang="en-GB" sz="1000" dirty="0">
                <a:solidFill>
                  <a:srgbClr val="FF0000"/>
                </a:solidFill>
              </a:rPr>
              <a:t>and </a:t>
            </a:r>
            <a:r>
              <a:rPr lang="en-GB" sz="1000" dirty="0" err="1" smtClean="0">
                <a:solidFill>
                  <a:srgbClr val="FF0000"/>
                </a:solidFill>
              </a:rPr>
              <a:t>PICkitPlus</a:t>
            </a:r>
            <a:endParaRPr lang="en-GB" sz="1000" dirty="0">
              <a:solidFill>
                <a:srgbClr val="FF0000"/>
              </a:solidFill>
            </a:endParaRPr>
          </a:p>
          <a:p>
            <a:r>
              <a:rPr lang="en-GB" sz="1000" dirty="0">
                <a:solidFill>
                  <a:srgbClr val="FF0000"/>
                </a:solidFill>
              </a:rPr>
              <a:t>5. </a:t>
            </a:r>
            <a:r>
              <a:rPr lang="en-GB" sz="1000" dirty="0" err="1">
                <a:solidFill>
                  <a:srgbClr val="FF0000"/>
                </a:solidFill>
              </a:rPr>
              <a:t>PICkit</a:t>
            </a:r>
            <a:r>
              <a:rPr lang="en-GB" sz="1000" dirty="0">
                <a:solidFill>
                  <a:srgbClr val="FF0000"/>
                </a:solidFill>
              </a:rPr>
              <a:t> Serial Connector for analysis of serial communications peripherals </a:t>
            </a:r>
            <a:r>
              <a:rPr lang="en-GB" sz="1000" dirty="0" smtClean="0">
                <a:solidFill>
                  <a:srgbClr val="FF0000"/>
                </a:solidFill>
              </a:rPr>
              <a:t>such as </a:t>
            </a:r>
            <a:r>
              <a:rPr lang="en-GB" sz="1000" dirty="0">
                <a:solidFill>
                  <a:srgbClr val="FF0000"/>
                </a:solidFill>
              </a:rPr>
              <a:t>SPI or I2C™</a:t>
            </a:r>
          </a:p>
          <a:p>
            <a:r>
              <a:rPr lang="en-GB" sz="1000" u="sng" dirty="0">
                <a:solidFill>
                  <a:srgbClr val="FF0000"/>
                </a:solidFill>
              </a:rPr>
              <a:t>6. </a:t>
            </a:r>
            <a:r>
              <a:rPr lang="en-GB" sz="1000" dirty="0">
                <a:solidFill>
                  <a:srgbClr val="FF0000"/>
                </a:solidFill>
              </a:rPr>
              <a:t>5 </a:t>
            </a:r>
            <a:r>
              <a:rPr lang="en-GB" sz="1000" dirty="0" smtClean="0">
                <a:solidFill>
                  <a:srgbClr val="FF0000"/>
                </a:solidFill>
              </a:rPr>
              <a:t>k </a:t>
            </a:r>
            <a:r>
              <a:rPr lang="en-GB" sz="1000" dirty="0">
                <a:solidFill>
                  <a:srgbClr val="FF0000"/>
                </a:solidFill>
              </a:rPr>
              <a:t>pot for devices with </a:t>
            </a:r>
            <a:r>
              <a:rPr lang="en-GB" sz="1000" dirty="0" err="1">
                <a:solidFill>
                  <a:srgbClr val="FF0000"/>
                </a:solidFill>
              </a:rPr>
              <a:t>analog</a:t>
            </a:r>
            <a:r>
              <a:rPr lang="en-GB" sz="1000" dirty="0">
                <a:solidFill>
                  <a:srgbClr val="FF0000"/>
                </a:solidFill>
              </a:rPr>
              <a:t> inputs</a:t>
            </a:r>
          </a:p>
          <a:p>
            <a:r>
              <a:rPr lang="en-GB" sz="1000" dirty="0">
                <a:solidFill>
                  <a:srgbClr val="FF0000"/>
                </a:solidFill>
              </a:rPr>
              <a:t>7. Three push button switches for external stimulus and Reset</a:t>
            </a:r>
          </a:p>
          <a:p>
            <a:r>
              <a:rPr lang="en-GB" sz="1000" dirty="0"/>
              <a:t>8. </a:t>
            </a:r>
            <a:r>
              <a:rPr lang="en-GB" sz="1000" dirty="0">
                <a:solidFill>
                  <a:srgbClr val="FF0000"/>
                </a:solidFill>
              </a:rPr>
              <a:t>Power-on indicator LED</a:t>
            </a:r>
          </a:p>
          <a:p>
            <a:r>
              <a:rPr lang="en-GB" sz="1000" dirty="0">
                <a:solidFill>
                  <a:srgbClr val="FF0000"/>
                </a:solidFill>
              </a:rPr>
              <a:t>9. Four LEDs connected to PORTB</a:t>
            </a:r>
          </a:p>
          <a:p>
            <a:r>
              <a:rPr lang="en-GB" sz="1000" dirty="0"/>
              <a:t>10. On-board external oscillators including:</a:t>
            </a:r>
          </a:p>
          <a:p>
            <a:r>
              <a:rPr lang="en-GB" sz="1000" dirty="0"/>
              <a:t>a) Unpopulated DIP socket for canned crystal oscillator (Y2)</a:t>
            </a:r>
          </a:p>
          <a:p>
            <a:r>
              <a:rPr lang="en-GB" sz="1000" dirty="0"/>
              <a:t>b) RC oscillator circuit (R4, C3)</a:t>
            </a:r>
          </a:p>
          <a:p>
            <a:r>
              <a:rPr lang="en-GB" sz="1000" dirty="0"/>
              <a:t>c) Unpopulated holes for crystal connection (Y1)</a:t>
            </a:r>
          </a:p>
          <a:p>
            <a:r>
              <a:rPr lang="en-GB" sz="1000" dirty="0"/>
              <a:t>d) 32.768 kHz crystal for Timer1 clock operation (Y3)</a:t>
            </a:r>
            <a:br>
              <a:rPr lang="en-GB" sz="1000" dirty="0"/>
            </a:br>
            <a:r>
              <a:rPr lang="en-GB" sz="1000" b="1" dirty="0">
                <a:solidFill>
                  <a:srgbClr val="FF0000"/>
                </a:solidFill>
              </a:rPr>
              <a:t>11. 32K x 8 Serial EEPROM</a:t>
            </a:r>
          </a:p>
          <a:p>
            <a:r>
              <a:rPr lang="en-GB" sz="1000" dirty="0">
                <a:solidFill>
                  <a:srgbClr val="FF0000"/>
                </a:solidFill>
              </a:rPr>
              <a:t>12. LCD display</a:t>
            </a:r>
          </a:p>
          <a:p>
            <a:r>
              <a:rPr lang="en-GB" sz="1000" dirty="0"/>
              <a:t>13. </a:t>
            </a:r>
            <a:r>
              <a:rPr lang="en-GB" sz="1000" dirty="0" err="1"/>
              <a:t>Piezo</a:t>
            </a:r>
            <a:r>
              <a:rPr lang="en-GB" sz="1000" dirty="0"/>
              <a:t> buzzer</a:t>
            </a:r>
          </a:p>
          <a:p>
            <a:r>
              <a:rPr lang="en-GB" sz="1000" dirty="0"/>
              <a:t>14. Prototype area for user hardware</a:t>
            </a:r>
          </a:p>
          <a:p>
            <a:r>
              <a:rPr lang="en-GB" sz="1000" dirty="0"/>
              <a:t>15. Expansion Header for </a:t>
            </a:r>
            <a:r>
              <a:rPr lang="en-GB" sz="1000" dirty="0" err="1"/>
              <a:t>PICtail</a:t>
            </a:r>
            <a:r>
              <a:rPr lang="en-GB" sz="1000" dirty="0"/>
              <a:t>™ daughter card connectivity or user access </a:t>
            </a:r>
            <a:r>
              <a:rPr lang="en-GB" sz="1000" dirty="0" smtClean="0"/>
              <a:t>to MCU </a:t>
            </a:r>
            <a:r>
              <a:rPr lang="en-GB" sz="1000" dirty="0"/>
              <a:t>pins</a:t>
            </a:r>
          </a:p>
          <a:p>
            <a:r>
              <a:rPr lang="en-GB" sz="1000" b="1" u="sng" dirty="0">
                <a:solidFill>
                  <a:srgbClr val="FF0000"/>
                </a:solidFill>
              </a:rPr>
              <a:t>16. Microchip TC74 thermal </a:t>
            </a:r>
            <a:r>
              <a:rPr lang="en-GB" sz="1000" b="1" u="sng" dirty="0" smtClean="0">
                <a:solidFill>
                  <a:srgbClr val="FF0000"/>
                </a:solidFill>
              </a:rPr>
              <a:t>sensor</a:t>
            </a:r>
            <a:br>
              <a:rPr lang="en-GB" sz="1000" b="1" u="sng" dirty="0" smtClean="0">
                <a:solidFill>
                  <a:srgbClr val="FF0000"/>
                </a:solidFill>
              </a:rPr>
            </a:br>
            <a:endParaRPr lang="en-GB" sz="1000" b="1" u="sng" dirty="0" smtClean="0">
              <a:solidFill>
                <a:srgbClr val="FF0000"/>
              </a:solidFill>
            </a:endParaRPr>
          </a:p>
          <a:p>
            <a:r>
              <a:rPr lang="en-GB" sz="1000" b="1" u="sng" dirty="0" smtClean="0">
                <a:solidFill>
                  <a:srgbClr val="FF0000"/>
                </a:solidFill>
              </a:rPr>
              <a:t>Plus SPI GLCD</a:t>
            </a:r>
            <a:endParaRPr lang="en-GB" sz="1000" b="1" u="sng" dirty="0">
              <a:solidFill>
                <a:srgbClr val="FF0000"/>
              </a:solidFill>
            </a:endParaRPr>
          </a:p>
        </p:txBody>
      </p:sp>
      <p:sp>
        <p:nvSpPr>
          <p:cNvPr id="2" name="Oval 1"/>
          <p:cNvSpPr/>
          <p:nvPr/>
        </p:nvSpPr>
        <p:spPr>
          <a:xfrm>
            <a:off x="1441760" y="2445270"/>
            <a:ext cx="21602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23528" y="2565676"/>
            <a:ext cx="21602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50" b="1" dirty="0" smtClean="0">
                <a:solidFill>
                  <a:srgbClr val="FF0000"/>
                </a:solidFill>
              </a:rPr>
              <a:t>3A</a:t>
            </a:r>
            <a:endParaRPr lang="en-GB" sz="1050" b="1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539552" y="2589286"/>
            <a:ext cx="902208" cy="12040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4102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03003"/>
            <a:ext cx="9144000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853187"/>
            <a:ext cx="6480719" cy="43926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382635" y="1321402"/>
            <a:ext cx="1152128" cy="79756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1475656" y="1203597"/>
            <a:ext cx="720080" cy="64807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14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03003"/>
            <a:ext cx="9143999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1033079"/>
            <a:ext cx="421005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699543"/>
            <a:ext cx="2949645" cy="42484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489390" y="2965624"/>
            <a:ext cx="310983" cy="10772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lIns="0" tIns="0" rIns="0" bIns="0" rtlCol="0">
            <a:spAutoFit/>
          </a:bodyPr>
          <a:lstStyle/>
          <a:p>
            <a:r>
              <a:rPr lang="en-GB" sz="700" dirty="0" smtClean="0"/>
              <a:t>VDDIO2</a:t>
            </a:r>
            <a:endParaRPr lang="en-GB" sz="7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652120" y="3939902"/>
            <a:ext cx="144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ight Arrow 2"/>
          <p:cNvSpPr/>
          <p:nvPr/>
        </p:nvSpPr>
        <p:spPr>
          <a:xfrm>
            <a:off x="685776" y="2996625"/>
            <a:ext cx="576064" cy="45719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356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VDDIO2 Domain Power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3995936" y="2100649"/>
            <a:ext cx="3372590" cy="8771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 smtClean="0"/>
              <a:t>Think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No VDDIO2 power – no domain I/O!</a:t>
            </a:r>
            <a:endParaRPr lang="en-GB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68" y="987574"/>
            <a:ext cx="3213668" cy="3988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6063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Millis()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39552" y="1563638"/>
            <a:ext cx="7416824" cy="3456384"/>
          </a:xfrm>
          <a:solidFill>
            <a:schemeClr val="bg1"/>
          </a:solidFill>
        </p:spPr>
        <p:txBody>
          <a:bodyPr vert="horz" lIns="85064" tIns="42531" rIns="85064" bIns="42531" rtlCol="0">
            <a:noAutofit/>
          </a:bodyPr>
          <a:lstStyle/>
          <a:p>
            <a:pPr marL="266700" indent="-174625" defTabSz="898525">
              <a:spcBef>
                <a:spcPts val="0"/>
              </a:spcBef>
            </a:pPr>
            <a:r>
              <a:rPr lang="en-GB" sz="1600" dirty="0"/>
              <a:t>Returns milliseconds since program start/reset</a:t>
            </a:r>
          </a:p>
          <a:p>
            <a:pPr marL="566738" lvl="1" indent="-174625" defTabSz="898525">
              <a:spcBef>
                <a:spcPts val="0"/>
              </a:spcBef>
            </a:pPr>
            <a:r>
              <a:rPr lang="en-GB" sz="1100" dirty="0"/>
              <a:t>like </a:t>
            </a:r>
            <a:r>
              <a:rPr lang="en-GB" sz="1100" dirty="0" err="1"/>
              <a:t>Arduino's</a:t>
            </a:r>
            <a:r>
              <a:rPr lang="en-GB" sz="1100" dirty="0"/>
              <a:t> timing for GCBASIC</a:t>
            </a:r>
          </a:p>
          <a:p>
            <a:pPr marL="566738" lvl="1" indent="-174625" defTabSz="898525">
              <a:spcBef>
                <a:spcPts val="0"/>
              </a:spcBef>
            </a:pPr>
            <a:endParaRPr lang="en-GB" sz="1100" dirty="0"/>
          </a:p>
          <a:p>
            <a:pPr marL="266700" indent="-174625" defTabSz="898525">
              <a:spcBef>
                <a:spcPts val="0"/>
              </a:spcBef>
            </a:pPr>
            <a:r>
              <a:rPr lang="en-GB" sz="1600" dirty="0"/>
              <a:t>Key Benefit</a:t>
            </a:r>
          </a:p>
          <a:p>
            <a:pPr marL="566738" lvl="1" indent="-174625" defTabSz="898525">
              <a:spcBef>
                <a:spcPts val="0"/>
              </a:spcBef>
            </a:pPr>
            <a:r>
              <a:rPr lang="en-GB" sz="1100" dirty="0"/>
              <a:t>Non-blocking delays for multitasking</a:t>
            </a:r>
          </a:p>
          <a:p>
            <a:pPr marL="566738" lvl="1" indent="-174625" defTabSz="898525">
              <a:spcBef>
                <a:spcPts val="0"/>
              </a:spcBef>
            </a:pPr>
            <a:r>
              <a:rPr lang="en-GB" sz="1100" dirty="0"/>
              <a:t>no code halts</a:t>
            </a:r>
          </a:p>
          <a:p>
            <a:pPr marL="566738" lvl="1" indent="-174625" defTabSz="898525">
              <a:spcBef>
                <a:spcPts val="0"/>
              </a:spcBef>
            </a:pPr>
            <a:r>
              <a:rPr lang="en-GB" sz="1100" dirty="0"/>
              <a:t>unlike </a:t>
            </a:r>
            <a:r>
              <a:rPr lang="en-GB" sz="1100" dirty="0" err="1"/>
              <a:t>DelayMS</a:t>
            </a:r>
            <a:endParaRPr lang="en-GB" sz="1100" dirty="0"/>
          </a:p>
          <a:p>
            <a:pPr marL="566738" lvl="1" indent="-174625" defTabSz="898525">
              <a:spcBef>
                <a:spcPts val="0"/>
              </a:spcBef>
            </a:pPr>
            <a:endParaRPr lang="en-GB" sz="1100" dirty="0"/>
          </a:p>
          <a:p>
            <a:pPr marL="266700" indent="-174625" defTabSz="898525">
              <a:spcBef>
                <a:spcPts val="0"/>
              </a:spcBef>
            </a:pPr>
            <a:r>
              <a:rPr lang="en-GB" sz="1600" dirty="0"/>
              <a:t>Return Type</a:t>
            </a:r>
          </a:p>
          <a:p>
            <a:pPr marL="566738" lvl="1" indent="-174625" defTabSz="898525">
              <a:spcBef>
                <a:spcPts val="0"/>
              </a:spcBef>
            </a:pPr>
            <a:r>
              <a:rPr lang="en-GB" sz="1100" dirty="0"/>
              <a:t>32-bit unsigned long (0–4.3B </a:t>
            </a:r>
            <a:r>
              <a:rPr lang="en-GB" sz="1100" dirty="0" err="1"/>
              <a:t>ms</a:t>
            </a:r>
            <a:r>
              <a:rPr lang="en-GB" sz="1100" dirty="0"/>
              <a:t>)</a:t>
            </a:r>
          </a:p>
          <a:p>
            <a:pPr marL="566738" lvl="1" indent="-174625" defTabSz="898525">
              <a:spcBef>
                <a:spcPts val="0"/>
              </a:spcBef>
            </a:pPr>
            <a:r>
              <a:rPr lang="en-GB" sz="1100" dirty="0"/>
              <a:t>1ms precision via timers</a:t>
            </a:r>
          </a:p>
          <a:p>
            <a:pPr marL="566738" lvl="1" indent="-174625" defTabSz="898525">
              <a:spcBef>
                <a:spcPts val="0"/>
              </a:spcBef>
            </a:pPr>
            <a:endParaRPr lang="en-GB" sz="1100" dirty="0"/>
          </a:p>
          <a:p>
            <a:pPr marL="266700" indent="-174625" defTabSz="898525">
              <a:spcBef>
                <a:spcPts val="0"/>
              </a:spcBef>
            </a:pPr>
            <a:r>
              <a:rPr lang="en-GB" sz="1600" dirty="0"/>
              <a:t>Time Limit</a:t>
            </a:r>
          </a:p>
          <a:p>
            <a:pPr marL="566738" lvl="1" indent="-174625" defTabSz="898525">
              <a:spcBef>
                <a:spcPts val="0"/>
              </a:spcBef>
            </a:pPr>
            <a:r>
              <a:rPr lang="en-GB" sz="1100" dirty="0"/>
              <a:t>~49.7 days before overflow</a:t>
            </a:r>
          </a:p>
          <a:p>
            <a:pPr marL="566738" lvl="1" indent="-174625" defTabSz="898525">
              <a:spcBef>
                <a:spcPts val="0"/>
              </a:spcBef>
            </a:pPr>
            <a:r>
              <a:rPr lang="en-GB" sz="1100" dirty="0"/>
              <a:t>Resets on power cycle.</a:t>
            </a:r>
          </a:p>
        </p:txBody>
      </p:sp>
    </p:spTree>
    <p:extLst>
      <p:ext uri="{BB962C8B-B14F-4D97-AF65-F5344CB8AC3E}">
        <p14:creationId xmlns:p14="http://schemas.microsoft.com/office/powerpoint/2010/main" val="3780033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/>
              <a:t>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Walk the example </a:t>
            </a:r>
          </a:p>
        </p:txBody>
      </p:sp>
    </p:spTree>
    <p:extLst>
      <p:ext uri="{BB962C8B-B14F-4D97-AF65-F5344CB8AC3E}">
        <p14:creationId xmlns:p14="http://schemas.microsoft.com/office/powerpoint/2010/main" val="3369390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Principles of Interrupts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39552" y="1563638"/>
            <a:ext cx="7416824" cy="3456384"/>
          </a:xfrm>
          <a:solidFill>
            <a:schemeClr val="bg1"/>
          </a:solidFill>
        </p:spPr>
        <p:txBody>
          <a:bodyPr vert="horz" lIns="85064" tIns="42531" rIns="85064" bIns="42531" rtlCol="0">
            <a:noAutofit/>
          </a:bodyPr>
          <a:lstStyle/>
          <a:p>
            <a:pPr marL="266700" indent="-174625" defTabSz="898525">
              <a:spcBef>
                <a:spcPts val="0"/>
              </a:spcBef>
            </a:pPr>
            <a:r>
              <a:rPr lang="en-GB" sz="1100" b="1" dirty="0"/>
              <a:t>Interrupts are events that alter the normal execution flow of a program to respond to external or internal events.</a:t>
            </a:r>
          </a:p>
          <a:p>
            <a:pPr marL="266700" indent="-174625" defTabSz="898525">
              <a:spcBef>
                <a:spcPts val="0"/>
              </a:spcBef>
            </a:pPr>
            <a:endParaRPr lang="en-GB" sz="1100" b="1" dirty="0"/>
          </a:p>
          <a:p>
            <a:pPr marL="266700" indent="-174625" defTabSz="898525">
              <a:spcBef>
                <a:spcPts val="0"/>
              </a:spcBef>
            </a:pPr>
            <a:r>
              <a:rPr lang="en-GB" sz="1100" b="1" dirty="0"/>
              <a:t>Advantages</a:t>
            </a:r>
          </a:p>
          <a:p>
            <a:pPr marL="566737" lvl="2" indent="-174625" defTabSz="898525">
              <a:spcBef>
                <a:spcPts val="0"/>
              </a:spcBef>
            </a:pPr>
            <a:r>
              <a:rPr lang="en-GB" dirty="0"/>
              <a:t>Immediate response to critical events</a:t>
            </a:r>
          </a:p>
          <a:p>
            <a:pPr marL="566737" lvl="2" indent="-174625" defTabSz="898525">
              <a:spcBef>
                <a:spcPts val="0"/>
              </a:spcBef>
            </a:pPr>
            <a:r>
              <a:rPr lang="en-GB" dirty="0"/>
              <a:t>Efficient use of the microcontroller's resources</a:t>
            </a:r>
            <a:endParaRPr lang="en-GB" b="1" dirty="0"/>
          </a:p>
          <a:p>
            <a:pPr marL="266700" indent="-174625" defTabSz="898525">
              <a:spcBef>
                <a:spcPts val="0"/>
              </a:spcBef>
            </a:pPr>
            <a:endParaRPr lang="en-GB" sz="1100" b="1" dirty="0"/>
          </a:p>
          <a:p>
            <a:pPr marL="266700" indent="-174625" defTabSz="898525">
              <a:spcBef>
                <a:spcPts val="0"/>
              </a:spcBef>
            </a:pPr>
            <a:r>
              <a:rPr lang="en-GB" sz="1100" b="1" dirty="0"/>
              <a:t>Types of Interrupts</a:t>
            </a:r>
          </a:p>
          <a:p>
            <a:pPr marL="566737" lvl="2" indent="-174625" defTabSz="898525">
              <a:spcBef>
                <a:spcPts val="0"/>
              </a:spcBef>
            </a:pPr>
            <a:r>
              <a:rPr lang="en-GB" dirty="0"/>
              <a:t>External Interrupts: Triggered by events on external pins (RB0/INT0, RB1/INT1, etc.)</a:t>
            </a:r>
          </a:p>
          <a:p>
            <a:pPr marL="566737" lvl="2" indent="-174625" defTabSz="898525">
              <a:spcBef>
                <a:spcPts val="0"/>
              </a:spcBef>
            </a:pPr>
            <a:r>
              <a:rPr lang="en-GB" dirty="0"/>
              <a:t>Timer Interrupts: Triggered by timer overflows or matches</a:t>
            </a:r>
          </a:p>
          <a:p>
            <a:pPr marL="566737" lvl="2" indent="-174625" defTabSz="898525">
              <a:spcBef>
                <a:spcPts val="0"/>
              </a:spcBef>
            </a:pPr>
            <a:r>
              <a:rPr lang="en-GB" dirty="0"/>
              <a:t>Peripheral Interrupts: Triggered by events from peripherals (USART, ADC, etc.)</a:t>
            </a:r>
          </a:p>
          <a:p>
            <a:pPr marL="566737" lvl="2" indent="-174625" defTabSz="898525">
              <a:spcBef>
                <a:spcPts val="0"/>
              </a:spcBef>
            </a:pPr>
            <a:r>
              <a:rPr lang="en-GB" dirty="0"/>
              <a:t>Software Interrupts: Triggered by software instructions</a:t>
            </a:r>
            <a:endParaRPr lang="en-GB" b="1" dirty="0"/>
          </a:p>
          <a:p>
            <a:pPr marL="266700" indent="-174625" defTabSz="898525">
              <a:spcBef>
                <a:spcPts val="0"/>
              </a:spcBef>
            </a:pPr>
            <a:endParaRPr lang="en-GB" sz="1100" b="1" dirty="0"/>
          </a:p>
          <a:p>
            <a:pPr marL="266700" indent="-174625" defTabSz="898525">
              <a:spcBef>
                <a:spcPts val="0"/>
              </a:spcBef>
            </a:pPr>
            <a:r>
              <a:rPr lang="en-GB" sz="1100" b="1" dirty="0"/>
              <a:t>Key Registers</a:t>
            </a:r>
          </a:p>
          <a:p>
            <a:pPr marL="566737" lvl="2" indent="-174625" defTabSz="898525">
              <a:spcBef>
                <a:spcPts val="0"/>
              </a:spcBef>
            </a:pPr>
            <a:r>
              <a:rPr lang="en-GB" dirty="0"/>
              <a:t>INTCON: Controls global interrupt enable and individual interrupt flags</a:t>
            </a:r>
          </a:p>
          <a:p>
            <a:pPr marL="566737" lvl="2" indent="-174625" defTabSz="898525">
              <a:spcBef>
                <a:spcPts val="0"/>
              </a:spcBef>
            </a:pPr>
            <a:r>
              <a:rPr lang="en-GB" dirty="0"/>
              <a:t>PIE1, PIE2: Peripheral Interrupt Enable registers</a:t>
            </a:r>
          </a:p>
          <a:p>
            <a:pPr marL="566737" lvl="2" indent="-174625" defTabSz="898525">
              <a:spcBef>
                <a:spcPts val="0"/>
              </a:spcBef>
            </a:pPr>
            <a:r>
              <a:rPr lang="en-GB" dirty="0"/>
              <a:t>PIR1, PIR2: Peripheral Interrupt Request (flag) registers</a:t>
            </a:r>
            <a:endParaRPr lang="en-GB" b="1" dirty="0"/>
          </a:p>
          <a:p>
            <a:pPr marL="266700" indent="-174625" defTabSz="898525">
              <a:spcBef>
                <a:spcPts val="0"/>
              </a:spcBef>
            </a:pPr>
            <a:endParaRPr lang="en-GB" sz="1100" b="1" dirty="0"/>
          </a:p>
          <a:p>
            <a:pPr marL="266700" indent="-174625" defTabSz="898525">
              <a:spcBef>
                <a:spcPts val="0"/>
              </a:spcBef>
            </a:pPr>
            <a:r>
              <a:rPr lang="en-GB" sz="1100" b="1" dirty="0"/>
              <a:t>Interrupt Service Routine (ISR)</a:t>
            </a:r>
          </a:p>
          <a:p>
            <a:pPr marL="566737" lvl="2" indent="-174625" defTabSz="898525">
              <a:spcBef>
                <a:spcPts val="0"/>
              </a:spcBef>
            </a:pPr>
            <a:r>
              <a:rPr lang="en-GB" dirty="0"/>
              <a:t>Special function that executes when an interrupt occurs</a:t>
            </a:r>
          </a:p>
          <a:p>
            <a:pPr marL="566737" lvl="2" indent="-174625" defTabSz="898525">
              <a:spcBef>
                <a:spcPts val="0"/>
              </a:spcBef>
            </a:pPr>
            <a:r>
              <a:rPr lang="en-GB" dirty="0"/>
              <a:t>Must be as short and efficient as possible to avoid delaying other operations</a:t>
            </a:r>
          </a:p>
          <a:p>
            <a:pPr marL="92075" indent="0" defTabSz="898525">
              <a:spcBef>
                <a:spcPts val="0"/>
              </a:spcBef>
              <a:buNone/>
            </a:pPr>
            <a:endParaRPr lang="en-GB" sz="1100" b="1" dirty="0"/>
          </a:p>
        </p:txBody>
      </p:sp>
    </p:spTree>
    <p:extLst>
      <p:ext uri="{BB962C8B-B14F-4D97-AF65-F5344CB8AC3E}">
        <p14:creationId xmlns:p14="http://schemas.microsoft.com/office/powerpoint/2010/main" val="2429066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Interrupts…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67545" y="915566"/>
            <a:ext cx="3384376" cy="3960440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800" dirty="0"/>
              <a:t>For specific details of the interrupts see the microcontroller datasheet</a:t>
            </a:r>
          </a:p>
          <a:p>
            <a:pPr marL="0" indent="0">
              <a:buNone/>
            </a:pPr>
            <a:r>
              <a:rPr lang="en-GB" sz="800" dirty="0"/>
              <a:t>The first parameter is the GCBASIC identifier used in user code to expose the specific interrupt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800" dirty="0"/>
              <a:t>16bitUniversalTimerAInterrupt:TU16AIE,TU16AIF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800" dirty="0"/>
              <a:t>16bitUniversalTimerBInterrupt:TU16BIE,TU16BIF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800" dirty="0" err="1"/>
              <a:t>ADCReady:ADIE,ADIF</a:t>
            </a:r>
            <a:endParaRPr lang="en-GB" sz="800" dirty="0"/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800" dirty="0" err="1"/>
              <a:t>ADThreshold:ADTIE,ADTIF</a:t>
            </a:r>
            <a:endParaRPr lang="en-GB" sz="800" dirty="0"/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800" dirty="0" err="1"/>
              <a:t>ActiveClockTuning:ACTIE,ACTIF</a:t>
            </a:r>
            <a:endParaRPr lang="en-GB" sz="800" dirty="0"/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800" dirty="0"/>
              <a:t>CCP1:CCP1IE,CCP1IF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800" dirty="0"/>
              <a:t>CLB0:CLB0IE,CLB0IF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800" dirty="0"/>
              <a:t>CLB1:CLB1IE,CLB1IF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800" dirty="0"/>
              <a:t>CLB2:CLB2IE,CLB2IF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800" dirty="0"/>
              <a:t>CLB3:CLB3IE,CLB3IF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800" dirty="0" err="1"/>
              <a:t>CRCComplete:CRCIE,CRCIF</a:t>
            </a:r>
            <a:endParaRPr lang="en-GB" sz="800" dirty="0"/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800" dirty="0"/>
              <a:t>CWG1ShutDown:CWG1IE,CWG1IF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800" dirty="0" err="1"/>
              <a:t>ClockSwitchComplete:CSWIE,CSWIF</a:t>
            </a:r>
            <a:endParaRPr lang="en-GB" sz="800" dirty="0"/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800" dirty="0"/>
              <a:t>Comp1Change:C1IE,C1IF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800" dirty="0"/>
              <a:t>Comp2Change:C2IE,C2IF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800" dirty="0"/>
              <a:t>DMA1AbortInterrupt:DMA1AIE,DMA1AIF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800" dirty="0"/>
              <a:t>DMA1DestinationCountInterrupt:DMA1DCNTIE,DMA1DCNTIF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800" dirty="0"/>
              <a:t>DMA1OverrunInterrupt:DMA1ORIE,DMA1ORIF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800" dirty="0"/>
              <a:t>DMA1SourceCountInterrupt:DMA1SCNTIE,DMA1SCNTIF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800" dirty="0"/>
              <a:t>DMA2AbortInterrupt:DMA2AIE,DMA2AIF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800" dirty="0"/>
              <a:t>DMA2DestinationCountInterrupt:DMA2DCNTIE,DMA2DCNTIF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800" dirty="0"/>
              <a:t>DMA2OverrunInterrupt:DMA2ORIE,DMA2ORIF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800" dirty="0"/>
              <a:t>DMA2SourceCountInterrupt:DMA2SCNTIE,DMA2SCNTIF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800" dirty="0"/>
              <a:t>DMA3AbortInterrupt:DMA3AIE,DMA3AIF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800" dirty="0"/>
              <a:t>DMA3DestinationCountInterrupt:DMA3DCNTIE,DMA3DCNTIF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800" dirty="0"/>
              <a:t>DMA3OverrunInterrupt:DMA3ORIE,DMA3ORIF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800" dirty="0"/>
              <a:t>DMA3SourceCountInterrupt:DMA3SCNTIE,DMA3SCNTIF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800" dirty="0" smtClean="0"/>
              <a:t>DMA4AbortInterrupt:DMA4AIE,DMA4AIF</a:t>
            </a:r>
            <a:endParaRPr lang="en-GB" sz="800" dirty="0"/>
          </a:p>
        </p:txBody>
      </p:sp>
      <p:sp>
        <p:nvSpPr>
          <p:cNvPr id="4" name="Content Placeholder 5"/>
          <p:cNvSpPr txBox="1">
            <a:spLocks/>
          </p:cNvSpPr>
          <p:nvPr/>
        </p:nvSpPr>
        <p:spPr>
          <a:xfrm>
            <a:off x="3779912" y="492622"/>
            <a:ext cx="3250702" cy="4536504"/>
          </a:xfrm>
          <a:prstGeom prst="rect">
            <a:avLst/>
          </a:prstGeom>
          <a:solidFill>
            <a:schemeClr val="bg1"/>
          </a:solidFill>
        </p:spPr>
        <p:txBody>
          <a:bodyPr vert="horz" lIns="85064" tIns="42531" rIns="85064" bIns="42531" rtlCol="0">
            <a:noAutofit/>
          </a:bodyPr>
          <a:lstStyle>
            <a:lvl1pPr marL="318988" indent="-318988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1142" indent="-265824" algn="l" defTabSz="850636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3295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88614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3932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9250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64568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89887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15205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/>
              <a:t>DMA4DestinationCountInterrupt:DMA4DCNTIE,DMA4DCNTIF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/>
              <a:t>DMA4OverrunInterrupt:DMA4ORIE,DMA4ORIF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/>
              <a:t>DMA4SourceCountInterrupt:DMA4SCNTIE,DMA4SCNTIF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/>
              <a:t>ExtInt0:INT0IE,INT0IF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/>
              <a:t>ExtInt1:INT1IE,INT1IF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/>
              <a:t>ExtInt2:INT2IE,INT2IF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/>
              <a:t>I2C1ErrorInterrupt:I2C1EIE,I2C1EIF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/>
              <a:t>I2C1Interrupt:I2C1IE,I2C1IF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/>
              <a:t>I2C1ReceiveInterrupt:I2C1RXIE,I2C1RXIF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/>
              <a:t>I2C1TransmitInterrupt:I2C1TXIE,I2C1TXIF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/>
              <a:t>LogicCell1Event:CLC1IE,CLC1IF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/>
              <a:t>LogicCell2Event:CLC2IE,CLC2IF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/>
              <a:t>LogicCell3Event:CLC3IE,CLC3IF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/>
              <a:t>LogicCell4Event:CLC4IE,CLC4IF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/>
              <a:t>LogicCell5Event:CLC5IE,CLC5IF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/>
              <a:t>LogicCell6Event:CLC6IE,CLC6IF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/>
              <a:t>LogicCell7Event:CLC7IE,CLC7IF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/>
              <a:t>LogicCell8Event:CLC8IE,CLC8IF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 err="1"/>
              <a:t>NVMComplete:NVMIE,NVMIF</a:t>
            </a:r>
            <a:endParaRPr lang="en-GB" sz="800" dirty="0"/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/>
              <a:t>NumericOscOverflow:NCO1IE,NCO1IF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 err="1"/>
              <a:t>OscillatorFail:OSFIE,OSFIF</a:t>
            </a:r>
            <a:endParaRPr lang="en-GB" sz="800" dirty="0"/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 err="1"/>
              <a:t>PORTABChange:IOCIE,IOCIF</a:t>
            </a:r>
            <a:endParaRPr lang="en-GB" sz="800" dirty="0"/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/>
              <a:t>PWM1MatchEvent:PWM1IE,PWM1IF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/>
              <a:t>PWM2MatchEvent:PWM2IE,PWM2IF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/>
              <a:t>PWM2PeriodEvent:PWM2PIE,PWM2PIF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/>
              <a:t>PWMPeriodEvent:PWM1PIE,PWM1PIF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 err="1"/>
              <a:t>PortChange:IOCIE,IOCIF</a:t>
            </a:r>
            <a:endParaRPr lang="en-GB" sz="800" dirty="0"/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/>
              <a:t>SPIInterrupt:SPI1IE,SPI1IF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/>
              <a:t>SPIReceiveInterrupt:SPI1RXIE,SPI1RXIF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/>
              <a:t>SPITransmitInterrupt:SPI1TXIE,SPI1TXIF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 err="1"/>
              <a:t>ScanComplete:SCANIE,SCANIF</a:t>
            </a:r>
            <a:endParaRPr lang="en-GB" sz="800" dirty="0"/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 err="1"/>
              <a:t>SignalRoutingPortIOC:IOCSRIE,IOCSRIF</a:t>
            </a:r>
            <a:endParaRPr lang="en-GB" sz="800" dirty="0"/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 err="1"/>
              <a:t>SoftwareInterrupt:SWIE,SWIF</a:t>
            </a:r>
            <a:endParaRPr lang="en-GB" sz="800" dirty="0"/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/>
              <a:t>Timer0Overflow:TMR0IE,TMR0IF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9"/>
            </a:pPr>
            <a:r>
              <a:rPr lang="en-GB" sz="800" dirty="0" smtClean="0"/>
              <a:t>Timer1Gate:TMR1GIE,TMR1GIF</a:t>
            </a:r>
            <a:endParaRPr lang="en-GB" sz="800" dirty="0"/>
          </a:p>
        </p:txBody>
      </p:sp>
      <p:sp>
        <p:nvSpPr>
          <p:cNvPr id="5" name="Content Placeholder 5"/>
          <p:cNvSpPr txBox="1">
            <a:spLocks/>
          </p:cNvSpPr>
          <p:nvPr/>
        </p:nvSpPr>
        <p:spPr>
          <a:xfrm>
            <a:off x="6516216" y="843558"/>
            <a:ext cx="2627784" cy="2736304"/>
          </a:xfrm>
          <a:prstGeom prst="rect">
            <a:avLst/>
          </a:prstGeom>
          <a:solidFill>
            <a:schemeClr val="bg1"/>
          </a:solidFill>
        </p:spPr>
        <p:txBody>
          <a:bodyPr vert="horz" lIns="85064" tIns="42531" rIns="85064" bIns="42531" rtlCol="0">
            <a:noAutofit/>
          </a:bodyPr>
          <a:lstStyle>
            <a:lvl1pPr marL="318988" indent="-318988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1142" indent="-265824" algn="l" defTabSz="850636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3295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88614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3932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9250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64568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89887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15205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spcBef>
                <a:spcPts val="0"/>
              </a:spcBef>
              <a:buFont typeface="+mj-lt"/>
              <a:buAutoNum type="arabicPeriod" startAt="64"/>
            </a:pPr>
            <a:r>
              <a:rPr lang="en-GB" sz="800" dirty="0" smtClean="0"/>
              <a:t>Timer1Overflow:TMR1IE,TMR1IF</a:t>
            </a:r>
            <a:endParaRPr lang="en-GB" sz="800" dirty="0"/>
          </a:p>
          <a:p>
            <a:pPr marL="228600" indent="-228600">
              <a:spcBef>
                <a:spcPts val="0"/>
              </a:spcBef>
              <a:buFont typeface="+mj-lt"/>
              <a:buAutoNum type="arabicPeriod" startAt="64"/>
            </a:pPr>
            <a:r>
              <a:rPr lang="en-GB" sz="800" dirty="0"/>
              <a:t>Timer2Match:TMR2IE,TMR2IF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64"/>
            </a:pPr>
            <a:r>
              <a:rPr lang="en-GB" sz="800" dirty="0"/>
              <a:t>Timer3Gate:TMR3GIE,TMR3GIF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64"/>
            </a:pPr>
            <a:r>
              <a:rPr lang="en-GB" sz="800" dirty="0"/>
              <a:t>Timer3Overflow:TMR3IE,TMR3IF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64"/>
            </a:pPr>
            <a:r>
              <a:rPr lang="en-GB" sz="800" dirty="0"/>
              <a:t>Timer4Match:TMR4IE,TMR4IF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64"/>
            </a:pPr>
            <a:r>
              <a:rPr lang="en-GB" sz="800" dirty="0"/>
              <a:t>UART1FramingErrorInterrupt:U1EIE,U1EIF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64"/>
            </a:pPr>
            <a:r>
              <a:rPr lang="en-GB" sz="800" dirty="0"/>
              <a:t>UART1Interrupt:U1IE,U1IF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64"/>
            </a:pPr>
            <a:r>
              <a:rPr lang="en-GB" sz="800" dirty="0"/>
              <a:t>UART1ReceiveInterrupt:U1RXIE,U1RXIF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64"/>
            </a:pPr>
            <a:r>
              <a:rPr lang="en-GB" sz="800" dirty="0"/>
              <a:t>UART1TransmitInterrupt:U1TXIE,U1TXIF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64"/>
            </a:pPr>
            <a:r>
              <a:rPr lang="en-GB" sz="800" dirty="0"/>
              <a:t>UART2FramingErrorInterrupt:U2EIE,U2EIF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64"/>
            </a:pPr>
            <a:r>
              <a:rPr lang="en-GB" sz="800" dirty="0"/>
              <a:t>UART2Interrupt:U2IE,U2IF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64"/>
            </a:pPr>
            <a:r>
              <a:rPr lang="en-GB" sz="800" dirty="0"/>
              <a:t>UART2ReceiveInterrupt:U2RXIE,U2RXIF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64"/>
            </a:pPr>
            <a:r>
              <a:rPr lang="en-GB" sz="800" dirty="0"/>
              <a:t>UART2TransmitInterrupt:U2TXIE,U2TXIF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64"/>
            </a:pPr>
            <a:r>
              <a:rPr lang="en-GB" sz="800" dirty="0"/>
              <a:t>VDDIO2LVDFalling:VDDIO2LVDFIE,VDDIO2LVDFIF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64"/>
            </a:pPr>
            <a:r>
              <a:rPr lang="en-GB" sz="800" dirty="0"/>
              <a:t>VDDIO2LVDRising:VDDIO2LVDRIE,VDDIO2LVDRIF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64"/>
            </a:pPr>
            <a:r>
              <a:rPr lang="en-GB" sz="800" dirty="0"/>
              <a:t>VDDIO2PORFalling:VDDIO2PORFIE,VDDIO2PORFIF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64"/>
            </a:pPr>
            <a:r>
              <a:rPr lang="en-GB" sz="800" dirty="0"/>
              <a:t>VDDIO2PORRising:VDDIO2PORRIE,VDDIO2PORRIF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64"/>
            </a:pPr>
            <a:r>
              <a:rPr lang="en-GB" sz="800" dirty="0" err="1"/>
              <a:t>VoltageFail:HLVDIE,HLVDIF</a:t>
            </a:r>
            <a:endParaRPr lang="en-GB" sz="800" dirty="0"/>
          </a:p>
          <a:p>
            <a:pPr marL="228600" indent="-228600">
              <a:spcBef>
                <a:spcPts val="0"/>
              </a:spcBef>
              <a:buFont typeface="+mj-lt"/>
              <a:buAutoNum type="arabicPeriod" startAt="64"/>
            </a:pPr>
            <a:r>
              <a:rPr lang="en-GB" sz="800" dirty="0"/>
              <a:t>ZCD1:ZCD1IE,ZCD1IF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64"/>
            </a:pPr>
            <a:endParaRPr lang="en-GB" sz="800" dirty="0"/>
          </a:p>
          <a:p>
            <a:pPr marL="0" indent="0">
              <a:buNone/>
            </a:pPr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1291147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11510"/>
            <a:ext cx="5400600" cy="558552"/>
          </a:xfrm>
        </p:spPr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External Interrupt (INT0)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 vert="horz" lIns="85064" tIns="42531" rIns="85064" bIns="42531" rtlCol="0">
            <a:noAutofit/>
          </a:bodyPr>
          <a:lstStyle/>
          <a:p>
            <a:pPr marL="266700" indent="-174625" defTabSz="898525"/>
            <a:r>
              <a:rPr lang="en-GB" sz="1400" dirty="0"/>
              <a:t>Detects changes in the state of </a:t>
            </a:r>
            <a:r>
              <a:rPr lang="en-GB" sz="1400" dirty="0" smtClean="0"/>
              <a:t>external signal</a:t>
            </a:r>
            <a:endParaRPr lang="en-GB" sz="1400" dirty="0"/>
          </a:p>
          <a:p>
            <a:pPr marL="266700" indent="-174625" defTabSz="898525"/>
            <a:endParaRPr lang="en-GB" sz="1400" dirty="0"/>
          </a:p>
          <a:p>
            <a:pPr marL="266700" indent="-174625" defTabSz="898525"/>
            <a:r>
              <a:rPr lang="en-GB" sz="1400" dirty="0"/>
              <a:t>Key Points</a:t>
            </a:r>
          </a:p>
          <a:p>
            <a:pPr marL="638854" lvl="1" indent="-174625" defTabSz="898525"/>
            <a:r>
              <a:rPr lang="en-GB" sz="1200" dirty="0"/>
              <a:t>Configuration: Set IO </a:t>
            </a:r>
            <a:r>
              <a:rPr lang="en-GB" sz="1200" dirty="0" err="1"/>
              <a:t>port.pin</a:t>
            </a:r>
            <a:r>
              <a:rPr lang="en-GB" sz="1200" dirty="0"/>
              <a:t> as inputs and configure the correct register for edge detection (rising or falling edge)</a:t>
            </a:r>
          </a:p>
          <a:p>
            <a:pPr marL="266700" indent="-174625" defTabSz="898525"/>
            <a:r>
              <a:rPr lang="en-GB" sz="1400" dirty="0"/>
              <a:t>Interrupt Service Routine (ISR)</a:t>
            </a:r>
          </a:p>
          <a:p>
            <a:pPr marL="638854" lvl="1" indent="-174625" defTabSz="898525"/>
            <a:r>
              <a:rPr lang="en-GB" sz="1200" dirty="0"/>
              <a:t>Handles the interrupt event</a:t>
            </a:r>
          </a:p>
          <a:p>
            <a:pPr marL="266700" indent="-174625" defTabSz="898525"/>
            <a:r>
              <a:rPr lang="en-GB" sz="1400" dirty="0"/>
              <a:t>Global Interrupt Enable (GIE)</a:t>
            </a:r>
          </a:p>
          <a:p>
            <a:pPr marL="638854" lvl="1" indent="-174625" defTabSz="898525"/>
            <a:r>
              <a:rPr lang="en-GB" sz="1200" dirty="0"/>
              <a:t>Enables the microcontroller to respond to interrupts</a:t>
            </a:r>
          </a:p>
          <a:p>
            <a:pPr marL="266700" indent="-174625" defTabSz="898525"/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78285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994142"/>
            <a:ext cx="8905867" cy="3924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Interrupt </a:t>
            </a:r>
            <a:r>
              <a:rPr lang="en-GB" dirty="0" smtClean="0"/>
              <a:t>– INT0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8006928" y="1178923"/>
            <a:ext cx="432048" cy="37399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0" y="4515966"/>
            <a:ext cx="8874678" cy="4243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6709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Interrupt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31590"/>
            <a:ext cx="7598216" cy="4011910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……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/* Interrupt-on-change enabled on the </a:t>
            </a:r>
            <a:r>
              <a:rPr lang="en-GB" sz="800" dirty="0" smtClean="0">
                <a:latin typeface="Courier New" pitchFamily="49" charset="0"/>
                <a:cs typeface="Courier New" pitchFamily="49" charset="0"/>
              </a:rPr>
              <a:t>INT0 pin </a:t>
            </a:r>
            <a:r>
              <a:rPr lang="en-GB" sz="800" dirty="0">
                <a:latin typeface="Courier New" pitchFamily="49" charset="0"/>
                <a:cs typeface="Courier New" pitchFamily="49" charset="0"/>
              </a:rPr>
              <a:t>for a negative-going edge. Associated Status bit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    and interrupt flag will be set upon detecting an edge. */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800" b="1" dirty="0">
                <a:latin typeface="Courier New" pitchFamily="49" charset="0"/>
                <a:cs typeface="Courier New" pitchFamily="49" charset="0"/>
              </a:rPr>
              <a:t>INT0EDG</a:t>
            </a:r>
            <a:r>
              <a:rPr lang="en-GB" sz="800" dirty="0">
                <a:latin typeface="Courier New" pitchFamily="49" charset="0"/>
                <a:cs typeface="Courier New" pitchFamily="49" charset="0"/>
              </a:rPr>
              <a:t> = 0</a:t>
            </a:r>
          </a:p>
          <a:p>
            <a:pPr marL="0" indent="0">
              <a:spcBef>
                <a:spcPts val="0"/>
              </a:spcBef>
              <a:buNone/>
            </a:pPr>
            <a:endParaRPr lang="en-GB" sz="8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GB" sz="8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// Setup the handler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On Interrupt ExtInt0 Call </a:t>
            </a:r>
            <a:r>
              <a:rPr lang="en-GB" sz="800" dirty="0" err="1">
                <a:latin typeface="Courier New" pitchFamily="49" charset="0"/>
                <a:cs typeface="Courier New" pitchFamily="49" charset="0"/>
              </a:rPr>
              <a:t>InterruptHandler</a:t>
            </a:r>
            <a:endParaRPr lang="en-GB" sz="8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GB" sz="8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'Loop forever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Do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    LEDD3 = !LEDD3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    wait 100 </a:t>
            </a:r>
            <a:r>
              <a:rPr lang="en-GB" sz="800" dirty="0" err="1">
                <a:latin typeface="Courier New" pitchFamily="49" charset="0"/>
                <a:cs typeface="Courier New" pitchFamily="49" charset="0"/>
              </a:rPr>
              <a:t>ms</a:t>
            </a:r>
            <a:endParaRPr lang="en-GB" sz="8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Loop</a:t>
            </a:r>
          </a:p>
          <a:p>
            <a:pPr marL="0" indent="0">
              <a:spcBef>
                <a:spcPts val="0"/>
              </a:spcBef>
              <a:buNone/>
            </a:pPr>
            <a:endParaRPr lang="en-GB" sz="8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GB" sz="8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Sub </a:t>
            </a:r>
            <a:r>
              <a:rPr lang="en-GB" sz="800" dirty="0" err="1">
                <a:latin typeface="Courier New" pitchFamily="49" charset="0"/>
                <a:cs typeface="Courier New" pitchFamily="49" charset="0"/>
              </a:rPr>
              <a:t>InterruptHandler</a:t>
            </a:r>
            <a:endParaRPr lang="en-GB" sz="8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GB" sz="8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    'Toggle the LED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    LEDD2 = !LEDD2</a:t>
            </a:r>
          </a:p>
          <a:p>
            <a:pPr marL="0" indent="0">
              <a:spcBef>
                <a:spcPts val="0"/>
              </a:spcBef>
              <a:buNone/>
            </a:pPr>
            <a:endParaRPr lang="en-GB" sz="8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End Sub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 smtClean="0"/>
              <a:t/>
            </a:r>
            <a:br>
              <a:rPr lang="en-GB" sz="800" dirty="0" smtClean="0"/>
            </a:br>
            <a:endParaRPr lang="en-GB" sz="800" dirty="0" smtClean="0"/>
          </a:p>
          <a:p>
            <a:pPr marL="0" indent="0">
              <a:spcBef>
                <a:spcPts val="0"/>
              </a:spcBef>
              <a:buNone/>
            </a:pPr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317179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/>
              <a:t>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Walk the example </a:t>
            </a:r>
          </a:p>
          <a:p>
            <a:r>
              <a:rPr lang="en-GB" sz="2000" dirty="0"/>
              <a:t>View the scope</a:t>
            </a:r>
          </a:p>
        </p:txBody>
      </p:sp>
    </p:spTree>
    <p:extLst>
      <p:ext uri="{BB962C8B-B14F-4D97-AF65-F5344CB8AC3E}">
        <p14:creationId xmlns:p14="http://schemas.microsoft.com/office/powerpoint/2010/main" val="2319042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Videos...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GCLD display solutions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GLCD  display solutions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6  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Millis and Interrupts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storage within the chip – Progmem,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21571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158100"/>
            <a:ext cx="4124707" cy="1234727"/>
          </a:xfrm>
        </p:spPr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3995936" y="264653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PIC18FxxQ35chip Family</a:t>
            </a:r>
          </a:p>
          <a:p>
            <a:r>
              <a:rPr lang="en-GB" dirty="0"/>
              <a:t>Part 15 – Millis and Interrupts</a:t>
            </a:r>
          </a:p>
        </p:txBody>
      </p:sp>
      <p:pic>
        <p:nvPicPr>
          <p:cNvPr id="6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9958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15126</TotalTime>
  <Words>1139</Words>
  <Application>Microsoft Office PowerPoint</Application>
  <PresentationFormat>On-screen Show (16:9)</PresentationFormat>
  <Paragraphs>272</Paragraphs>
  <Slides>21</Slides>
  <Notes>0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GCstudioThemeLight</vt:lpstr>
      <vt:lpstr>GCBASIC</vt:lpstr>
      <vt:lpstr>GCBASIC</vt:lpstr>
      <vt:lpstr>GCBASIC</vt:lpstr>
      <vt:lpstr>PIC18FxxQ35</vt:lpstr>
      <vt:lpstr>Videos...</vt:lpstr>
      <vt:lpstr>GCBASIC Compiler</vt:lpstr>
      <vt:lpstr>PowerPoint Presentation</vt:lpstr>
      <vt:lpstr>PowerPoint Presentation</vt:lpstr>
      <vt:lpstr>PowerPoint Presentation</vt:lpstr>
      <vt:lpstr>VDDIO2 Domain Power</vt:lpstr>
      <vt:lpstr>Millis()</vt:lpstr>
      <vt:lpstr>Lab</vt:lpstr>
      <vt:lpstr>Principles of Interrupts</vt:lpstr>
      <vt:lpstr>Interrupts…</vt:lpstr>
      <vt:lpstr>External Interrupt (INT0)</vt:lpstr>
      <vt:lpstr>Interrupt – INT0</vt:lpstr>
      <vt:lpstr>Interrupt Code</vt:lpstr>
      <vt:lpstr>Lab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admin</cp:lastModifiedBy>
  <cp:revision>778</cp:revision>
  <dcterms:created xsi:type="dcterms:W3CDTF">2019-01-08T20:03:06Z</dcterms:created>
  <dcterms:modified xsi:type="dcterms:W3CDTF">2026-08-19T06:42:09Z</dcterms:modified>
</cp:coreProperties>
</file>