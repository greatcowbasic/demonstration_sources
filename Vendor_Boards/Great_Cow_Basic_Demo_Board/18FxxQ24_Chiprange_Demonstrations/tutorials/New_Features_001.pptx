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57" r:id="rId1"/>
  </p:sldMasterIdLst>
  <p:sldIdLst>
    <p:sldId id="266" r:id="rId2"/>
    <p:sldId id="259" r:id="rId3"/>
    <p:sldId id="267" r:id="rId4"/>
    <p:sldId id="274" r:id="rId5"/>
    <p:sldId id="272" r:id="rId6"/>
    <p:sldId id="270" r:id="rId7"/>
    <p:sldId id="271" r:id="rId8"/>
    <p:sldId id="269" r:id="rId9"/>
    <p:sldId id="275" r:id="rId10"/>
    <p:sldId id="27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954" y="-3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C757326-0232-4CDF-81FF-302CA676961B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A0E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4987E008-68E6-4A43-85BC-1A6ACDF91D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3175" y="-8467"/>
            <a:ext cx="12279104" cy="687781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A1F8C892-C868-4DF6-91AB-B18CE632B1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24000"/>
            <a:ext cx="6534150" cy="3810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526156" y="1874815"/>
            <a:ext cx="4457147" cy="1826581"/>
          </a:xfrm>
        </p:spPr>
        <p:txBody>
          <a:bodyPr anchor="b">
            <a:normAutofit/>
          </a:bodyPr>
          <a:lstStyle>
            <a:lvl1pPr algn="l">
              <a:defRPr sz="5400" b="0" cap="none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App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526156" y="3701396"/>
            <a:ext cx="445714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xmlns="" id="{D547E580-E6D6-4D97-BB04-05795A83014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7166070" y="211894"/>
            <a:ext cx="2236945" cy="431718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web page</a:t>
            </a:r>
          </a:p>
        </p:txBody>
      </p:sp>
    </p:spTree>
    <p:extLst>
      <p:ext uri="{BB962C8B-B14F-4D97-AF65-F5344CB8AC3E}">
        <p14:creationId xmlns:p14="http://schemas.microsoft.com/office/powerpoint/2010/main" val="3656688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5B5B8CA2-02D4-408C-B548-182D4F5F5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2764" y="0"/>
            <a:ext cx="12284764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3352" y="177552"/>
            <a:ext cx="7650914" cy="587152"/>
          </a:xfrm>
          <a:solidFill>
            <a:schemeClr val="bg1"/>
          </a:solidFill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382473"/>
            <a:ext cx="8596668" cy="365888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51FCE-E4BB-4680-8E50-3C0E348D2609}" type="datetimeFigureOut">
              <a:rPr lang="en-US" smtClean="0"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9200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" descr="PIC18F26Q24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656" y="5652057"/>
            <a:ext cx="1532041" cy="1103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8" descr="C:\Users\admin\OneDrive\Desktop\Picture1.jp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992" y="5507162"/>
            <a:ext cx="2775583" cy="1350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EA8DB33B-8BF9-4C99-B31C-55246227EF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176" y="-8467"/>
            <a:ext cx="12279106" cy="6877819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00659" y="2404534"/>
            <a:ext cx="549960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00658" y="4050833"/>
            <a:ext cx="549960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00B27-DE4C-4B9E-BB11-B9027034A00F}" type="datetimeFigureOut">
              <a:rPr lang="en-US" smtClean="0"/>
              <a:pPr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04912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EA8DB33B-8BF9-4C99-B31C-55246227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3175" y="-8467"/>
            <a:ext cx="12279104" cy="6877819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20657" y="2404534"/>
            <a:ext cx="8179612" cy="1646302"/>
          </a:xfrm>
        </p:spPr>
        <p:txBody>
          <a:bodyPr anchor="b">
            <a:noAutofit/>
          </a:bodyPr>
          <a:lstStyle>
            <a:lvl1pPr algn="ct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20656" y="4050833"/>
            <a:ext cx="8179612" cy="1096899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00B27-DE4C-4B9E-BB11-B9027034A00F}" type="datetimeFigureOut">
              <a:rPr lang="en-US" smtClean="0"/>
              <a:pPr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7767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073D-A903-47F8-8D16-77642FB0DF1F}" type="datetimeFigureOut">
              <a:rPr lang="en-US" smtClean="0"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6331EFED-43C1-4CBA-8BE3-308E3AA13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6382" y="0"/>
            <a:ext cx="122847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314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1FA40-626B-4CA1-85D0-7A9016E395BA}" type="datetimeFigureOut">
              <a:rPr lang="en-US" smtClean="0"/>
              <a:t>1/27/2026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1034EA63-4BE3-4A73-A7E6-4A75BE4C1D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30696" y="0"/>
            <a:ext cx="122533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64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204DC1E6-B5F4-4160-90F3-351FB3242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6382" y="0"/>
            <a:ext cx="12284764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6185379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25EA-B9DC-48A7-991E-9A82573B1B21}" type="datetimeFigureOut">
              <a:rPr lang="en-US" smtClean="0"/>
              <a:t>1/27/2026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5165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E7897C67-3827-4595-8E3A-71E9F2EAB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6382" y="0"/>
            <a:ext cx="12284764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6166526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B97F8-6CEB-469B-AFCC-889F2A2B1D5A}" type="datetimeFigureOut">
              <a:rPr lang="en-US" smtClean="0"/>
              <a:t>1/27/2026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849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9179F-009E-4FA5-B091-7EBB82A185BD}" type="datetimeFigureOut">
              <a:rPr lang="en-US" smtClean="0"/>
              <a:t>1/27/2026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F1825398-026A-4668-BB48-C16AD1C906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30696" y="0"/>
            <a:ext cx="122533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172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7CE2C968-D10A-4226-8FDC-CBC4C7EDD0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30696" y="0"/>
            <a:ext cx="12253392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31862" y="660400"/>
            <a:ext cx="4513541" cy="538096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65CEB-0076-4E37-B880-BCEA9784DE0A}" type="datetimeFigureOut">
              <a:rPr lang="en-US" smtClean="0"/>
              <a:t>1/27/2026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9860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6AB5D66D-00C1-40EA-BFC8-305566F103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30696" y="0"/>
            <a:ext cx="12253392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942622"/>
            <a:ext cx="8596668" cy="385797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49E5E-3896-4118-99A7-7B85668F1C5E}" type="datetimeFigureOut">
              <a:rPr lang="en-US" smtClean="0"/>
              <a:t>1/27/2026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0296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D914D-B099-4142-A885-11F276715148}" type="datetimeFigureOut">
              <a:rPr lang="en-US" smtClean="0"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AD4D4CB4-D965-4BB6-B218-086244C13B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30696" y="0"/>
            <a:ext cx="122533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62583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D914D-B099-4142-A885-11F276715148}" type="datetimeFigureOut">
              <a:rPr lang="en-US" smtClean="0"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A3B58C4E-0EF0-466C-9740-EC9F485CBD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30696" y="0"/>
            <a:ext cx="122533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48790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D914D-B099-4142-A885-11F276715148}" type="datetimeFigureOut">
              <a:rPr lang="en-US" smtClean="0"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2D0B9223-1250-44AA-A6C3-F2013B85A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6382" y="0"/>
            <a:ext cx="122847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89406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D914D-B099-4142-A885-11F276715148}" type="datetimeFigureOut">
              <a:rPr lang="en-US" smtClean="0"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D49E1C7C-7E53-49A2-B2C9-52307876DB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30696" y="0"/>
            <a:ext cx="122533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52917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D914D-B099-4142-A885-11F276715148}" type="datetimeFigureOut">
              <a:rPr lang="en-US" smtClean="0"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23082AB0-2BB5-46FE-9A17-15E1ACC069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30696" y="0"/>
            <a:ext cx="122533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026084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1862E859-E5AF-4D76-9FC9-2355B24FF1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30696" y="0"/>
            <a:ext cx="12253392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7203292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BE609-F3F2-45E6-BD6A-E03A8C86C1AE}" type="datetimeFigureOut">
              <a:rPr lang="en-US" smtClean="0"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56703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91908D0E-7544-4687-965B-72EF64AA4C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30696" y="0"/>
            <a:ext cx="12253392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1245704"/>
            <a:ext cx="1304743" cy="4615346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AD68-089C-4467-A8F3-EA2BBCA6B44E}" type="datetimeFigureOut">
              <a:rPr lang="en-US" smtClean="0"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6687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0D914D-B099-4142-A885-11F276715148}" type="datetimeFigureOut">
              <a:rPr lang="en-US" smtClean="0"/>
              <a:t>1/27/2026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43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  <p:sldLayoutId id="2147483770" r:id="rId13"/>
    <p:sldLayoutId id="2147483771" r:id="rId14"/>
    <p:sldLayoutId id="2147483772" r:id="rId15"/>
    <p:sldLayoutId id="2147483773" r:id="rId16"/>
    <p:sldLayoutId id="2147483774" r:id="rId17"/>
    <p:sldLayoutId id="2147483775" r:id="rId18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26156" y="3701396"/>
            <a:ext cx="5250364" cy="860400"/>
          </a:xfrm>
        </p:spPr>
        <p:txBody>
          <a:bodyPr/>
          <a:lstStyle/>
          <a:p>
            <a:r>
              <a:rPr lang="en-GB" dirty="0" smtClean="0"/>
              <a:t>New Feature … </a:t>
            </a:r>
            <a:r>
              <a:rPr lang="en-GB" dirty="0" smtClean="0"/>
              <a:t>.Speedy Preferences Editor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5951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2447600" y="2276877"/>
            <a:ext cx="2140137" cy="190028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500" dirty="0"/>
              <a:t>GCBASIC </a:t>
            </a:r>
            <a:r>
              <a:rPr lang="en-GB" sz="2000" dirty="0"/>
              <a:t>Compiler</a:t>
            </a:r>
            <a:endParaRPr lang="en-GB" sz="1500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GB" dirty="0" smtClean="0"/>
              <a:t>GCBASIC Compiler</a:t>
            </a:r>
            <a:endParaRPr lang="en-GB" dirty="0"/>
          </a:p>
        </p:txBody>
      </p:sp>
      <p:sp>
        <p:nvSpPr>
          <p:cNvPr id="13" name="TextBox 12"/>
          <p:cNvSpPr txBox="1"/>
          <p:nvPr/>
        </p:nvSpPr>
        <p:spPr>
          <a:xfrm>
            <a:off x="3863752" y="4149080"/>
            <a:ext cx="5280587" cy="2053514"/>
          </a:xfrm>
          <a:prstGeom prst="rect">
            <a:avLst/>
          </a:prstGeom>
          <a:noFill/>
        </p:spPr>
        <p:txBody>
          <a:bodyPr wrap="square" lIns="113416" tIns="56707" rIns="113416" bIns="56707" rtlCol="0">
            <a:spAutoFit/>
          </a:bodyPr>
          <a:lstStyle/>
          <a:p>
            <a:r>
              <a:rPr lang="en-GB" dirty="0" smtClean="0"/>
              <a:t>GCBASIC is an Open Source compiler for PIC, AVR and LGT microcontrollers</a:t>
            </a:r>
          </a:p>
          <a:p>
            <a:endParaRPr lang="en-GB" dirty="0" smtClean="0"/>
          </a:p>
          <a:p>
            <a:r>
              <a:rPr lang="en-GB" dirty="0" smtClean="0"/>
              <a:t>GCBASIC now supports 1400+ controllers</a:t>
            </a:r>
          </a:p>
          <a:p>
            <a:endParaRPr lang="en-GB" dirty="0" smtClean="0"/>
          </a:p>
          <a:p>
            <a:r>
              <a:rPr lang="en-GB" dirty="0" smtClean="0"/>
              <a:t>GCBASIC is a cross platform with common code translation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0878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Improve functionality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392" y="2060848"/>
            <a:ext cx="8596668" cy="3658889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GB" dirty="0" smtClean="0"/>
              <a:t>The Preference Editor …..</a:t>
            </a:r>
          </a:p>
          <a:p>
            <a:pPr lvl="1"/>
            <a:r>
              <a:rPr lang="en-GB" dirty="0" smtClean="0"/>
              <a:t>Speed improvements to make is usable</a:t>
            </a:r>
          </a:p>
          <a:p>
            <a:pPr lvl="1"/>
            <a:endParaRPr lang="en-GB" dirty="0"/>
          </a:p>
          <a:p>
            <a:r>
              <a:rPr lang="en-GB" b="1" dirty="0"/>
              <a:t>💡 Why it matters:</a:t>
            </a:r>
          </a:p>
          <a:p>
            <a:pPr lvl="1"/>
            <a:r>
              <a:rPr lang="en-GB" dirty="0"/>
              <a:t>Speeds up </a:t>
            </a:r>
            <a:r>
              <a:rPr lang="en-GB" dirty="0" smtClean="0"/>
              <a:t>changing setting</a:t>
            </a:r>
          </a:p>
          <a:p>
            <a:pPr lvl="1"/>
            <a:r>
              <a:rPr lang="en-GB" dirty="0" smtClean="0"/>
              <a:t>Improves </a:t>
            </a:r>
            <a:r>
              <a:rPr lang="en-GB" dirty="0" smtClean="0"/>
              <a:t>troubleshooting</a:t>
            </a:r>
            <a:endParaRPr lang="en-GB" b="1" dirty="0"/>
          </a:p>
          <a:p>
            <a:pPr lvl="1"/>
            <a:endParaRPr lang="en-GB" b="1" dirty="0" smtClean="0"/>
          </a:p>
        </p:txBody>
      </p:sp>
    </p:spTree>
    <p:extLst>
      <p:ext uri="{BB962C8B-B14F-4D97-AF65-F5344CB8AC3E}">
        <p14:creationId xmlns:p14="http://schemas.microsoft.com/office/powerpoint/2010/main" val="902774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New </a:t>
            </a:r>
            <a:r>
              <a:rPr lang="en-GB" dirty="0"/>
              <a:t>functionality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392" y="2060848"/>
            <a:ext cx="8596668" cy="3658889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GB" dirty="0" smtClean="0"/>
              <a:t>New functionality </a:t>
            </a:r>
            <a:r>
              <a:rPr lang="en-GB" dirty="0"/>
              <a:t>introduced in GCBASIC change </a:t>
            </a:r>
            <a:r>
              <a:rPr lang="en-GB" dirty="0" smtClean="0"/>
              <a:t>1541</a:t>
            </a:r>
            <a:endParaRPr lang="en-GB" dirty="0"/>
          </a:p>
          <a:p>
            <a:pPr lvl="1"/>
            <a:r>
              <a:rPr lang="en-GB" b="1" dirty="0"/>
              <a:t>New: Add </a:t>
            </a:r>
            <a:r>
              <a:rPr lang="en-GB" b="1" dirty="0" err="1"/>
              <a:t>color</a:t>
            </a:r>
            <a:r>
              <a:rPr lang="en-GB" b="1" dirty="0"/>
              <a:t> coding to </a:t>
            </a:r>
            <a:r>
              <a:rPr lang="en-GB" b="1" dirty="0" smtClean="0"/>
              <a:t>output</a:t>
            </a:r>
            <a:endParaRPr lang="en-GB" dirty="0" smtClean="0"/>
          </a:p>
          <a:p>
            <a:pPr lvl="1"/>
            <a:r>
              <a:rPr lang="en-GB" b="1" dirty="0" err="1" smtClean="0"/>
              <a:t>Color</a:t>
            </a:r>
            <a:r>
              <a:rPr lang="en-GB" b="1" dirty="0" smtClean="0"/>
              <a:t> </a:t>
            </a:r>
            <a:r>
              <a:rPr lang="en-GB" b="1" dirty="0"/>
              <a:t>coding</a:t>
            </a:r>
            <a:r>
              <a:rPr lang="en-GB" dirty="0"/>
              <a:t> applied to console or terminal output.</a:t>
            </a:r>
          </a:p>
          <a:p>
            <a:pPr lvl="1"/>
            <a:r>
              <a:rPr lang="en-GB" b="1" dirty="0"/>
              <a:t>Errors, warnings, and debug info</a:t>
            </a:r>
            <a:r>
              <a:rPr lang="en-GB" dirty="0"/>
              <a:t> now appear in distinct colors.</a:t>
            </a:r>
          </a:p>
          <a:p>
            <a:pPr lvl="1"/>
            <a:r>
              <a:rPr lang="en-GB" dirty="0"/>
              <a:t>Improves clarity during compilation and debugging, especially in large projects.</a:t>
            </a:r>
          </a:p>
          <a:p>
            <a:r>
              <a:rPr lang="en-GB" b="1" dirty="0"/>
              <a:t>💡 Why it matters:</a:t>
            </a:r>
          </a:p>
          <a:p>
            <a:pPr lvl="1"/>
            <a:r>
              <a:rPr lang="en-GB" dirty="0"/>
              <a:t>Speeds up troubleshooting by visually separating message types.</a:t>
            </a:r>
          </a:p>
          <a:p>
            <a:pPr lvl="1"/>
            <a:r>
              <a:rPr lang="en-GB" dirty="0"/>
              <a:t>Reduces cognitive load when scanning build logs.</a:t>
            </a:r>
          </a:p>
          <a:p>
            <a:pPr lvl="1"/>
            <a:r>
              <a:rPr lang="en-GB" dirty="0"/>
              <a:t>Makes GCBASIC more user-friendly in modern IDEs and terminal environments that support ANSI </a:t>
            </a:r>
            <a:r>
              <a:rPr lang="en-GB" dirty="0" err="1"/>
              <a:t>color</a:t>
            </a:r>
            <a:r>
              <a:rPr lang="en-GB" dirty="0"/>
              <a:t> codes.</a:t>
            </a:r>
          </a:p>
          <a:p>
            <a:pPr lvl="2"/>
            <a:endParaRPr lang="en-GB" b="1" dirty="0"/>
          </a:p>
          <a:p>
            <a:pPr lvl="1"/>
            <a:endParaRPr lang="en-GB" b="1" dirty="0" smtClean="0"/>
          </a:p>
        </p:txBody>
      </p:sp>
    </p:spTree>
    <p:extLst>
      <p:ext uri="{BB962C8B-B14F-4D97-AF65-F5344CB8AC3E}">
        <p14:creationId xmlns:p14="http://schemas.microsoft.com/office/powerpoint/2010/main" val="10042394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New </a:t>
            </a:r>
            <a:r>
              <a:rPr lang="en-GB" dirty="0"/>
              <a:t>functionality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392" y="2060848"/>
            <a:ext cx="8596668" cy="3658889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GB" dirty="0" smtClean="0"/>
              <a:t>New functionality </a:t>
            </a:r>
            <a:r>
              <a:rPr lang="en-GB" dirty="0"/>
              <a:t>introduced in GCBASIC change </a:t>
            </a:r>
            <a:r>
              <a:rPr lang="en-GB" dirty="0" smtClean="0"/>
              <a:t>1538</a:t>
            </a:r>
            <a:endParaRPr lang="en-GB" dirty="0"/>
          </a:p>
          <a:p>
            <a:pPr lvl="1"/>
            <a:r>
              <a:rPr lang="en-GB" dirty="0" smtClean="0"/>
              <a:t>GCBASIC now supports using </a:t>
            </a:r>
            <a:r>
              <a:rPr lang="en-GB" sz="2000" b="1" dirty="0" smtClean="0"/>
              <a:t>.build</a:t>
            </a:r>
            <a:r>
              <a:rPr lang="en-GB" dirty="0"/>
              <a:t> </a:t>
            </a:r>
            <a:r>
              <a:rPr lang="en-GB" dirty="0" smtClean="0"/>
              <a:t>folder structure</a:t>
            </a:r>
          </a:p>
          <a:p>
            <a:pPr lvl="1"/>
            <a:endParaRPr lang="en-GB" dirty="0"/>
          </a:p>
          <a:p>
            <a:r>
              <a:rPr lang="en-GB" dirty="0"/>
              <a:t>This update adds two new command‑line switches:</a:t>
            </a:r>
          </a:p>
          <a:p>
            <a:pPr lvl="1"/>
            <a:r>
              <a:rPr lang="en-GB" dirty="0"/>
              <a:t>/DO</a:t>
            </a:r>
            <a:r>
              <a:rPr lang="en-GB" b="1" dirty="0"/>
              <a:t> – Debug Output folder</a:t>
            </a:r>
            <a:endParaRPr lang="en-GB" dirty="0"/>
          </a:p>
          <a:p>
            <a:pPr lvl="1"/>
            <a:r>
              <a:rPr lang="en-GB" dirty="0"/>
              <a:t>/AO</a:t>
            </a:r>
            <a:r>
              <a:rPr lang="en-GB" b="1" dirty="0"/>
              <a:t> – Assembler Output folder</a:t>
            </a:r>
            <a:endParaRPr lang="en-GB" dirty="0"/>
          </a:p>
          <a:p>
            <a:endParaRPr lang="en-GB" dirty="0" smtClean="0"/>
          </a:p>
          <a:p>
            <a:r>
              <a:rPr lang="en-GB" dirty="0" smtClean="0"/>
              <a:t>These </a:t>
            </a:r>
            <a:r>
              <a:rPr lang="en-GB" dirty="0"/>
              <a:t>switches let </a:t>
            </a:r>
            <a:r>
              <a:rPr lang="en-GB" dirty="0" err="1"/>
              <a:t>GCStudio</a:t>
            </a:r>
            <a:r>
              <a:rPr lang="en-GB" dirty="0"/>
              <a:t> place debugger‑related output files into a </a:t>
            </a:r>
            <a:r>
              <a:rPr lang="en-GB" b="1" dirty="0"/>
              <a:t>dedicated build directory</a:t>
            </a:r>
            <a:r>
              <a:rPr lang="en-GB" dirty="0"/>
              <a:t>, instead of mixing them into the project root.</a:t>
            </a:r>
          </a:p>
          <a:p>
            <a:endParaRPr lang="en-GB" dirty="0" smtClean="0"/>
          </a:p>
          <a:p>
            <a:pPr lvl="1"/>
            <a:endParaRPr lang="en-GB" b="1" dirty="0"/>
          </a:p>
          <a:p>
            <a:pPr lvl="1"/>
            <a:endParaRPr lang="en-GB" b="1" dirty="0" smtClean="0"/>
          </a:p>
        </p:txBody>
      </p:sp>
    </p:spTree>
    <p:extLst>
      <p:ext uri="{BB962C8B-B14F-4D97-AF65-F5344CB8AC3E}">
        <p14:creationId xmlns:p14="http://schemas.microsoft.com/office/powerpoint/2010/main" val="675066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💡 Why this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392" y="2060848"/>
            <a:ext cx="8596668" cy="4032448"/>
          </a:xfrm>
          <a:solidFill>
            <a:schemeClr val="bg1"/>
          </a:solidFill>
        </p:spPr>
        <p:txBody>
          <a:bodyPr>
            <a:normAutofit fontScale="92500" lnSpcReduction="20000"/>
          </a:bodyPr>
          <a:lstStyle/>
          <a:p>
            <a:r>
              <a:rPr lang="en-GB" dirty="0" smtClean="0"/>
              <a:t>Before </a:t>
            </a:r>
            <a:r>
              <a:rPr lang="en-GB" dirty="0"/>
              <a:t>this change:</a:t>
            </a:r>
          </a:p>
          <a:p>
            <a:pPr lvl="1"/>
            <a:r>
              <a:rPr lang="en-GB" dirty="0"/>
              <a:t>Debugger output files (intermediate .S, .LST, .DBG, etc.) were generated in the same directory as the user’s source.</a:t>
            </a:r>
          </a:p>
          <a:p>
            <a:pPr lvl="1"/>
            <a:r>
              <a:rPr lang="en-GB" dirty="0"/>
              <a:t>This cluttered the project folder.</a:t>
            </a:r>
          </a:p>
          <a:p>
            <a:endParaRPr lang="en-GB" dirty="0"/>
          </a:p>
          <a:p>
            <a:r>
              <a:rPr lang="en-GB" dirty="0" smtClean="0"/>
              <a:t>Automated </a:t>
            </a:r>
            <a:r>
              <a:rPr lang="en-GB" dirty="0"/>
              <a:t>build systems had to manually clean up or redirect files.</a:t>
            </a:r>
          </a:p>
          <a:p>
            <a:pPr lvl="1"/>
            <a:r>
              <a:rPr lang="en-GB" dirty="0"/>
              <a:t>Users working with multiple build configurations (Debug/Release) had no clean separation.</a:t>
            </a:r>
          </a:p>
          <a:p>
            <a:pPr lvl="1"/>
            <a:r>
              <a:rPr lang="en-GB" dirty="0"/>
              <a:t>After </a:t>
            </a:r>
            <a:r>
              <a:rPr lang="en-GB" b="1" dirty="0"/>
              <a:t>1538</a:t>
            </a:r>
            <a:r>
              <a:rPr lang="en-GB" dirty="0"/>
              <a:t>:</a:t>
            </a:r>
          </a:p>
          <a:p>
            <a:pPr lvl="2"/>
            <a:r>
              <a:rPr lang="en-GB" dirty="0"/>
              <a:t>You can direct all debugger‑generated files into a </a:t>
            </a:r>
            <a:r>
              <a:rPr lang="en-GB" b="1" dirty="0"/>
              <a:t>separate, isolated folder</a:t>
            </a:r>
            <a:r>
              <a:rPr lang="en-GB" dirty="0"/>
              <a:t>.</a:t>
            </a:r>
          </a:p>
          <a:p>
            <a:pPr lvl="2"/>
            <a:r>
              <a:rPr lang="en-GB" dirty="0"/>
              <a:t>Build scripts and </a:t>
            </a:r>
            <a:r>
              <a:rPr lang="en-GB" dirty="0" smtClean="0"/>
              <a:t>automation  </a:t>
            </a:r>
            <a:r>
              <a:rPr lang="en-GB" dirty="0"/>
              <a:t>pipelines become cleaner and more predictable.</a:t>
            </a:r>
          </a:p>
          <a:p>
            <a:pPr lvl="2"/>
            <a:r>
              <a:rPr lang="en-GB" dirty="0"/>
              <a:t>Users can keep their project directory tidy.</a:t>
            </a:r>
          </a:p>
          <a:p>
            <a:pPr lvl="2"/>
            <a:r>
              <a:rPr lang="en-GB" dirty="0"/>
              <a:t>Switching between Debug/Release or multiple target chips becomes easier</a:t>
            </a:r>
            <a:r>
              <a:rPr lang="en-GB" dirty="0" smtClean="0"/>
              <a:t>.</a:t>
            </a:r>
          </a:p>
          <a:p>
            <a:pPr lvl="2"/>
            <a:r>
              <a:rPr lang="en-GB" b="1" dirty="0" smtClean="0"/>
              <a:t>All commands support .build folder!!</a:t>
            </a:r>
            <a:endParaRPr lang="en-GB" b="1" dirty="0"/>
          </a:p>
          <a:p>
            <a:endParaRPr lang="en-GB" dirty="0" smtClean="0"/>
          </a:p>
          <a:p>
            <a:pPr lvl="1"/>
            <a:endParaRPr lang="en-GB" b="1" dirty="0"/>
          </a:p>
          <a:p>
            <a:pPr lvl="1"/>
            <a:endParaRPr lang="en-GB" b="1" dirty="0" smtClean="0"/>
          </a:p>
        </p:txBody>
      </p:sp>
    </p:spTree>
    <p:extLst>
      <p:ext uri="{BB962C8B-B14F-4D97-AF65-F5344CB8AC3E}">
        <p14:creationId xmlns:p14="http://schemas.microsoft.com/office/powerpoint/2010/main" val="225851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💡 </a:t>
            </a:r>
            <a:r>
              <a:rPr lang="en-GB" b="1" dirty="0" smtClean="0"/>
              <a:t>Impact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392" y="2060848"/>
            <a:ext cx="8596668" cy="4032448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GB" dirty="0" smtClean="0"/>
              <a:t>After 1538:</a:t>
            </a:r>
          </a:p>
          <a:p>
            <a:pPr lvl="1"/>
            <a:r>
              <a:rPr lang="en-GB" dirty="0" smtClean="0"/>
              <a:t>If you are using an alternative IDE or the command line</a:t>
            </a:r>
          </a:p>
          <a:p>
            <a:pPr lvl="2"/>
            <a:r>
              <a:rPr lang="en-GB" dirty="0" smtClean="0"/>
              <a:t>NO IMPACT</a:t>
            </a:r>
          </a:p>
          <a:p>
            <a:pPr lvl="3"/>
            <a:r>
              <a:rPr lang="en-GB" dirty="0" smtClean="0"/>
              <a:t>For users of </a:t>
            </a:r>
            <a:r>
              <a:rPr lang="en-GB" dirty="0" err="1" smtClean="0"/>
              <a:t>SynWrite</a:t>
            </a:r>
            <a:r>
              <a:rPr lang="en-GB" dirty="0" smtClean="0"/>
              <a:t> there is no operational differences</a:t>
            </a:r>
          </a:p>
          <a:p>
            <a:pPr lvl="3"/>
            <a:r>
              <a:rPr lang="en-GB" dirty="0" smtClean="0"/>
              <a:t>All files are in the same place</a:t>
            </a:r>
          </a:p>
          <a:p>
            <a:pPr lvl="1"/>
            <a:endParaRPr lang="en-GB" b="1" dirty="0"/>
          </a:p>
          <a:p>
            <a:pPr lvl="1"/>
            <a:endParaRPr lang="en-GB" b="1" dirty="0" smtClean="0"/>
          </a:p>
        </p:txBody>
      </p:sp>
    </p:spTree>
    <p:extLst>
      <p:ext uri="{BB962C8B-B14F-4D97-AF65-F5344CB8AC3E}">
        <p14:creationId xmlns:p14="http://schemas.microsoft.com/office/powerpoint/2010/main" val="3358412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New </a:t>
            </a:r>
            <a:r>
              <a:rPr lang="en-GB" dirty="0"/>
              <a:t>functionality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New functionality </a:t>
            </a:r>
            <a:r>
              <a:rPr lang="en-GB" dirty="0"/>
              <a:t>introduced in GCBASIC change </a:t>
            </a:r>
            <a:r>
              <a:rPr lang="en-GB" dirty="0" smtClean="0"/>
              <a:t>1543</a:t>
            </a:r>
            <a:endParaRPr lang="en-GB" dirty="0"/>
          </a:p>
          <a:p>
            <a:pPr lvl="1"/>
            <a:r>
              <a:rPr lang="en-GB" dirty="0" smtClean="0"/>
              <a:t>GCBASIC now supports </a:t>
            </a:r>
            <a:r>
              <a:rPr lang="en-GB" dirty="0"/>
              <a:t>assigning initial values directly in DIM statements</a:t>
            </a:r>
            <a:r>
              <a:rPr lang="en-GB" dirty="0" smtClean="0"/>
              <a:t>.</a:t>
            </a:r>
          </a:p>
          <a:p>
            <a:pPr lvl="1"/>
            <a:endParaRPr lang="en-GB" dirty="0"/>
          </a:p>
          <a:p>
            <a:r>
              <a:rPr lang="en-GB" dirty="0" smtClean="0"/>
              <a:t>This feature supports </a:t>
            </a:r>
            <a:r>
              <a:rPr lang="en-GB" dirty="0"/>
              <a:t>efficient initialization of variables, bits, arrays, and typed data</a:t>
            </a:r>
          </a:p>
          <a:p>
            <a:r>
              <a:rPr lang="en-GB" dirty="0"/>
              <a:t> 	</a:t>
            </a:r>
            <a:r>
              <a:rPr lang="en-GB" dirty="0" smtClean="0"/>
              <a:t>Byte</a:t>
            </a:r>
            <a:r>
              <a:rPr lang="en-GB" dirty="0"/>
              <a:t>, Word, Long, Single, </a:t>
            </a:r>
            <a:r>
              <a:rPr lang="en-GB" dirty="0" smtClean="0"/>
              <a:t>String </a:t>
            </a:r>
            <a:r>
              <a:rPr lang="en-GB" dirty="0"/>
              <a:t>at declaration time.</a:t>
            </a:r>
          </a:p>
          <a:p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767408" y="4725144"/>
            <a:ext cx="105851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 smtClean="0"/>
              <a:t>…demos\</a:t>
            </a:r>
            <a:r>
              <a:rPr lang="en-GB" b="1" dirty="0" err="1" smtClean="0"/>
              <a:t>TestSolutions</a:t>
            </a:r>
            <a:r>
              <a:rPr lang="en-GB" b="1" dirty="0" smtClean="0"/>
              <a:t>\Change1543\</a:t>
            </a:r>
            <a:r>
              <a:rPr lang="en-GB" b="1" dirty="0" err="1" smtClean="0"/>
              <a:t>VarAsignTest.gcb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326613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26156" y="3701396"/>
            <a:ext cx="5250364" cy="860400"/>
          </a:xfrm>
        </p:spPr>
        <p:txBody>
          <a:bodyPr/>
          <a:lstStyle/>
          <a:p>
            <a:r>
              <a:rPr lang="en-GB" dirty="0" smtClean="0"/>
              <a:t>New Feature … </a:t>
            </a:r>
            <a:r>
              <a:rPr lang="en-GB" dirty="0" smtClean="0"/>
              <a:t>.Speedy Preferences Editor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71330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New Feature … .colors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78373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CstudioThemeLight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GC Basic Fonts">
      <a:majorFont>
        <a:latin typeface="Microsoft YaHei"/>
        <a:ea typeface=""/>
        <a:cs typeface=""/>
      </a:majorFont>
      <a:minorFont>
        <a:latin typeface="Corbel"/>
        <a:ea typeface=""/>
        <a:cs typeface="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GCstudioThemeLight" id="{4C740F94-33C0-4EEC-9234-F56C348A0987}" vid="{A43F8B96-90D8-489D-B80F-92F9D6F351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GCstudioThemeLight</Template>
  <TotalTime>3107</TotalTime>
  <Words>415</Words>
  <Application>Microsoft Office PowerPoint</Application>
  <PresentationFormat>Custom</PresentationFormat>
  <Paragraphs>67</Paragraphs>
  <Slides>10</Slides>
  <Notes>0</Notes>
  <HiddenSlides>6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GCstudioThemeLight</vt:lpstr>
      <vt:lpstr>GCBASIC</vt:lpstr>
      <vt:lpstr>GCBASIC Compiler</vt:lpstr>
      <vt:lpstr>Improve functionality </vt:lpstr>
      <vt:lpstr>New functionality </vt:lpstr>
      <vt:lpstr>New functionality </vt:lpstr>
      <vt:lpstr>💡 Why this matters</vt:lpstr>
      <vt:lpstr>💡 Impact</vt:lpstr>
      <vt:lpstr>New functionality </vt:lpstr>
      <vt:lpstr>GCBASIC</vt:lpstr>
      <vt:lpstr>GCBASIC</vt:lpstr>
    </vt:vector>
  </TitlesOfParts>
  <Company>ABA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AVRDx Support</dc:title>
  <dc:creator>admin</dc:creator>
  <cp:lastModifiedBy>Evan R. Venn</cp:lastModifiedBy>
  <cp:revision>54</cp:revision>
  <dcterms:created xsi:type="dcterms:W3CDTF">2024-08-11T08:11:38Z</dcterms:created>
  <dcterms:modified xsi:type="dcterms:W3CDTF">2026-01-27T15:51:47Z</dcterms:modified>
</cp:coreProperties>
</file>