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handoutMasterIdLst>
    <p:handoutMasterId r:id="rId18"/>
  </p:handoutMasterIdLst>
  <p:sldIdLst>
    <p:sldId id="294" r:id="rId2"/>
    <p:sldId id="256" r:id="rId3"/>
    <p:sldId id="295" r:id="rId4"/>
    <p:sldId id="327" r:id="rId5"/>
    <p:sldId id="296" r:id="rId6"/>
    <p:sldId id="282" r:id="rId7"/>
    <p:sldId id="291" r:id="rId8"/>
    <p:sldId id="325" r:id="rId9"/>
    <p:sldId id="329" r:id="rId10"/>
    <p:sldId id="328" r:id="rId11"/>
    <p:sldId id="326" r:id="rId12"/>
    <p:sldId id="322" r:id="rId13"/>
    <p:sldId id="288" r:id="rId14"/>
    <p:sldId id="324" r:id="rId15"/>
    <p:sldId id="323" r:id="rId16"/>
  </p:sldIdLst>
  <p:sldSz cx="9144000" cy="5143500" type="screen16x9"/>
  <p:notesSz cx="6858000" cy="9144000"/>
  <p:defaultTextStyle>
    <a:defPPr>
      <a:defRPr lang="en-US"/>
    </a:defPPr>
    <a:lvl1pPr marL="0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25318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50636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275954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701273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126591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551909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2977227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402546" algn="l" defTabSz="850636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4C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7" autoAdjust="0"/>
    <p:restoredTop sz="94660"/>
  </p:normalViewPr>
  <p:slideViewPr>
    <p:cSldViewPr>
      <p:cViewPr>
        <p:scale>
          <a:sx n="156" d="100"/>
          <a:sy n="156" d="100"/>
        </p:scale>
        <p:origin x="-330" y="-78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7" d="100"/>
          <a:sy n="97" d="100"/>
        </p:scale>
        <p:origin x="-3582" y="-11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2E545A-AB39-44F0-B5A6-04A90C6C9399}" type="datetimeFigureOut">
              <a:rPr lang="en-GB" smtClean="0"/>
              <a:pPr/>
              <a:t>24/11/2025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131C5-F37A-4CF6-BFE3-A572240BD62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90428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100B3C-2E11-428B-8555-A77018253716}" type="datetimeFigureOut">
              <a:rPr lang="en-GB" smtClean="0"/>
              <a:pPr/>
              <a:t>24/11/2025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3471A-AA0F-4CD3-BA89-C1C7FB68C6D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41865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425318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850636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1275954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701273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126591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2551909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2977227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3402546" algn="l" defTabSz="850636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C757326-0232-4CDF-81FF-302CA676961B}"/>
              </a:ext>
            </a:extLst>
          </p:cNvPr>
          <p:cNvSpPr/>
          <p:nvPr/>
        </p:nvSpPr>
        <p:spPr>
          <a:xfrm>
            <a:off x="1" y="0"/>
            <a:ext cx="9143999" cy="5143500"/>
          </a:xfrm>
          <a:prstGeom prst="rect">
            <a:avLst/>
          </a:prstGeom>
          <a:solidFill>
            <a:srgbClr val="0A0E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4987E008-68E6-4A43-85BC-1A6ACDF91D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81" y="-6350"/>
            <a:ext cx="9209328" cy="515836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A1F8C892-C868-4DF6-91AB-B18CE632B1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43000"/>
            <a:ext cx="4900613" cy="2857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44618" y="1406112"/>
            <a:ext cx="3342860" cy="1369936"/>
          </a:xfrm>
        </p:spPr>
        <p:txBody>
          <a:bodyPr anchor="b">
            <a:normAutofit/>
          </a:bodyPr>
          <a:lstStyle>
            <a:lvl1pPr algn="l">
              <a:defRPr sz="4100" b="0" cap="none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Add App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144617" y="2776047"/>
            <a:ext cx="334286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bg1">
                    <a:lumMod val="6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="" xmlns:a16="http://schemas.microsoft.com/office/drawing/2014/main" id="{D547E580-E6D6-4D97-BB04-05795A830147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374553" y="158920"/>
            <a:ext cx="1677709" cy="323789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accent1"/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web page</a:t>
            </a:r>
          </a:p>
        </p:txBody>
      </p:sp>
    </p:spTree>
    <p:extLst>
      <p:ext uri="{BB962C8B-B14F-4D97-AF65-F5344CB8AC3E}">
        <p14:creationId xmlns:p14="http://schemas.microsoft.com/office/powerpoint/2010/main" val="3656688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5B5B8CA2-02D4-408C-B548-182D4F5F5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512" y="483518"/>
            <a:ext cx="5400600" cy="990600"/>
          </a:xfrm>
        </p:spPr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1" y="1786855"/>
            <a:ext cx="6447501" cy="274416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9200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EA8DB33B-8BF9-4C99-B31C-55246227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382" y="-6350"/>
            <a:ext cx="9209330" cy="5158364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75495" y="1803400"/>
            <a:ext cx="4124707" cy="1234727"/>
          </a:xfrm>
        </p:spPr>
        <p:txBody>
          <a:bodyPr anchor="b">
            <a:noAutofit/>
          </a:bodyPr>
          <a:lstStyle>
            <a:lvl1pPr algn="r">
              <a:defRPr sz="41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75494" y="3038125"/>
            <a:ext cx="4124707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04912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EA8DB33B-8BF9-4C99-B31C-55246227E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81" y="-6350"/>
            <a:ext cx="9209328" cy="5158364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5493" y="1803400"/>
            <a:ext cx="6134709" cy="1234727"/>
          </a:xfrm>
        </p:spPr>
        <p:txBody>
          <a:bodyPr anchor="b">
            <a:noAutofit/>
          </a:bodyPr>
          <a:lstStyle>
            <a:lvl1pPr algn="ctr">
              <a:defRPr sz="41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5492" y="3038125"/>
            <a:ext cx="6134709" cy="822674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117767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6331EFED-43C1-4CBA-8BE3-308E3AA13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14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24/11/2025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1034EA63-4BE3-4A73-A7E6-4A75BE4C1D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648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="" xmlns:a16="http://schemas.microsoft.com/office/drawing/2014/main" id="{204DC1E6-B5F4-4160-90F3-351FB3242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4639034" cy="9906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40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40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24/11/2025</a:t>
            </a:fld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5165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E7897C67-3827-4595-8E3A-71E9F2EAB3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457200"/>
            <a:ext cx="4624895" cy="9906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24/11/2025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94849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24/11/2025</a:t>
            </a:fld>
            <a:endParaRPr lang="en-GB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F1825398-026A-4668-BB48-C16AD1C906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172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7CE2C968-D10A-4226-8FDC-CBC4C7EDD0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98897" y="495300"/>
            <a:ext cx="3385156" cy="40357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100"/>
            </a:lvl1pPr>
            <a:lvl2pPr marL="342797" indent="0">
              <a:buNone/>
              <a:defRPr sz="1100"/>
            </a:lvl2pPr>
            <a:lvl3pPr marL="685595" indent="0">
              <a:buNone/>
              <a:defRPr sz="900"/>
            </a:lvl3pPr>
            <a:lvl4pPr marL="1028392" indent="0">
              <a:buNone/>
              <a:defRPr sz="800"/>
            </a:lvl4pPr>
            <a:lvl5pPr marL="1371188" indent="0">
              <a:buNone/>
              <a:defRPr sz="800"/>
            </a:lvl5pPr>
            <a:lvl6pPr marL="1713986" indent="0">
              <a:buNone/>
              <a:defRPr sz="800"/>
            </a:lvl6pPr>
            <a:lvl7pPr marL="2056783" indent="0">
              <a:buNone/>
              <a:defRPr sz="800"/>
            </a:lvl7pPr>
            <a:lvl8pPr marL="2399580" indent="0">
              <a:buNone/>
              <a:defRPr sz="800"/>
            </a:lvl8pPr>
            <a:lvl9pPr marL="2742377" indent="0">
              <a:buNone/>
              <a:defRPr sz="8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24/11/2025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9860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6AB5D66D-00C1-40EA-BFC8-305566F103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706966"/>
            <a:ext cx="6447501" cy="2893484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dirty="0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8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24/11/2025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050296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AD4D4CB4-D965-4BB6-B218-086244C13B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6258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A3B58C4E-0EF0-466C-9740-EC9F485CBD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4879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2D0B9223-1250-44AA-A6C3-F2013B85AE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87" y="0"/>
            <a:ext cx="921357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8940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D49E1C7C-7E53-49A2-B2C9-52307876DB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5291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23082AB0-2BB5-46FE-9A17-15E1ACC069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0260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1862E859-E5AF-4D76-9FC9-2355B24FF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5402469" cy="9906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056703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91908D0E-7544-4687-965B-72EF64AA4C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3022" y="0"/>
            <a:ext cx="9190044" cy="51435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934278"/>
            <a:ext cx="978557" cy="3461510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3AACB-D821-4991-9D88-46EB8D29E619}" type="datetimeFigureOut">
              <a:rPr lang="en-GB" smtClean="0"/>
              <a:pPr/>
              <a:t>24/11/2025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46687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73AACB-D821-4991-9D88-46EB8D29E619}" type="datetimeFigureOut">
              <a:rPr lang="en-GB" smtClean="0"/>
              <a:pPr/>
              <a:t>24/11/2025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lvl1pPr algn="r">
              <a:defRPr sz="700">
                <a:solidFill>
                  <a:schemeClr val="accent1"/>
                </a:solidFill>
              </a:defRPr>
            </a:lvl1pPr>
          </a:lstStyle>
          <a:p>
            <a:fld id="{B25064BB-E67B-4C9B-9AC8-E5B521C073FA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443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PIC16F175xx</a:t>
            </a:r>
          </a:p>
          <a:p>
            <a:r>
              <a:rPr lang="en-GB" dirty="0"/>
              <a:t>Part 6 – Using the reset switch</a:t>
            </a:r>
          </a:p>
        </p:txBody>
      </p:sp>
    </p:spTree>
    <p:extLst>
      <p:ext uri="{BB962C8B-B14F-4D97-AF65-F5344CB8AC3E}">
        <p14:creationId xmlns:p14="http://schemas.microsoft.com/office/powerpoint/2010/main" val="1934043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2080" y="911052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8" name="Text Placeholder 4"/>
          <p:cNvSpPr txBox="1">
            <a:spLocks/>
          </p:cNvSpPr>
          <p:nvPr/>
        </p:nvSpPr>
        <p:spPr>
          <a:xfrm>
            <a:off x="3805512" y="2931790"/>
            <a:ext cx="3342861" cy="645300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lvl1pPr marL="0" indent="0" algn="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smtClean="0"/>
              <a:t>PIC16F175xx</a:t>
            </a:r>
          </a:p>
          <a:p>
            <a:r>
              <a:rPr lang="en-GB" dirty="0"/>
              <a:t>Part 6 – Using the reset switch</a:t>
            </a:r>
          </a:p>
        </p:txBody>
      </p:sp>
      <p:pic>
        <p:nvPicPr>
          <p:cNvPr id="7" name="Picture 4" descr="PIC16F17556 | Microchip Technolog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0880" y="3974993"/>
            <a:ext cx="2415427" cy="117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PIC16F19175 | Microchip Technology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4136" y="3943142"/>
            <a:ext cx="1384038" cy="1192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2080" y="911052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7" name="Rectangle 6"/>
          <p:cNvSpPr/>
          <p:nvPr/>
        </p:nvSpPr>
        <p:spPr>
          <a:xfrm>
            <a:off x="539552" y="2067694"/>
            <a:ext cx="7367888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1" dirty="0" smtClean="0">
                <a:ln w="10541" cmpd="sng">
                  <a:solidFill>
                    <a:srgbClr val="7D7D7D">
                      <a:tint val="100000"/>
                      <a:shade val="100000"/>
                      <a:satMod val="110000"/>
                    </a:srgbClr>
                  </a:solidFill>
                  <a:prstDash val="solid"/>
                </a:ln>
                <a:solidFill>
                  <a:srgbClr val="FF0000"/>
                </a:solidFill>
              </a:rPr>
              <a:t>Like and subscribe</a:t>
            </a:r>
            <a:r>
              <a:rPr lang="en-US" sz="4000" b="1" dirty="0">
                <a:ln w="10541" cmpd="sng">
                  <a:solidFill>
                    <a:srgbClr val="7D7D7D">
                      <a:tint val="100000"/>
                      <a:shade val="100000"/>
                      <a:satMod val="110000"/>
                    </a:srgbClr>
                  </a:solidFill>
                  <a:prstDash val="solid"/>
                </a:ln>
                <a:solidFill>
                  <a:srgbClr val="FF0000"/>
                </a:solidFill>
              </a:rPr>
              <a:t>!</a:t>
            </a:r>
            <a:endParaRPr lang="en-US" sz="4000" b="1" dirty="0" smtClean="0">
              <a:ln w="10541" cmpd="sng">
                <a:solidFill>
                  <a:srgbClr val="7D7D7D">
                    <a:tint val="100000"/>
                    <a:shade val="100000"/>
                    <a:satMod val="110000"/>
                  </a:srgbClr>
                </a:solidFill>
                <a:prstDash val="solid"/>
              </a:ln>
              <a:solidFill>
                <a:srgbClr val="FF0000"/>
              </a:solidFill>
            </a:endParaRP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0"/>
          </p:nvPr>
        </p:nvSpPr>
        <p:spPr>
          <a:xfrm>
            <a:off x="6113182" y="4384422"/>
            <a:ext cx="354882" cy="305233"/>
          </a:xfrm>
        </p:spPr>
        <p:txBody>
          <a:bodyPr/>
          <a:lstStyle/>
          <a:p>
            <a:fld id="{1E700B27-DE4C-4B9E-BB11-B9027034A00F}" type="datetimeFigureOut">
              <a:rPr lang="en-US" smtClean="0"/>
              <a:pPr/>
              <a:t>11/24/2025</a:t>
            </a:fld>
            <a:endParaRPr lang="en-US" dirty="0"/>
          </a:p>
        </p:txBody>
      </p:sp>
      <p:pic>
        <p:nvPicPr>
          <p:cNvPr id="9" name="Picture 4" descr="PIC16F17556 | Microchip Technolog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0880" y="3974993"/>
            <a:ext cx="2415427" cy="117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 descr="PIC16F19175 | Microchip Technology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4136" y="3943142"/>
            <a:ext cx="1384038" cy="1192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3573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PIC16F175xx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GB" dirty="0" smtClean="0"/>
              <a:t>PIC16165xx  is a high performance PIC16</a:t>
            </a:r>
          </a:p>
          <a:p>
            <a:pPr lvl="1"/>
            <a:r>
              <a:rPr lang="en-GB" b="1" dirty="0"/>
              <a:t>Digital and </a:t>
            </a:r>
            <a:r>
              <a:rPr lang="en-GB" b="1" dirty="0" err="1"/>
              <a:t>analog</a:t>
            </a:r>
            <a:r>
              <a:rPr lang="en-GB" b="1" dirty="0"/>
              <a:t> peripherals</a:t>
            </a:r>
            <a:r>
              <a:rPr lang="en-GB" dirty="0"/>
              <a:t> for flexible embedded control</a:t>
            </a:r>
          </a:p>
          <a:p>
            <a:pPr lvl="1"/>
            <a:r>
              <a:rPr lang="en-GB" b="1" dirty="0"/>
              <a:t>10-bit ADC</a:t>
            </a:r>
            <a:r>
              <a:rPr lang="en-GB" dirty="0"/>
              <a:t> for accurate </a:t>
            </a:r>
            <a:r>
              <a:rPr lang="en-GB" dirty="0" err="1"/>
              <a:t>analog</a:t>
            </a:r>
            <a:r>
              <a:rPr lang="en-GB" dirty="0"/>
              <a:t> signal conversion</a:t>
            </a:r>
          </a:p>
          <a:p>
            <a:pPr lvl="1"/>
            <a:r>
              <a:rPr lang="en-GB" b="1" dirty="0"/>
              <a:t>Multiple communication interfaces</a:t>
            </a:r>
            <a:r>
              <a:rPr lang="en-GB" dirty="0"/>
              <a:t> including UART (serial), I²C, and SPI</a:t>
            </a:r>
          </a:p>
          <a:p>
            <a:pPr lvl="1"/>
            <a:r>
              <a:rPr lang="en-GB" b="1" dirty="0"/>
              <a:t>PWM modules</a:t>
            </a:r>
            <a:r>
              <a:rPr lang="en-GB" dirty="0"/>
              <a:t> with CCP and 16-bit resolution for precise timing and motor control</a:t>
            </a:r>
          </a:p>
          <a:p>
            <a:pPr lvl="1"/>
            <a:r>
              <a:rPr lang="en-GB" b="1" dirty="0"/>
              <a:t>Configurable Logic Cells (CLCs)</a:t>
            </a:r>
            <a:r>
              <a:rPr lang="en-GB" dirty="0"/>
              <a:t> for custom hardware-level logic without external components</a:t>
            </a:r>
          </a:p>
          <a:p>
            <a:pPr lvl="1"/>
            <a:r>
              <a:rPr lang="en-GB" b="1" dirty="0"/>
              <a:t>Integrated op amps</a:t>
            </a:r>
            <a:r>
              <a:rPr lang="en-GB" dirty="0"/>
              <a:t> for </a:t>
            </a:r>
            <a:r>
              <a:rPr lang="en-GB" dirty="0" err="1"/>
              <a:t>onboard</a:t>
            </a:r>
            <a:r>
              <a:rPr lang="en-GB" dirty="0"/>
              <a:t> </a:t>
            </a:r>
            <a:r>
              <a:rPr lang="en-GB" dirty="0" err="1"/>
              <a:t>analog</a:t>
            </a:r>
            <a:r>
              <a:rPr lang="en-GB" dirty="0"/>
              <a:t> signal conditioning and amplification</a:t>
            </a:r>
          </a:p>
          <a:p>
            <a:endParaRPr lang="en-GB" dirty="0" smtClean="0"/>
          </a:p>
          <a:p>
            <a:r>
              <a:rPr lang="en-GB" dirty="0" smtClean="0"/>
              <a:t>The PIC16175xx offers 14, 20, 28, 40 and 44-pin products in small footprint packages to support customers in a wide variety of applications. 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4446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Videos...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987574"/>
            <a:ext cx="6447501" cy="4111476"/>
          </a:xfrm>
          <a:solidFill>
            <a:schemeClr val="bg1"/>
          </a:solidFill>
        </p:spPr>
        <p:txBody>
          <a:bodyPr>
            <a:noAutofit/>
          </a:bodyPr>
          <a:lstStyle/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Install the hardware and make the board work – three LED programs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Make  four LEDs flash in a sequence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Set the LEDs to represent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Sequence the LEDs with a delay using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input to set the state of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b="1" dirty="0"/>
              <a:t>Using the reset switch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switch, ADC – make the LEDs flash in a sequence with reverse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serial to display values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timer0 overflow, 8bit timer, 16bit timer to flash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EEProm – showing values on the serial terminal, and more constants insights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I2C with serial to discover I2C devices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I2C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 SPI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PWM, </a:t>
            </a:r>
            <a:r>
              <a:rPr lang="en-GB" sz="1100" dirty="0" smtClean="0"/>
              <a:t>many  </a:t>
            </a:r>
            <a:r>
              <a:rPr lang="en-GB" sz="1100" dirty="0"/>
              <a:t>ways,  to dim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external interrupt to control an LED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storage within the chip – Progmem, SAF memory, EEPROM and DATA blocks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CLC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The GCBASIC tool chain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Assembly , alternatives assemblers and MPLAB-X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Summary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400" dirty="0" smtClean="0">
              <a:solidFill>
                <a:schemeClr val="bg1">
                  <a:lumMod val="75000"/>
                </a:schemeClr>
              </a:solidFill>
            </a:endParaRPr>
          </a:p>
          <a:p>
            <a:pPr marL="180000" indent="-478483">
              <a:spcBef>
                <a:spcPts val="300"/>
              </a:spcBef>
              <a:buNone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/>
          </a:p>
        </p:txBody>
      </p:sp>
    </p:spTree>
    <p:extLst>
      <p:ext uri="{BB962C8B-B14F-4D97-AF65-F5344CB8AC3E}">
        <p14:creationId xmlns:p14="http://schemas.microsoft.com/office/powerpoint/2010/main" val="1947865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1835697" y="1707656"/>
            <a:ext cx="1605103" cy="14252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100" dirty="0" smtClean="0"/>
              <a:t>GCBASIC </a:t>
            </a:r>
            <a:r>
              <a:rPr lang="en-GB" sz="1500" dirty="0" smtClean="0"/>
              <a:t>Compiler</a:t>
            </a:r>
            <a:endParaRPr lang="en-GB" sz="1100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GCBASIC Compiler</a:t>
            </a:r>
            <a:endParaRPr lang="en-GB" dirty="0"/>
          </a:p>
        </p:txBody>
      </p:sp>
      <p:sp>
        <p:nvSpPr>
          <p:cNvPr id="13" name="TextBox 12"/>
          <p:cNvSpPr txBox="1"/>
          <p:nvPr/>
        </p:nvSpPr>
        <p:spPr>
          <a:xfrm>
            <a:off x="3563888" y="2643758"/>
            <a:ext cx="3528392" cy="1655553"/>
          </a:xfrm>
          <a:prstGeom prst="rect">
            <a:avLst/>
          </a:prstGeom>
          <a:noFill/>
        </p:spPr>
        <p:txBody>
          <a:bodyPr wrap="square" lIns="85064" tIns="42531" rIns="85064" bIns="42531" rtlCol="0">
            <a:spAutoFit/>
          </a:bodyPr>
          <a:lstStyle/>
          <a:p>
            <a:r>
              <a:rPr lang="en-GB" dirty="0" smtClean="0"/>
              <a:t>GCBASIC is an Open Source compiler for PIC, AVR and LGT microcontrollers</a:t>
            </a:r>
          </a:p>
          <a:p>
            <a:endParaRPr lang="en-GB" dirty="0" smtClean="0"/>
          </a:p>
          <a:p>
            <a:r>
              <a:rPr lang="en-GB" dirty="0" smtClean="0"/>
              <a:t>GCBASIC now supports the 16F175xx chip family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Prerequisites 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Assumes you have </a:t>
            </a:r>
          </a:p>
          <a:p>
            <a:pPr marL="778521" lvl="1" indent="-478483"/>
            <a:r>
              <a:rPr lang="en-GB" dirty="0" smtClean="0"/>
              <a:t>Installed the GCBASIC software</a:t>
            </a:r>
          </a:p>
          <a:p>
            <a:pPr marL="778521" lvl="1" indent="-478483"/>
            <a:r>
              <a:rPr lang="en-GB" dirty="0" smtClean="0"/>
              <a:t>Installed your programmer software</a:t>
            </a:r>
          </a:p>
          <a:p>
            <a:pPr marL="778521" lvl="1" indent="-478483"/>
            <a:r>
              <a:rPr lang="en-GB" dirty="0" smtClean="0"/>
              <a:t>Test that you have the 16F175xx attached</a:t>
            </a:r>
          </a:p>
          <a:p>
            <a:pPr marL="778521" lvl="1" indent="-478483"/>
            <a:r>
              <a:rPr lang="en-GB" dirty="0" smtClean="0"/>
              <a:t>You have the 4 LEDs operating</a:t>
            </a:r>
          </a:p>
          <a:p>
            <a:pPr marL="778521" lvl="1" indent="-478483"/>
            <a:r>
              <a:rPr lang="en-GB" dirty="0" smtClean="0"/>
              <a:t>You have a POT connected</a:t>
            </a:r>
          </a:p>
          <a:p>
            <a:pPr marL="778521" lvl="1" indent="-478483"/>
            <a:r>
              <a:rPr lang="en-GB" dirty="0" smtClean="0"/>
              <a:t>You have </a:t>
            </a:r>
            <a:r>
              <a:rPr lang="en-GB" dirty="0" err="1" smtClean="0"/>
              <a:t>SWITCH</a:t>
            </a:r>
            <a:r>
              <a:rPr lang="en-GB" b="1" dirty="0" err="1" smtClean="0"/>
              <a:t>es</a:t>
            </a:r>
            <a:r>
              <a:rPr lang="en-GB" dirty="0" smtClean="0"/>
              <a:t> connected</a:t>
            </a:r>
          </a:p>
          <a:p>
            <a:pPr marL="0" indent="0">
              <a:buNone/>
            </a:pPr>
            <a:endParaRPr lang="en-GB" dirty="0" smtClean="0"/>
          </a:p>
          <a:p>
            <a:pPr marL="0" indent="0">
              <a:buNone/>
            </a:pPr>
            <a:endParaRPr lang="en-GB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512" y="483518"/>
            <a:ext cx="6120680" cy="384288"/>
          </a:xfrm>
          <a:solidFill>
            <a:schemeClr val="bg1"/>
          </a:solidFill>
        </p:spPr>
        <p:txBody>
          <a:bodyPr vert="horz" lIns="0" tIns="0" rIns="0" bIns="0" rtlCol="0" anchor="t">
            <a:normAutofit fontScale="90000"/>
          </a:bodyPr>
          <a:lstStyle/>
          <a:p>
            <a:pPr algn="l"/>
            <a:r>
              <a:rPr lang="en-GB" dirty="0" smtClean="0"/>
              <a:t>Using the Reset as input or Master Clear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RE3 Pin Functionality Overview</a:t>
            </a:r>
            <a:endParaRPr lang="en-GB" dirty="0"/>
          </a:p>
          <a:p>
            <a:pPr lvl="1"/>
            <a:r>
              <a:rPr lang="en-GB" dirty="0"/>
              <a:t>RE3 is a multifunctional pin on certain PIC microcontrollers.</a:t>
            </a:r>
          </a:p>
          <a:p>
            <a:pPr lvl="1"/>
            <a:r>
              <a:rPr lang="en-GB" dirty="0"/>
              <a:t>It can operate either as a digital input or as a Master Clear (reset) signal</a:t>
            </a:r>
            <a:r>
              <a:rPr lang="en-GB" dirty="0" smtClean="0"/>
              <a:t>.</a:t>
            </a:r>
          </a:p>
          <a:p>
            <a:pPr lvl="1"/>
            <a:endParaRPr lang="en-GB" dirty="0"/>
          </a:p>
          <a:p>
            <a:r>
              <a:rPr lang="en-GB" b="1" dirty="0"/>
              <a:t>🔧 Configuration Control via MCRLE Register</a:t>
            </a:r>
            <a:endParaRPr lang="en-GB" dirty="0"/>
          </a:p>
          <a:p>
            <a:pPr lvl="1"/>
            <a:r>
              <a:rPr lang="en-GB" b="1" dirty="0" smtClean="0"/>
              <a:t>EXTMCLR</a:t>
            </a:r>
            <a:r>
              <a:rPr lang="en-GB" dirty="0" smtClean="0"/>
              <a:t>: </a:t>
            </a:r>
            <a:r>
              <a:rPr lang="en-GB" dirty="0"/>
              <a:t>External Master Clear enabled → RE3 functions as </a:t>
            </a:r>
            <a:r>
              <a:rPr lang="en-GB" b="1" dirty="0"/>
              <a:t>MCLR</a:t>
            </a:r>
            <a:r>
              <a:rPr lang="en-GB" dirty="0"/>
              <a:t> (reset input)</a:t>
            </a:r>
          </a:p>
          <a:p>
            <a:pPr lvl="1"/>
            <a:r>
              <a:rPr lang="en-GB" b="1" dirty="0" smtClean="0"/>
              <a:t>INTMCLR</a:t>
            </a:r>
            <a:r>
              <a:rPr lang="en-GB" dirty="0" smtClean="0"/>
              <a:t>: </a:t>
            </a:r>
            <a:r>
              <a:rPr lang="en-GB" dirty="0"/>
              <a:t>Internal Master Clear enabled → RE3 functions as </a:t>
            </a:r>
            <a:r>
              <a:rPr lang="en-GB" b="1" dirty="0"/>
              <a:t>digital input</a:t>
            </a:r>
            <a:r>
              <a:rPr lang="en-GB" dirty="0"/>
              <a:t> (e.g., switch</a:t>
            </a:r>
            <a:r>
              <a:rPr lang="en-GB" dirty="0" smtClean="0"/>
              <a:t>)</a:t>
            </a:r>
          </a:p>
          <a:p>
            <a:pPr marL="342900" lvl="1" indent="0">
              <a:buNone/>
            </a:pPr>
            <a:endParaRPr lang="en-GB" dirty="0"/>
          </a:p>
          <a:p>
            <a:r>
              <a:rPr lang="en-GB" b="1" dirty="0"/>
              <a:t>🧠 Design Implications</a:t>
            </a:r>
            <a:endParaRPr lang="en-GB" dirty="0"/>
          </a:p>
          <a:p>
            <a:pPr lvl="1"/>
            <a:r>
              <a:rPr lang="en-GB" dirty="0"/>
              <a:t>Choose </a:t>
            </a:r>
            <a:r>
              <a:rPr lang="en-GB" b="1" dirty="0" smtClean="0"/>
              <a:t>EXTMCLR</a:t>
            </a:r>
            <a:r>
              <a:rPr lang="en-GB" dirty="0" smtClean="0"/>
              <a:t> </a:t>
            </a:r>
            <a:r>
              <a:rPr lang="en-GB" dirty="0"/>
              <a:t>for hardware reset capability.</a:t>
            </a:r>
          </a:p>
          <a:p>
            <a:pPr lvl="1"/>
            <a:r>
              <a:rPr lang="en-GB" dirty="0"/>
              <a:t>Choose </a:t>
            </a:r>
            <a:r>
              <a:rPr lang="en-GB" b="1" dirty="0" smtClean="0"/>
              <a:t>INTMCLR</a:t>
            </a:r>
            <a:r>
              <a:rPr lang="en-GB" dirty="0" smtClean="0"/>
              <a:t> </a:t>
            </a:r>
            <a:r>
              <a:rPr lang="en-GB" dirty="0"/>
              <a:t>to repurpose RE3 for input tasks like button detection.</a:t>
            </a:r>
          </a:p>
          <a:p>
            <a:pPr lvl="2">
              <a:buNone/>
            </a:pPr>
            <a:endParaRPr lang="en-GB" i="1" dirty="0" smtClean="0"/>
          </a:p>
          <a:p>
            <a:pPr lvl="2">
              <a:buNone/>
            </a:pPr>
            <a:endParaRPr lang="en-GB" dirty="0"/>
          </a:p>
        </p:txBody>
      </p:sp>
      <p:sp>
        <p:nvSpPr>
          <p:cNvPr id="7" name="Rectangle 6"/>
          <p:cNvSpPr/>
          <p:nvPr/>
        </p:nvSpPr>
        <p:spPr>
          <a:xfrm>
            <a:off x="6690742" y="3843784"/>
            <a:ext cx="360040" cy="2485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Straight Connector 5"/>
          <p:cNvCxnSpPr/>
          <p:nvPr/>
        </p:nvCxnSpPr>
        <p:spPr>
          <a:xfrm>
            <a:off x="6684491" y="3924151"/>
            <a:ext cx="373534" cy="14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6087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575" y="501030"/>
            <a:ext cx="5400600" cy="990600"/>
          </a:xfrm>
        </p:spPr>
        <p:txBody>
          <a:bodyPr vert="horz" lIns="85064" tIns="42531" rIns="85064" bIns="42531" rtlCol="0" anchor="t">
            <a:normAutofit/>
          </a:bodyPr>
          <a:lstStyle/>
          <a:p>
            <a:r>
              <a:rPr lang="en-GB" dirty="0"/>
              <a:t>Digital input</a:t>
            </a:r>
          </a:p>
        </p:txBody>
      </p:sp>
      <p:sp>
        <p:nvSpPr>
          <p:cNvPr id="5" name="AutoShape 4" descr="Uploaded imag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AutoShape 6" descr="Uploaded image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AutoShape 8" descr="image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grpSp>
        <p:nvGrpSpPr>
          <p:cNvPr id="25" name="Group 24"/>
          <p:cNvGrpSpPr/>
          <p:nvPr/>
        </p:nvGrpSpPr>
        <p:grpSpPr>
          <a:xfrm>
            <a:off x="547911" y="1563638"/>
            <a:ext cx="4384129" cy="2952328"/>
            <a:chOff x="1043608" y="1563638"/>
            <a:chExt cx="4384129" cy="2952328"/>
          </a:xfrm>
        </p:grpSpPr>
        <p:pic>
          <p:nvPicPr>
            <p:cNvPr id="1036" name="Picture 1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3608" y="1563638"/>
              <a:ext cx="1476375" cy="29241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37" name="Picture 13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79912" y="1565118"/>
              <a:ext cx="1647825" cy="29508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4" name="Rectangle 23"/>
            <p:cNvSpPr/>
            <p:nvPr/>
          </p:nvSpPr>
          <p:spPr>
            <a:xfrm>
              <a:off x="2555776" y="1563638"/>
              <a:ext cx="1152128" cy="289406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Rectangle 25"/>
          <p:cNvSpPr/>
          <p:nvPr/>
        </p:nvSpPr>
        <p:spPr>
          <a:xfrm>
            <a:off x="515615" y="1804416"/>
            <a:ext cx="2120528" cy="180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dirty="0" smtClean="0">
                <a:solidFill>
                  <a:schemeClr val="tx1"/>
                </a:solidFill>
              </a:rPr>
              <a:t>ADC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60375" y="3435846"/>
            <a:ext cx="2120528" cy="8640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dirty="0" smtClean="0">
                <a:solidFill>
                  <a:schemeClr val="tx1"/>
                </a:solidFill>
              </a:rPr>
              <a:t>LED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19448" y="2355726"/>
            <a:ext cx="2120528" cy="180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dirty="0" smtClean="0">
                <a:solidFill>
                  <a:schemeClr val="tx1"/>
                </a:solidFill>
              </a:rPr>
              <a:t>SW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732240" y="3651870"/>
            <a:ext cx="432048" cy="3182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Straight Connector 9"/>
          <p:cNvCxnSpPr/>
          <p:nvPr/>
        </p:nvCxnSpPr>
        <p:spPr>
          <a:xfrm>
            <a:off x="6660232" y="3867894"/>
            <a:ext cx="64807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26986" y="2440971"/>
            <a:ext cx="3056087" cy="26437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7" name="Rectangle 26"/>
          <p:cNvSpPr/>
          <p:nvPr/>
        </p:nvSpPr>
        <p:spPr>
          <a:xfrm>
            <a:off x="5436096" y="4011910"/>
            <a:ext cx="3646977" cy="1125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/>
          <p:cNvSpPr/>
          <p:nvPr/>
        </p:nvSpPr>
        <p:spPr>
          <a:xfrm>
            <a:off x="6372200" y="3651870"/>
            <a:ext cx="1081685" cy="12168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9" name="Straight Connector 28"/>
          <p:cNvCxnSpPr/>
          <p:nvPr/>
        </p:nvCxnSpPr>
        <p:spPr>
          <a:xfrm flipV="1">
            <a:off x="6300192" y="3861447"/>
            <a:ext cx="1277097" cy="64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588946" y="3727585"/>
            <a:ext cx="1081685" cy="12168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Pentagon 30"/>
          <p:cNvSpPr/>
          <p:nvPr/>
        </p:nvSpPr>
        <p:spPr>
          <a:xfrm>
            <a:off x="6167611" y="2883342"/>
            <a:ext cx="360040" cy="134372"/>
          </a:xfrm>
          <a:prstGeom prst="homePlat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00" dirty="0" smtClean="0"/>
              <a:t>RE3</a:t>
            </a:r>
            <a:endParaRPr lang="en-GB" dirty="0"/>
          </a:p>
        </p:txBody>
      </p:sp>
      <p:sp>
        <p:nvSpPr>
          <p:cNvPr id="32" name="Rectangle 31"/>
          <p:cNvSpPr/>
          <p:nvPr/>
        </p:nvSpPr>
        <p:spPr>
          <a:xfrm>
            <a:off x="519448" y="1566672"/>
            <a:ext cx="2120528" cy="2004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b="1" dirty="0" smtClean="0">
                <a:solidFill>
                  <a:schemeClr val="tx1"/>
                </a:solidFill>
              </a:rPr>
              <a:t>SW</a:t>
            </a:r>
            <a:endParaRPr lang="en-GB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3260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GB" dirty="0" smtClean="0"/>
              <a:t>Hardware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Prototype Board</a:t>
            </a:r>
          </a:p>
          <a:p>
            <a:r>
              <a:rPr lang="en-GB" dirty="0"/>
              <a:t>Power 5v0</a:t>
            </a:r>
          </a:p>
          <a:p>
            <a:r>
              <a:rPr lang="en-GB" dirty="0"/>
              <a:t>Programmer</a:t>
            </a:r>
          </a:p>
          <a:p>
            <a:r>
              <a:rPr lang="en-GB" dirty="0"/>
              <a:t>LEDs &amp; resistors</a:t>
            </a:r>
          </a:p>
          <a:p>
            <a:r>
              <a:rPr lang="en-GB" dirty="0"/>
              <a:t>Switch &amp; resistors</a:t>
            </a:r>
          </a:p>
          <a:p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2190768" y="1199484"/>
            <a:ext cx="5328592" cy="397031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  Hardware</a:t>
            </a:r>
          </a:p>
          <a:p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-------------------</a:t>
            </a:r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PORTA-</a:t>
            </a:r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---------------</a:t>
            </a: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Bit</a:t>
            </a:r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#:  -7---6---5---4---3---2---1---0-</a:t>
            </a:r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IO</a:t>
            </a:r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  -----------------SW----------ADC-</a:t>
            </a:r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----------------------------------------</a:t>
            </a: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-------------------</a:t>
            </a:r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PORTB-</a:t>
            </a:r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---------------</a:t>
            </a: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Bit</a:t>
            </a:r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#:  -7---6---5---4---3---2---1---0-</a:t>
            </a:r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IO</a:t>
            </a:r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   </a:t>
            </a:r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---------------------------------</a:t>
            </a: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----------------------------------------</a:t>
            </a: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------------------</a:t>
            </a:r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PORTC-</a:t>
            </a:r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----------------</a:t>
            </a: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Bit</a:t>
            </a:r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#:  -7---6---5---4---3---2---1---0-</a:t>
            </a:r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IO</a:t>
            </a:r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   ---------------LED--LED-LED LED-</a:t>
            </a:r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----------------------------------------</a:t>
            </a: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------------------</a:t>
            </a:r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PORTE-</a:t>
            </a:r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----------------</a:t>
            </a: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Bit</a:t>
            </a:r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#:  -7---6---5---4---3---2---1---0-</a:t>
            </a:r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IO</a:t>
            </a:r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   ----------------MCLR-------------</a:t>
            </a:r>
          </a:p>
          <a:p>
            <a:r>
              <a:rPr lang="en-GB" sz="1200" b="1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------------------------SW--------------</a:t>
            </a:r>
            <a: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en-GB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GB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Oval 4"/>
          <p:cNvSpPr/>
          <p:nvPr/>
        </p:nvSpPr>
        <p:spPr>
          <a:xfrm>
            <a:off x="3779912" y="4011910"/>
            <a:ext cx="1296144" cy="86409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/>
          <p:cNvSpPr/>
          <p:nvPr/>
        </p:nvSpPr>
        <p:spPr>
          <a:xfrm>
            <a:off x="3882400" y="4152118"/>
            <a:ext cx="567680" cy="2076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/>
          <p:cNvSpPr/>
          <p:nvPr/>
        </p:nvSpPr>
        <p:spPr>
          <a:xfrm>
            <a:off x="4287384" y="4366972"/>
            <a:ext cx="567680" cy="36501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9172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5220072" y="46594"/>
            <a:ext cx="3038649" cy="48923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smtClean="0"/>
              <a:t>Tutorial overview</a:t>
            </a:r>
            <a:endParaRPr lang="en-GB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Part 1 – RE3 as input</a:t>
            </a:r>
          </a:p>
          <a:p>
            <a:pPr lvl="1"/>
            <a:r>
              <a:rPr lang="en-GB" dirty="0" smtClean="0"/>
              <a:t>Initialise</a:t>
            </a:r>
          </a:p>
          <a:p>
            <a:pPr lvl="1"/>
            <a:r>
              <a:rPr lang="en-GB" dirty="0" smtClean="0"/>
              <a:t>Check the reset switch </a:t>
            </a:r>
          </a:p>
          <a:p>
            <a:pPr lvl="2"/>
            <a:r>
              <a:rPr lang="en-GB" dirty="0" smtClean="0"/>
              <a:t>If pushed then toggle LED</a:t>
            </a:r>
          </a:p>
          <a:p>
            <a:r>
              <a:rPr lang="en-GB" dirty="0" smtClean="0"/>
              <a:t>Part 2 – RE3 as reset</a:t>
            </a:r>
          </a:p>
          <a:p>
            <a:pPr lvl="1"/>
            <a:r>
              <a:rPr lang="en-GB" dirty="0" smtClean="0"/>
              <a:t>Initialise</a:t>
            </a:r>
          </a:p>
          <a:p>
            <a:pPr lvl="1"/>
            <a:r>
              <a:rPr lang="en-GB" dirty="0" smtClean="0"/>
              <a:t>Resets every time…</a:t>
            </a:r>
          </a:p>
          <a:p>
            <a:pPr lvl="1">
              <a:buNone/>
            </a:pPr>
            <a:endParaRPr lang="en-GB" dirty="0" smtClean="0"/>
          </a:p>
          <a:p>
            <a:pPr lvl="1">
              <a:buNone/>
            </a:pPr>
            <a:endParaRPr lang="en-GB" dirty="0" smtClean="0"/>
          </a:p>
        </p:txBody>
      </p:sp>
      <p:sp>
        <p:nvSpPr>
          <p:cNvPr id="4" name="Flowchart: Alternate Process 3"/>
          <p:cNvSpPr/>
          <p:nvPr/>
        </p:nvSpPr>
        <p:spPr>
          <a:xfrm>
            <a:off x="5573202" y="339502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 smtClean="0">
                <a:solidFill>
                  <a:schemeClr val="tx1"/>
                </a:solidFill>
              </a:rPr>
              <a:t>Initialise</a:t>
            </a:r>
            <a:endParaRPr lang="en-GB" sz="800" dirty="0">
              <a:solidFill>
                <a:schemeClr val="tx1"/>
              </a:solidFill>
            </a:endParaRPr>
          </a:p>
        </p:txBody>
      </p:sp>
      <p:sp>
        <p:nvSpPr>
          <p:cNvPr id="5" name="Flowchart: Alternate Process 4"/>
          <p:cNvSpPr/>
          <p:nvPr/>
        </p:nvSpPr>
        <p:spPr>
          <a:xfrm>
            <a:off x="5573202" y="915566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 smtClean="0">
                <a:solidFill>
                  <a:schemeClr val="tx1"/>
                </a:solidFill>
              </a:rPr>
              <a:t>Flash an LED</a:t>
            </a:r>
            <a:endParaRPr lang="en-GB" sz="800" dirty="0">
              <a:solidFill>
                <a:schemeClr val="tx1"/>
              </a:solidFill>
            </a:endParaRPr>
          </a:p>
        </p:txBody>
      </p:sp>
      <p:sp>
        <p:nvSpPr>
          <p:cNvPr id="8" name="Flowchart: Decision 7"/>
          <p:cNvSpPr/>
          <p:nvPr/>
        </p:nvSpPr>
        <p:spPr>
          <a:xfrm>
            <a:off x="5686358" y="2074292"/>
            <a:ext cx="1357865" cy="576064"/>
          </a:xfrm>
          <a:prstGeom prst="flowChartDecision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800" b="1" dirty="0" err="1" smtClean="0">
                <a:solidFill>
                  <a:schemeClr val="tx1"/>
                </a:solidFill>
              </a:rPr>
              <a:t>RSTButton</a:t>
            </a:r>
            <a:r>
              <a:rPr lang="en-GB" sz="800" b="1" dirty="0" smtClean="0">
                <a:solidFill>
                  <a:schemeClr val="tx1"/>
                </a:solidFill>
              </a:rPr>
              <a:t> = 0</a:t>
            </a:r>
            <a:endParaRPr lang="en-GB" sz="800" b="1" dirty="0">
              <a:solidFill>
                <a:schemeClr val="tx1"/>
              </a:solidFill>
            </a:endParaRPr>
          </a:p>
        </p:txBody>
      </p:sp>
      <p:cxnSp>
        <p:nvCxnSpPr>
          <p:cNvPr id="9" name="Straight Arrow Connector 8"/>
          <p:cNvCxnSpPr>
            <a:endCxn id="5" idx="0"/>
          </p:cNvCxnSpPr>
          <p:nvPr/>
        </p:nvCxnSpPr>
        <p:spPr>
          <a:xfrm>
            <a:off x="6365290" y="699542"/>
            <a:ext cx="0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endCxn id="8" idx="0"/>
          </p:cNvCxnSpPr>
          <p:nvPr/>
        </p:nvCxnSpPr>
        <p:spPr>
          <a:xfrm>
            <a:off x="6360820" y="1809750"/>
            <a:ext cx="4471" cy="26454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Flowchart: Alternate Process 21"/>
          <p:cNvSpPr/>
          <p:nvPr/>
        </p:nvSpPr>
        <p:spPr>
          <a:xfrm>
            <a:off x="5573202" y="4443958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 smtClean="0">
                <a:solidFill>
                  <a:schemeClr val="tx1"/>
                </a:solidFill>
              </a:rPr>
              <a:t>Loop</a:t>
            </a:r>
            <a:endParaRPr lang="en-GB" sz="800" dirty="0">
              <a:solidFill>
                <a:schemeClr val="tx1"/>
              </a:solidFill>
            </a:endParaRPr>
          </a:p>
        </p:txBody>
      </p:sp>
      <p:sp>
        <p:nvSpPr>
          <p:cNvPr id="33" name="Flowchart: Alternate Process 32"/>
          <p:cNvSpPr/>
          <p:nvPr/>
        </p:nvSpPr>
        <p:spPr>
          <a:xfrm>
            <a:off x="7164288" y="3075806"/>
            <a:ext cx="1008112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 smtClean="0">
                <a:solidFill>
                  <a:schemeClr val="tx1"/>
                </a:solidFill>
              </a:rPr>
              <a:t>Set LED State</a:t>
            </a:r>
            <a:endParaRPr lang="en-GB" sz="800" dirty="0">
              <a:solidFill>
                <a:schemeClr val="tx1"/>
              </a:solidFill>
            </a:endParaRPr>
          </a:p>
        </p:txBody>
      </p:sp>
      <p:cxnSp>
        <p:nvCxnSpPr>
          <p:cNvPr id="35" name="Straight Arrow Connector 34"/>
          <p:cNvCxnSpPr/>
          <p:nvPr/>
        </p:nvCxnSpPr>
        <p:spPr>
          <a:xfrm>
            <a:off x="6360236" y="2650356"/>
            <a:ext cx="10109" cy="178829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/>
          <p:cNvCxnSpPr>
            <a:stCxn id="8" idx="3"/>
            <a:endCxn id="33" idx="0"/>
          </p:cNvCxnSpPr>
          <p:nvPr/>
        </p:nvCxnSpPr>
        <p:spPr>
          <a:xfrm>
            <a:off x="7044223" y="2362324"/>
            <a:ext cx="624121" cy="713482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hape 38"/>
          <p:cNvCxnSpPr>
            <a:stCxn id="33" idx="2"/>
            <a:endCxn id="22" idx="3"/>
          </p:cNvCxnSpPr>
          <p:nvPr/>
        </p:nvCxnSpPr>
        <p:spPr>
          <a:xfrm rot="5400000">
            <a:off x="6818795" y="3774429"/>
            <a:ext cx="1188132" cy="510966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144717" y="3075806"/>
            <a:ext cx="441146" cy="353943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dirty="0" smtClean="0"/>
              <a:t>No</a:t>
            </a:r>
            <a:endParaRPr lang="en-GB" dirty="0"/>
          </a:p>
        </p:txBody>
      </p:sp>
      <p:sp>
        <p:nvSpPr>
          <p:cNvPr id="50" name="TextBox 49"/>
          <p:cNvSpPr txBox="1"/>
          <p:nvPr/>
        </p:nvSpPr>
        <p:spPr>
          <a:xfrm>
            <a:off x="7438058" y="2400548"/>
            <a:ext cx="468783" cy="353943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dirty="0" smtClean="0"/>
              <a:t>Yes</a:t>
            </a:r>
            <a:endParaRPr lang="en-GB" dirty="0"/>
          </a:p>
        </p:txBody>
      </p:sp>
      <p:sp>
        <p:nvSpPr>
          <p:cNvPr id="32" name="Flowchart: Alternate Process 31"/>
          <p:cNvSpPr/>
          <p:nvPr/>
        </p:nvSpPr>
        <p:spPr>
          <a:xfrm>
            <a:off x="5573202" y="1500510"/>
            <a:ext cx="1584176" cy="360040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 smtClean="0">
                <a:solidFill>
                  <a:schemeClr val="tx1"/>
                </a:solidFill>
              </a:rPr>
              <a:t>Do Forever</a:t>
            </a:r>
            <a:endParaRPr lang="en-GB" sz="800" dirty="0">
              <a:solidFill>
                <a:schemeClr val="tx1"/>
              </a:solidFill>
            </a:endParaRPr>
          </a:p>
        </p:txBody>
      </p:sp>
      <p:cxnSp>
        <p:nvCxnSpPr>
          <p:cNvPr id="36" name="Elbow Connector 35"/>
          <p:cNvCxnSpPr/>
          <p:nvPr/>
        </p:nvCxnSpPr>
        <p:spPr>
          <a:xfrm rot="10800000">
            <a:off x="5580112" y="1707654"/>
            <a:ext cx="12700" cy="2943448"/>
          </a:xfrm>
          <a:prstGeom prst="bentConnector3">
            <a:avLst>
              <a:gd name="adj1" fmla="val 180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6372200" y="1275606"/>
            <a:ext cx="0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828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lIns="85064" tIns="42531" rIns="85064" bIns="42531" rtlCol="0" anchor="t">
            <a:normAutofit/>
          </a:bodyPr>
          <a:lstStyle/>
          <a:p>
            <a:pPr algn="l"/>
            <a:r>
              <a:rPr lang="en-GB" dirty="0" smtClean="0"/>
              <a:t>Lab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Review PICINFO options</a:t>
            </a:r>
          </a:p>
          <a:p>
            <a:endParaRPr lang="en-GB" dirty="0" smtClean="0"/>
          </a:p>
          <a:p>
            <a:r>
              <a:rPr lang="en-GB" dirty="0" smtClean="0"/>
              <a:t>Examine the sample code</a:t>
            </a:r>
          </a:p>
          <a:p>
            <a:endParaRPr lang="en-GB" dirty="0" smtClean="0"/>
          </a:p>
          <a:p>
            <a:r>
              <a:rPr lang="en-GB" dirty="0" smtClean="0"/>
              <a:t>Review the results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2917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Videos...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987574"/>
            <a:ext cx="6447501" cy="4111476"/>
          </a:xfrm>
          <a:solidFill>
            <a:schemeClr val="bg1"/>
          </a:solidFill>
        </p:spPr>
        <p:txBody>
          <a:bodyPr>
            <a:noAutofit/>
          </a:bodyPr>
          <a:lstStyle/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Install the hardware and make the board work – three LED programs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Make  four LEDs flash in a sequence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Set the LEDs to represent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Sequence the LEDs with a delay using the value of ADC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input to set the state of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reset switch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b="1" dirty="0"/>
              <a:t>Using the switch, ADC – make the LEDs flash in a sequence with reverse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serial to display values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the timer0 overflow, 8bit timer, 16bit timer to flash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EEProm – showing values on the serial terminal, and more constants insights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I2C with serial to discover I2C devices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I2C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 SPI GCLD display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PWM, </a:t>
            </a:r>
            <a:r>
              <a:rPr lang="en-GB" sz="1100" dirty="0" smtClean="0"/>
              <a:t>many  </a:t>
            </a:r>
            <a:r>
              <a:rPr lang="en-GB" sz="1100" dirty="0"/>
              <a:t>ways,  to dim the LEDS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an external interrupt to control an LED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storage within the chip – Progmem, SAF memory, EEPROM and DATA blocks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Using CLC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The GCBASIC tool chain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Assembly , alternatives assemblers and MPLAB-X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r>
              <a:rPr lang="en-GB" sz="1100" dirty="0"/>
              <a:t>Summary</a:t>
            </a:r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400" dirty="0" smtClean="0">
              <a:solidFill>
                <a:schemeClr val="bg1">
                  <a:lumMod val="75000"/>
                </a:schemeClr>
              </a:solidFill>
            </a:endParaRPr>
          </a:p>
          <a:p>
            <a:pPr marL="180000" indent="-478483">
              <a:spcBef>
                <a:spcPts val="300"/>
              </a:spcBef>
              <a:buNone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7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 smtClean="0"/>
          </a:p>
          <a:p>
            <a:pPr marL="180000" indent="-478483">
              <a:spcBef>
                <a:spcPts val="300"/>
              </a:spcBef>
              <a:buFont typeface="+mj-lt"/>
              <a:buAutoNum type="arabicPeriod"/>
            </a:pPr>
            <a:endParaRPr lang="en-GB" sz="500" dirty="0"/>
          </a:p>
        </p:txBody>
      </p:sp>
    </p:spTree>
    <p:extLst>
      <p:ext uri="{BB962C8B-B14F-4D97-AF65-F5344CB8AC3E}">
        <p14:creationId xmlns:p14="http://schemas.microsoft.com/office/powerpoint/2010/main" val="1332074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smtClean="0"/>
              <a:t>GCBASIC</a:t>
            </a:r>
            <a:endParaRPr lang="en-GB" dirty="0"/>
          </a:p>
        </p:txBody>
      </p:sp>
      <p:pic>
        <p:nvPicPr>
          <p:cNvPr id="1026" name="Picture 2" descr="D:\Build\AnobiumTranspar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2080" y="911052"/>
            <a:ext cx="1828859" cy="771550"/>
          </a:xfrm>
          <a:prstGeom prst="rect">
            <a:avLst/>
          </a:prstGeom>
          <a:noFill/>
        </p:spPr>
      </p:pic>
      <p:sp>
        <p:nvSpPr>
          <p:cNvPr id="4" name="AutoShape 2" descr="ICSP connection"/>
          <p:cNvSpPr>
            <a:spLocks noChangeAspect="1" noChangeArrowheads="1"/>
          </p:cNvSpPr>
          <p:nvPr/>
        </p:nvSpPr>
        <p:spPr bwMode="auto">
          <a:xfrm>
            <a:off x="155575" y="-144462"/>
            <a:ext cx="304800" cy="304801"/>
          </a:xfrm>
          <a:prstGeom prst="rect">
            <a:avLst/>
          </a:prstGeom>
          <a:noFill/>
        </p:spPr>
        <p:txBody>
          <a:bodyPr vert="horz" wrap="square" lIns="85064" tIns="42531" rIns="85064" bIns="42531" numCol="1" anchor="t" anchorCtr="0" compatLnSpc="1">
            <a:prstTxWarp prst="textNoShape">
              <a:avLst/>
            </a:prstTxWarp>
          </a:bodyPr>
          <a:lstStyle/>
          <a:p>
            <a:endParaRPr lang="en-GB" dirty="0"/>
          </a:p>
        </p:txBody>
      </p:sp>
      <p:sp>
        <p:nvSpPr>
          <p:cNvPr id="8" name="Text Placeholder 4"/>
          <p:cNvSpPr txBox="1">
            <a:spLocks/>
          </p:cNvSpPr>
          <p:nvPr/>
        </p:nvSpPr>
        <p:spPr>
          <a:xfrm>
            <a:off x="3805512" y="2931790"/>
            <a:ext cx="3342861" cy="645300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lvl1pPr marL="0" indent="0" algn="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smtClean="0"/>
              <a:t>PIC16F175xx</a:t>
            </a:r>
          </a:p>
          <a:p>
            <a:r>
              <a:rPr lang="en-GB" dirty="0"/>
              <a:t>Part 6 – Using the reset switch</a:t>
            </a:r>
          </a:p>
        </p:txBody>
      </p:sp>
      <p:pic>
        <p:nvPicPr>
          <p:cNvPr id="7" name="Picture 4" descr="PIC16F17556 | Microchip Technolog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0880" y="3974993"/>
            <a:ext cx="2415427" cy="117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PIC16F19175 | Microchip Technology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4136" y="3943142"/>
            <a:ext cx="1384038" cy="1192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4668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GCstudioThemeLight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GC Basic Fonts">
      <a:majorFont>
        <a:latin typeface="Microsoft YaHei"/>
        <a:ea typeface=""/>
        <a:cs typeface=""/>
      </a:majorFont>
      <a:minorFont>
        <a:latin typeface="Corbel"/>
        <a:ea typeface=""/>
        <a:cs typeface="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GCstudioThemeLight" id="{4C740F94-33C0-4EEC-9234-F56C348A0987}" vid="{A43F8B96-90D8-489D-B80F-92F9D6F351C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Blue">
    <a:dk1>
      <a:sysClr val="windowText" lastClr="000000"/>
    </a:dk1>
    <a:lt1>
      <a:sysClr val="window" lastClr="FFFFFF"/>
    </a:lt1>
    <a:dk2>
      <a:srgbClr val="17406D"/>
    </a:dk2>
    <a:lt2>
      <a:srgbClr val="DBEFF9"/>
    </a:lt2>
    <a:accent1>
      <a:srgbClr val="0F6FC6"/>
    </a:accent1>
    <a:accent2>
      <a:srgbClr val="009DD9"/>
    </a:accent2>
    <a:accent3>
      <a:srgbClr val="0BD0D9"/>
    </a:accent3>
    <a:accent4>
      <a:srgbClr val="10CF9B"/>
    </a:accent4>
    <a:accent5>
      <a:srgbClr val="7CCA62"/>
    </a:accent5>
    <a:accent6>
      <a:srgbClr val="A5C249"/>
    </a:accent6>
    <a:hlink>
      <a:srgbClr val="F49100"/>
    </a:hlink>
    <a:folHlink>
      <a:srgbClr val="85DFD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12011</TotalTime>
  <Words>698</Words>
  <Application>Microsoft Office PowerPoint</Application>
  <PresentationFormat>On-screen Show (16:9)</PresentationFormat>
  <Paragraphs>153</Paragraphs>
  <Slides>15</Slides>
  <Notes>0</Notes>
  <HiddenSlides>2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GCstudioThemeLight</vt:lpstr>
      <vt:lpstr>GCBASIC</vt:lpstr>
      <vt:lpstr>GCBASIC</vt:lpstr>
      <vt:lpstr>GCBASIC</vt:lpstr>
      <vt:lpstr>PIC16F175xx</vt:lpstr>
      <vt:lpstr>Videos...</vt:lpstr>
      <vt:lpstr>GCBASIC Compiler</vt:lpstr>
      <vt:lpstr>Prerequisites </vt:lpstr>
      <vt:lpstr>Using the Reset as input or Master Clear</vt:lpstr>
      <vt:lpstr>Digital input</vt:lpstr>
      <vt:lpstr>Hardware</vt:lpstr>
      <vt:lpstr>Tutorial overview</vt:lpstr>
      <vt:lpstr>Lab</vt:lpstr>
      <vt:lpstr>PowerPoint Presentation</vt:lpstr>
      <vt:lpstr>Videos...</vt:lpstr>
      <vt:lpstr>GCBASIC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Great Cow BASIC</dc:title>
  <dc:creator>admin</dc:creator>
  <cp:lastModifiedBy>Evan R. Venn</cp:lastModifiedBy>
  <cp:revision>740</cp:revision>
  <dcterms:created xsi:type="dcterms:W3CDTF">2019-01-08T20:03:06Z</dcterms:created>
  <dcterms:modified xsi:type="dcterms:W3CDTF">2025-11-24T13:38:45Z</dcterms:modified>
</cp:coreProperties>
</file>