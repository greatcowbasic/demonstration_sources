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294" r:id="rId2"/>
    <p:sldId id="256" r:id="rId3"/>
    <p:sldId id="295" r:id="rId4"/>
    <p:sldId id="320" r:id="rId5"/>
    <p:sldId id="296" r:id="rId6"/>
    <p:sldId id="282" r:id="rId7"/>
    <p:sldId id="291" r:id="rId8"/>
    <p:sldId id="321" r:id="rId9"/>
    <p:sldId id="322" r:id="rId10"/>
    <p:sldId id="306" r:id="rId11"/>
    <p:sldId id="309" r:id="rId12"/>
    <p:sldId id="308" r:id="rId13"/>
    <p:sldId id="311" r:id="rId14"/>
    <p:sldId id="312" r:id="rId15"/>
    <p:sldId id="313" r:id="rId16"/>
    <p:sldId id="314" r:id="rId17"/>
    <p:sldId id="315" r:id="rId18"/>
    <p:sldId id="316" r:id="rId19"/>
    <p:sldId id="317" r:id="rId20"/>
    <p:sldId id="318" r:id="rId21"/>
    <p:sldId id="310" r:id="rId22"/>
    <p:sldId id="287" r:id="rId23"/>
    <p:sldId id="288" r:id="rId24"/>
    <p:sldId id="305" r:id="rId25"/>
    <p:sldId id="304" r:id="rId26"/>
    <p:sldId id="319" r:id="rId27"/>
  </p:sldIdLst>
  <p:sldSz cx="9144000" cy="5143500" type="screen16x9"/>
  <p:notesSz cx="6858000" cy="9144000"/>
  <p:defaultTextStyle>
    <a:defPPr>
      <a:defRPr lang="en-US"/>
    </a:defPPr>
    <a:lvl1pPr marL="0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4C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60"/>
  </p:normalViewPr>
  <p:slideViewPr>
    <p:cSldViewPr>
      <p:cViewPr>
        <p:scale>
          <a:sx n="85" d="100"/>
          <a:sy n="85" d="100"/>
        </p:scale>
        <p:origin x="-78" y="-6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7" d="100"/>
          <a:sy n="97" d="100"/>
        </p:scale>
        <p:origin x="-3582" y="-11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E545A-AB39-44F0-B5A6-04A90C6C9399}" type="datetimeFigureOut">
              <a:rPr lang="en-GB" smtClean="0"/>
              <a:pPr/>
              <a:t>17/11/2025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131C5-F37A-4CF6-BFE3-A572240BD6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0428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200" units="cm"/>
        </inkml:traceFormat>
        <inkml:channelProperties>
          <inkml:channelProperty channel="X" name="resolution" value="74.13127" units="1/cm"/>
          <inkml:channelProperty channel="Y" name="resolution" value="37.03704" units="1/cm"/>
        </inkml:channelProperties>
      </inkml:inkSource>
      <inkml:timestamp xml:id="ts0" timeString="2020-11-01T11:39:17.936"/>
    </inkml:context>
    <inkml:brush xml:id="br0">
      <inkml:brushProperty name="width" value="0.03528" units="cm"/>
      <inkml:brushProperty name="height" value="0.03528" units="cm"/>
      <inkml:brushProperty name="fitToCurve" value="1"/>
      <inkml:brushProperty name="ignorePressure" value="1"/>
    </inkml:brush>
  </inkml:definitions>
  <inkml:trace contextRef="#ctx0" brushRef="#br0">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00B3C-2E11-428B-8555-A77018253716}" type="datetimeFigureOut">
              <a:rPr lang="en-GB" smtClean="0"/>
              <a:pPr/>
              <a:t>17/11/2025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3471A-AA0F-4CD3-BA89-C1C7FB68C6D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186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C757326-0232-4CDF-81FF-302CA676961B}"/>
              </a:ext>
            </a:extLst>
          </p:cNvPr>
          <p:cNvSpPr/>
          <p:nvPr/>
        </p:nvSpPr>
        <p:spPr>
          <a:xfrm>
            <a:off x="1" y="0"/>
            <a:ext cx="9143999" cy="5143500"/>
          </a:xfrm>
          <a:prstGeom prst="rect">
            <a:avLst/>
          </a:prstGeom>
          <a:solidFill>
            <a:srgbClr val="0A0E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4987E008-68E6-4A43-85BC-1A6ACDF91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A1F8C892-C868-4DF6-91AB-B18CE632B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3000"/>
            <a:ext cx="4900613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44618" y="1406112"/>
            <a:ext cx="3342860" cy="1369936"/>
          </a:xfrm>
        </p:spPr>
        <p:txBody>
          <a:bodyPr anchor="b">
            <a:normAutofit/>
          </a:bodyPr>
          <a:lstStyle>
            <a:lvl1pPr algn="l">
              <a:defRPr sz="4100" b="0" cap="none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App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144617" y="2776047"/>
            <a:ext cx="334286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xmlns="" id="{D547E580-E6D6-4D97-BB04-05795A83014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374553" y="158920"/>
            <a:ext cx="1677709" cy="323789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accent1"/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web page</a:t>
            </a:r>
          </a:p>
        </p:txBody>
      </p:sp>
    </p:spTree>
    <p:extLst>
      <p:ext uri="{BB962C8B-B14F-4D97-AF65-F5344CB8AC3E}">
        <p14:creationId xmlns:p14="http://schemas.microsoft.com/office/powerpoint/2010/main" val="365668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5B5B8CA2-02D4-408C-B548-182D4F5F5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3518"/>
            <a:ext cx="5400600" cy="990600"/>
          </a:xfrm>
        </p:spPr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1" y="1786855"/>
            <a:ext cx="6447501" cy="274416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2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82" y="-6350"/>
            <a:ext cx="9209330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75495" y="1803400"/>
            <a:ext cx="4124707" cy="1234727"/>
          </a:xfrm>
        </p:spPr>
        <p:txBody>
          <a:bodyPr anchor="b">
            <a:noAutofit/>
          </a:bodyPr>
          <a:lstStyle>
            <a:lvl1pPr algn="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5494" y="3038125"/>
            <a:ext cx="4124707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91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3" y="1803400"/>
            <a:ext cx="6134709" cy="1234727"/>
          </a:xfrm>
        </p:spPr>
        <p:txBody>
          <a:bodyPr anchor="b">
            <a:noAutofit/>
          </a:bodyPr>
          <a:lstStyle>
            <a:lvl1pPr algn="ct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92" y="3038125"/>
            <a:ext cx="6134709" cy="822674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1776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6331EFED-43C1-4CBA-8BE3-308E3AA13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14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1034EA63-4BE3-4A73-A7E6-4A75BE4C1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204DC1E6-B5F4-4160-90F3-351FB324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4639034" cy="990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516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7897C67-3827-4595-8E3A-71E9F2EAB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457200"/>
            <a:ext cx="4624895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1825398-026A-4668-BB48-C16AD1C90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7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CE2C968-D10A-4226-8FDC-CBC4C7ED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98897" y="495300"/>
            <a:ext cx="3385156" cy="40357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100"/>
            </a:lvl1pPr>
            <a:lvl2pPr marL="342797" indent="0">
              <a:buNone/>
              <a:defRPr sz="1100"/>
            </a:lvl2pPr>
            <a:lvl3pPr marL="685595" indent="0">
              <a:buNone/>
              <a:defRPr sz="900"/>
            </a:lvl3pPr>
            <a:lvl4pPr marL="1028392" indent="0">
              <a:buNone/>
              <a:defRPr sz="800"/>
            </a:lvl4pPr>
            <a:lvl5pPr marL="1371188" indent="0">
              <a:buNone/>
              <a:defRPr sz="800"/>
            </a:lvl5pPr>
            <a:lvl6pPr marL="1713986" indent="0">
              <a:buNone/>
              <a:defRPr sz="800"/>
            </a:lvl6pPr>
            <a:lvl7pPr marL="2056783" indent="0">
              <a:buNone/>
              <a:defRPr sz="800"/>
            </a:lvl7pPr>
            <a:lvl8pPr marL="2399580" indent="0">
              <a:buNone/>
              <a:defRPr sz="800"/>
            </a:lvl8pPr>
            <a:lvl9pPr marL="2742377" indent="0">
              <a:buNone/>
              <a:defRPr sz="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9860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6AB5D66D-00C1-40EA-BFC8-305566F103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706966"/>
            <a:ext cx="6447501" cy="2893484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8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502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AD4D4CB4-D965-4BB6-B218-086244C13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625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A3B58C4E-0EF0-466C-9740-EC9F485CB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879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D0B9223-1250-44AA-A6C3-F2013B85A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94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D49E1C7C-7E53-49A2-B2C9-52307876DB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529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3082AB0-2BB5-46FE-9A17-15E1ACC0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26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1862E859-E5AF-4D76-9FC9-2355B24F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5402469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670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1908D0E-7544-4687-965B-72EF64AA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934278"/>
            <a:ext cx="978557" cy="3461510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6687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3AACB-D821-4991-9D88-46EB8D29E619}" type="datetimeFigureOut">
              <a:rPr lang="en-GB" smtClean="0"/>
              <a:pPr/>
              <a:t>17/11/2025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accent1"/>
                </a:solidFill>
              </a:defRPr>
            </a:lvl1pPr>
          </a:lstStyle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43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PIC16F175xx</a:t>
            </a:r>
          </a:p>
          <a:p>
            <a:r>
              <a:rPr lang="en-GB" dirty="0" smtClean="0"/>
              <a:t>Part 4 – sequence the LEDs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4043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</a:p>
          <a:p>
            <a:r>
              <a:rPr lang="en-GB" dirty="0"/>
              <a:t>Part 4 – sequence the LEDs</a:t>
            </a:r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39552" y="2067694"/>
            <a:ext cx="736788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Like and subscribe</a:t>
            </a:r>
            <a:r>
              <a:rPr lang="en-US" sz="4000" b="1" dirty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!</a:t>
            </a:r>
            <a:endParaRPr lang="en-US" sz="4000" b="1" dirty="0" smtClean="0">
              <a:ln w="10541" cmpd="sng">
                <a:solidFill>
                  <a:srgbClr val="7D7D7D">
                    <a:tint val="100000"/>
                    <a:shade val="100000"/>
                    <a:satMod val="110000"/>
                  </a:srgbClr>
                </a:solidFill>
                <a:prstDash val="solid"/>
              </a:ln>
              <a:solidFill>
                <a:srgbClr val="FF0000"/>
              </a:solidFill>
            </a:endParaRP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>
          <a:xfrm>
            <a:off x="5868144" y="4384422"/>
            <a:ext cx="599920" cy="305233"/>
          </a:xfrm>
        </p:spPr>
        <p:txBody>
          <a:bodyPr/>
          <a:lstStyle/>
          <a:p>
            <a:fld id="{1E700B27-DE4C-4B9E-BB11-B9027034A00F}" type="datetimeFigureOut">
              <a:rPr lang="en-US" smtClean="0"/>
              <a:pPr/>
              <a:t>11/17/2025</a:t>
            </a:fld>
            <a:endParaRPr lang="en-US" dirty="0"/>
          </a:p>
        </p:txBody>
      </p:sp>
      <p:pic>
        <p:nvPicPr>
          <p:cNvPr id="9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573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PIC16F175xx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smtClean="0"/>
              <a:t>PIC18-Q24 is a high performance PIC18 </a:t>
            </a:r>
          </a:p>
          <a:p>
            <a:pPr lvl="1"/>
            <a:r>
              <a:rPr lang="en-GB" dirty="0" smtClean="0"/>
              <a:t>Digital and </a:t>
            </a:r>
            <a:r>
              <a:rPr lang="en-GB" dirty="0" err="1" smtClean="0"/>
              <a:t>Analog</a:t>
            </a:r>
            <a:r>
              <a:rPr lang="en-GB" dirty="0" smtClean="0"/>
              <a:t> peripherals </a:t>
            </a:r>
          </a:p>
          <a:p>
            <a:pPr lvl="1"/>
            <a:r>
              <a:rPr lang="en-GB" dirty="0" smtClean="0"/>
              <a:t>10-bit ADC</a:t>
            </a:r>
          </a:p>
          <a:p>
            <a:pPr lvl="1"/>
            <a:r>
              <a:rPr lang="en-GB" dirty="0" smtClean="0"/>
              <a:t>Multiple communication interfaces</a:t>
            </a:r>
          </a:p>
          <a:p>
            <a:pPr lvl="2"/>
            <a:r>
              <a:rPr lang="en-GB" dirty="0" smtClean="0"/>
              <a:t>Serial, I2C and  SPI </a:t>
            </a:r>
          </a:p>
          <a:p>
            <a:pPr lvl="2"/>
            <a:r>
              <a:rPr lang="en-GB" dirty="0" smtClean="0"/>
              <a:t>PWM – CCP/PWM and 16Bit</a:t>
            </a:r>
          </a:p>
          <a:p>
            <a:pPr lvl="1"/>
            <a:r>
              <a:rPr lang="en-GB" dirty="0" smtClean="0"/>
              <a:t>Configurable Logic Cells</a:t>
            </a:r>
          </a:p>
          <a:p>
            <a:pPr lvl="1"/>
            <a:r>
              <a:rPr lang="en-GB" dirty="0" smtClean="0"/>
              <a:t>Multi voltage domains</a:t>
            </a:r>
          </a:p>
          <a:p>
            <a:endParaRPr lang="en-GB" dirty="0" smtClean="0"/>
          </a:p>
          <a:p>
            <a:r>
              <a:rPr lang="en-GB" dirty="0" smtClean="0"/>
              <a:t>The PIC18xxQ24 offers 28, 40 and 48-pin products in small footprint packages to support customers in a wide variety of applications. 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988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</a:t>
            </a:r>
            <a:r>
              <a:rPr lang="en-GB" sz="1100" dirty="0" err="1"/>
              <a:t>EEProm</a:t>
            </a:r>
            <a:r>
              <a:rPr lang="en-GB" sz="1100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7  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947865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1835697" y="1707656"/>
            <a:ext cx="1605103" cy="14252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100" dirty="0" smtClean="0"/>
              <a:t>GCBASIC </a:t>
            </a:r>
            <a:r>
              <a:rPr lang="en-GB" sz="1500" dirty="0" smtClean="0"/>
              <a:t>Compiler</a:t>
            </a:r>
            <a:endParaRPr lang="en-GB" sz="1100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GCBASIC Compiler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3563888" y="2643758"/>
            <a:ext cx="3528392" cy="1655553"/>
          </a:xfrm>
          <a:prstGeom prst="rect">
            <a:avLst/>
          </a:prstGeom>
          <a:noFill/>
        </p:spPr>
        <p:txBody>
          <a:bodyPr wrap="square" lIns="85064" tIns="42531" rIns="85064" bIns="42531" rtlCol="0">
            <a:spAutoFit/>
          </a:bodyPr>
          <a:lstStyle/>
          <a:p>
            <a:r>
              <a:rPr lang="en-GB" dirty="0" smtClean="0"/>
              <a:t>GCBASIC is an Open Source compiler for PIC , AVR and LGT microcontrollers</a:t>
            </a:r>
          </a:p>
          <a:p>
            <a:endParaRPr lang="en-GB" dirty="0" smtClean="0"/>
          </a:p>
          <a:p>
            <a:r>
              <a:rPr lang="en-GB" dirty="0" smtClean="0"/>
              <a:t>GCBASIC now supports the 16F175xx chip family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Prerequisites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Assumes you have </a:t>
            </a:r>
          </a:p>
          <a:p>
            <a:pPr marL="778521" lvl="1" indent="-478483"/>
            <a:r>
              <a:rPr lang="en-GB" dirty="0" smtClean="0"/>
              <a:t>Installed the GCBASIC software</a:t>
            </a:r>
          </a:p>
          <a:p>
            <a:pPr marL="778521" lvl="1" indent="-478483"/>
            <a:r>
              <a:rPr lang="en-GB" dirty="0" smtClean="0"/>
              <a:t>Installed your programmer software</a:t>
            </a:r>
          </a:p>
          <a:p>
            <a:pPr marL="778521" lvl="1" indent="-478483"/>
            <a:r>
              <a:rPr lang="en-GB" dirty="0" smtClean="0"/>
              <a:t>Test that you have the 16F175xx attached</a:t>
            </a:r>
          </a:p>
          <a:p>
            <a:pPr marL="778521" lvl="1" indent="-478483"/>
            <a:r>
              <a:rPr lang="en-GB" dirty="0" smtClean="0"/>
              <a:t>You have the 4 LEDs operating</a:t>
            </a:r>
          </a:p>
          <a:p>
            <a:pPr marL="778521" lvl="1" indent="-478483"/>
            <a:r>
              <a:rPr lang="en-GB" dirty="0" smtClean="0"/>
              <a:t>You have a POT connected</a:t>
            </a:r>
          </a:p>
          <a:p>
            <a:pPr marL="0" indent="0">
              <a:buNone/>
            </a:pPr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501030"/>
            <a:ext cx="5400600" cy="990600"/>
          </a:xfrm>
        </p:spPr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Hardware</a:t>
            </a:r>
            <a:endParaRPr lang="en-GB" dirty="0"/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 rotWithShape="1">
          <a:blip r:embed="rId2" cstate="print"/>
          <a:srcRect l="59960" t="35915"/>
          <a:stretch/>
        </p:blipFill>
        <p:spPr bwMode="auto">
          <a:xfrm>
            <a:off x="4716016" y="2584450"/>
            <a:ext cx="3489960" cy="19499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6876256" y="2787774"/>
            <a:ext cx="1547664" cy="15121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/>
          <p:cNvSpPr/>
          <p:nvPr/>
        </p:nvSpPr>
        <p:spPr>
          <a:xfrm>
            <a:off x="5580112" y="2525514"/>
            <a:ext cx="1368152" cy="622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5262563" y="2986089"/>
            <a:ext cx="2381250" cy="95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utoShape 4" descr="Uploaded imag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AutoShape 6" descr="Uploaded image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AutoShape 8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grpSp>
        <p:nvGrpSpPr>
          <p:cNvPr id="25" name="Group 24"/>
          <p:cNvGrpSpPr/>
          <p:nvPr/>
        </p:nvGrpSpPr>
        <p:grpSpPr>
          <a:xfrm>
            <a:off x="547911" y="1563638"/>
            <a:ext cx="4384129" cy="2952328"/>
            <a:chOff x="1043608" y="1563638"/>
            <a:chExt cx="4384129" cy="2952328"/>
          </a:xfrm>
        </p:grpSpPr>
        <p:pic>
          <p:nvPicPr>
            <p:cNvPr id="1036" name="Picture 1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3608" y="1563638"/>
              <a:ext cx="1476375" cy="2924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37" name="Picture 1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9912" y="1565118"/>
              <a:ext cx="1647825" cy="29508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Rectangle 23"/>
            <p:cNvSpPr/>
            <p:nvPr/>
          </p:nvSpPr>
          <p:spPr>
            <a:xfrm>
              <a:off x="2555776" y="1563638"/>
              <a:ext cx="1152128" cy="289406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/>
          <p:cNvSpPr/>
          <p:nvPr/>
        </p:nvSpPr>
        <p:spPr>
          <a:xfrm>
            <a:off x="515615" y="1707654"/>
            <a:ext cx="2120528" cy="288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ADC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60375" y="3435846"/>
            <a:ext cx="2120528" cy="864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LED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465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Hardware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Prototype Board</a:t>
            </a:r>
            <a:endParaRPr lang="en-GB" dirty="0"/>
          </a:p>
          <a:p>
            <a:r>
              <a:rPr lang="en-GB" dirty="0" smtClean="0"/>
              <a:t>Power 5v0</a:t>
            </a:r>
          </a:p>
          <a:p>
            <a:r>
              <a:rPr lang="en-GB" dirty="0" smtClean="0"/>
              <a:t>Programmer</a:t>
            </a:r>
          </a:p>
          <a:p>
            <a:r>
              <a:rPr lang="en-GB" dirty="0" smtClean="0"/>
              <a:t>LEDs &amp; resistors</a:t>
            </a:r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123728" y="1635646"/>
            <a:ext cx="5328592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  Hardware</a:t>
            </a: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'' 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-------------------PORTA----------------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----------------------------ADC--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-------------------PORTB----------------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------------------PORTC-----------------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Bit#:  -7---6---5---4---3---2---1---0---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 IO:    ---------------LED--LED-LED-LED--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''-----------------------------------------</a:t>
            </a:r>
          </a:p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''</a:t>
            </a:r>
            <a:b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7516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Time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The </a:t>
            </a:r>
            <a:r>
              <a:rPr lang="en-GB" dirty="0" err="1" smtClean="0"/>
              <a:t>tutoral</a:t>
            </a:r>
            <a:r>
              <a:rPr lang="en-GB" dirty="0" smtClean="0"/>
              <a:t> combines previous tutorials by using the </a:t>
            </a:r>
            <a:r>
              <a:rPr lang="en-GB" dirty="0" err="1" smtClean="0"/>
              <a:t>Analog</a:t>
            </a:r>
            <a:r>
              <a:rPr lang="en-GB" dirty="0" smtClean="0"/>
              <a:t>-to-Digital Converter (ADC) to control the speed of rotation.</a:t>
            </a:r>
          </a:p>
          <a:p>
            <a:pPr lvl="1"/>
            <a:r>
              <a:rPr lang="en-GB" dirty="0" smtClean="0"/>
              <a:t>Where speed is a time delay</a:t>
            </a:r>
          </a:p>
          <a:p>
            <a:pPr lvl="2"/>
            <a:r>
              <a:rPr lang="en-GB" dirty="0" smtClean="0"/>
              <a:t>us, 10us, ms, 10ms, s, m or h</a:t>
            </a:r>
          </a:p>
          <a:p>
            <a:pPr lvl="2"/>
            <a:endParaRPr lang="en-GB" dirty="0" smtClean="0"/>
          </a:p>
          <a:p>
            <a:pPr lvl="2">
              <a:buNone/>
            </a:pPr>
            <a:r>
              <a:rPr lang="en-GB" dirty="0" smtClean="0"/>
              <a:t>			wait </a:t>
            </a:r>
            <a:r>
              <a:rPr lang="en-GB" i="1" dirty="0" smtClean="0"/>
              <a:t>time unit</a:t>
            </a:r>
          </a:p>
          <a:p>
            <a:pPr lvl="2">
              <a:buNone/>
            </a:pPr>
            <a:r>
              <a:rPr lang="en-GB" i="1" dirty="0" smtClean="0"/>
              <a:t>			</a:t>
            </a:r>
            <a:r>
              <a:rPr lang="en-GB" b="1" i="1" dirty="0" smtClean="0"/>
              <a:t>wait 1 ms</a:t>
            </a:r>
            <a:r>
              <a:rPr lang="en-GB" i="1" dirty="0" smtClean="0"/>
              <a:t>	</a:t>
            </a:r>
          </a:p>
          <a:p>
            <a:pPr lvl="2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8009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err="1" smtClean="0"/>
              <a:t>Analog</a:t>
            </a:r>
            <a:r>
              <a:rPr lang="en-GB" dirty="0" smtClean="0"/>
              <a:t>-to-Digital</a:t>
            </a:r>
            <a:endParaRPr lang="en-GB" dirty="0"/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12360" y="195487"/>
            <a:ext cx="1167210" cy="13948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539552" y="1689938"/>
            <a:ext cx="7056784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sz="1600" dirty="0" smtClean="0"/>
              <a:t>GCBASIC completes the initialisation</a:t>
            </a:r>
          </a:p>
          <a:p>
            <a:pPr marL="342900" indent="-342900">
              <a:buFont typeface="+mj-lt"/>
              <a:buAutoNum type="arabicPeriod"/>
            </a:pPr>
            <a:endParaRPr lang="en-GB" sz="1600" dirty="0" smtClean="0"/>
          </a:p>
          <a:p>
            <a:pPr marL="342900" indent="-342900">
              <a:buFont typeface="+mj-lt"/>
              <a:buAutoNum type="arabicPeriod"/>
            </a:pPr>
            <a:r>
              <a:rPr lang="en-GB" sz="1600" dirty="0" smtClean="0"/>
              <a:t>Create a variable to store the ADC results </a:t>
            </a:r>
          </a:p>
          <a:p>
            <a:pPr marL="342900" indent="-342900">
              <a:buFont typeface="+mj-lt"/>
              <a:buAutoNum type="arabicPeriod"/>
            </a:pPr>
            <a:endParaRPr lang="en-GB" sz="1600" dirty="0" smtClean="0"/>
          </a:p>
          <a:p>
            <a:pPr marL="342900" indent="-342900">
              <a:buFont typeface="+mj-lt"/>
              <a:buAutoNum type="arabicPeriod"/>
            </a:pPr>
            <a:r>
              <a:rPr lang="en-GB" sz="1600" dirty="0" smtClean="0"/>
              <a:t>Read the ADC</a:t>
            </a:r>
          </a:p>
          <a:p>
            <a:pPr marL="825368" lvl="1" indent="-400050">
              <a:buFont typeface="+mj-lt"/>
              <a:buAutoNum type="romanUcPeriod"/>
            </a:pPr>
            <a:r>
              <a:rPr lang="en-GB" sz="1600" dirty="0" smtClean="0"/>
              <a:t>GCBASIC makes the process easy via the </a:t>
            </a:r>
            <a:r>
              <a:rPr lang="en-GB" sz="1600" dirty="0" smtClean="0"/>
              <a:t>ReadAD12()</a:t>
            </a:r>
            <a:endParaRPr lang="en-GB" sz="1600" dirty="0" smtClean="0"/>
          </a:p>
          <a:p>
            <a:pPr marL="825368" lvl="1" indent="-400050">
              <a:buFont typeface="+mj-lt"/>
              <a:buAutoNum type="romanUcPeriod"/>
            </a:pPr>
            <a:r>
              <a:rPr lang="en-GB" sz="1600" dirty="0" smtClean="0"/>
              <a:t>ReadAD12 </a:t>
            </a:r>
            <a:r>
              <a:rPr lang="en-GB" sz="1600" dirty="0" smtClean="0"/>
              <a:t>returns a value of 0 to 4095</a:t>
            </a:r>
          </a:p>
          <a:p>
            <a:pPr marL="825368" lvl="1" indent="-400050">
              <a:buFont typeface="+mj-lt"/>
              <a:buAutoNum type="romanUcPeriod"/>
            </a:pPr>
            <a:endParaRPr lang="en-GB" sz="1600" dirty="0" smtClean="0"/>
          </a:p>
          <a:p>
            <a:pPr marL="400050" indent="-400050">
              <a:buFont typeface="+mj-lt"/>
              <a:buAutoNum type="arabicPeriod"/>
            </a:pPr>
            <a:r>
              <a:rPr lang="en-GB" sz="1600" dirty="0" smtClean="0"/>
              <a:t>Wait for a time period  based on returned ADC value</a:t>
            </a:r>
          </a:p>
          <a:p>
            <a:pPr marL="400050" indent="-400050">
              <a:buFont typeface="+mj-lt"/>
              <a:buAutoNum type="arabicPeriod"/>
            </a:pPr>
            <a:r>
              <a:rPr lang="en-GB" sz="1600" dirty="0" smtClean="0"/>
              <a:t>Set the LEDs</a:t>
            </a:r>
          </a:p>
          <a:p>
            <a:pPr marL="400050" indent="-400050">
              <a:buFont typeface="+mj-lt"/>
              <a:buAutoNum type="arabicPeriod"/>
            </a:pPr>
            <a:r>
              <a:rPr lang="en-GB" sz="1600" dirty="0" smtClean="0"/>
              <a:t>Do it again….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841966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367258" y="51470"/>
            <a:ext cx="3406003" cy="49685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Wait</a:t>
            </a:r>
            <a:endParaRPr lang="en-GB" dirty="0"/>
          </a:p>
        </p:txBody>
      </p:sp>
      <p:sp>
        <p:nvSpPr>
          <p:cNvPr id="4" name="Flowchart: Alternate Process 3"/>
          <p:cNvSpPr/>
          <p:nvPr/>
        </p:nvSpPr>
        <p:spPr>
          <a:xfrm>
            <a:off x="5508104" y="33950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Initialise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Flowchart: Alternate Process 4"/>
          <p:cNvSpPr/>
          <p:nvPr/>
        </p:nvSpPr>
        <p:spPr>
          <a:xfrm>
            <a:off x="5508104" y="98757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Flowchart: Alternate Process 5"/>
          <p:cNvSpPr/>
          <p:nvPr/>
        </p:nvSpPr>
        <p:spPr>
          <a:xfrm>
            <a:off x="5508104" y="2283718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b="1" dirty="0" smtClean="0">
                <a:solidFill>
                  <a:schemeClr val="tx1"/>
                </a:solidFill>
              </a:rPr>
              <a:t>Wait for a Delay</a:t>
            </a:r>
            <a:endParaRPr lang="en-GB" sz="1000" b="1" dirty="0">
              <a:solidFill>
                <a:schemeClr val="tx1"/>
              </a:solidFill>
            </a:endParaRPr>
          </a:p>
        </p:txBody>
      </p:sp>
      <p:sp>
        <p:nvSpPr>
          <p:cNvPr id="7" name="Flowchart: Alternate Process 6"/>
          <p:cNvSpPr/>
          <p:nvPr/>
        </p:nvSpPr>
        <p:spPr>
          <a:xfrm>
            <a:off x="5508104" y="429994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</a:p>
        </p:txBody>
      </p:sp>
      <p:sp>
        <p:nvSpPr>
          <p:cNvPr id="8" name="Flowchart: Decision 7"/>
          <p:cNvSpPr/>
          <p:nvPr/>
        </p:nvSpPr>
        <p:spPr>
          <a:xfrm>
            <a:off x="5621260" y="3507854"/>
            <a:ext cx="1357865" cy="576064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Did it overflow ?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6300192" y="699542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300192" y="1347614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6300192" y="4083918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23"/>
          <p:cNvCxnSpPr>
            <a:stCxn id="7" idx="2"/>
            <a:endCxn id="21" idx="3"/>
          </p:cNvCxnSpPr>
          <p:nvPr/>
        </p:nvCxnSpPr>
        <p:spPr>
          <a:xfrm rot="5400000" flipH="1" flipV="1">
            <a:off x="5274078" y="2841780"/>
            <a:ext cx="2844316" cy="792088"/>
          </a:xfrm>
          <a:prstGeom prst="bentConnector4">
            <a:avLst>
              <a:gd name="adj1" fmla="val -8037"/>
              <a:gd name="adj2" fmla="val 12886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989986" y="3787899"/>
            <a:ext cx="323850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lowchart: Alternate Process 13"/>
          <p:cNvSpPr/>
          <p:nvPr/>
        </p:nvSpPr>
        <p:spPr>
          <a:xfrm>
            <a:off x="5508104" y="293179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Rotate the LEDs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>
            <a:off x="6300192" y="2643758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00192" y="3291830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86178" y="3530352"/>
            <a:ext cx="335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No</a:t>
            </a:r>
            <a:endParaRPr lang="en-GB"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6416774" y="4016499"/>
            <a:ext cx="3609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Yes</a:t>
            </a:r>
            <a:endParaRPr lang="en-GB" sz="1000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23528" y="1815666"/>
            <a:ext cx="4762870" cy="3394472"/>
          </a:xfrm>
        </p:spPr>
        <p:txBody>
          <a:bodyPr/>
          <a:lstStyle/>
          <a:p>
            <a:r>
              <a:rPr lang="en-GB" dirty="0" smtClean="0"/>
              <a:t>Time delays are sometimes key to the operation of a program</a:t>
            </a:r>
            <a:endParaRPr lang="en-GB" dirty="0"/>
          </a:p>
        </p:txBody>
      </p:sp>
      <p:sp>
        <p:nvSpPr>
          <p:cNvPr id="21" name="Flowchart: Alternate Process 20"/>
          <p:cNvSpPr/>
          <p:nvPr/>
        </p:nvSpPr>
        <p:spPr>
          <a:xfrm>
            <a:off x="5508104" y="163564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Read ADC </a:t>
            </a:r>
            <a:r>
              <a:rPr lang="en-GB" sz="1000" b="1" dirty="0" smtClean="0">
                <a:solidFill>
                  <a:schemeClr val="tx1"/>
                </a:solidFill>
              </a:rPr>
              <a:t>12 bit</a:t>
            </a:r>
            <a:endParaRPr lang="en-GB" sz="1000" b="1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300192" y="1995686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96336" y="1635646"/>
            <a:ext cx="1106393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( 0 – 4095)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1749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5335068"/>
              </p:ext>
            </p:extLst>
          </p:nvPr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Curved Down Arrow 4"/>
          <p:cNvSpPr/>
          <p:nvPr/>
        </p:nvSpPr>
        <p:spPr>
          <a:xfrm rot="1177040">
            <a:off x="2836735" y="161427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Curved Down Arrow 5"/>
          <p:cNvSpPr/>
          <p:nvPr/>
        </p:nvSpPr>
        <p:spPr>
          <a:xfrm rot="1177040">
            <a:off x="4132879" y="197431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Curved Down Arrow 6"/>
          <p:cNvSpPr/>
          <p:nvPr/>
        </p:nvSpPr>
        <p:spPr>
          <a:xfrm rot="1177040">
            <a:off x="5501030" y="2334357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Curved Down Arrow 7"/>
          <p:cNvSpPr/>
          <p:nvPr/>
        </p:nvSpPr>
        <p:spPr>
          <a:xfrm rot="1177040">
            <a:off x="6725168" y="269439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Curved Down Arrow 8"/>
          <p:cNvSpPr/>
          <p:nvPr/>
        </p:nvSpPr>
        <p:spPr>
          <a:xfrm rot="1177040">
            <a:off x="2908742" y="3846525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26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1026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9067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8099321" y="381905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050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2050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48793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Curved Down Arrow 9"/>
          <p:cNvSpPr/>
          <p:nvPr/>
        </p:nvSpPr>
        <p:spPr>
          <a:xfrm rot="1177040">
            <a:off x="2836735" y="161427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Oval 7"/>
          <p:cNvSpPr/>
          <p:nvPr/>
        </p:nvSpPr>
        <p:spPr>
          <a:xfrm>
            <a:off x="7956376" y="369952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074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3074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8638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Curved Down Arrow 5"/>
          <p:cNvSpPr/>
          <p:nvPr/>
        </p:nvSpPr>
        <p:spPr>
          <a:xfrm rot="1177040">
            <a:off x="4132879" y="197431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Oval 7"/>
          <p:cNvSpPr/>
          <p:nvPr/>
        </p:nvSpPr>
        <p:spPr>
          <a:xfrm>
            <a:off x="7812360" y="369952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098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4098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22661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Curved Down Arrow 6"/>
          <p:cNvSpPr/>
          <p:nvPr/>
        </p:nvSpPr>
        <p:spPr>
          <a:xfrm rot="1177040">
            <a:off x="5501030" y="2334357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Oval 7"/>
          <p:cNvSpPr/>
          <p:nvPr/>
        </p:nvSpPr>
        <p:spPr>
          <a:xfrm>
            <a:off x="7684816" y="381000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122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5122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44429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Curved Down Arrow 7"/>
          <p:cNvSpPr/>
          <p:nvPr/>
        </p:nvSpPr>
        <p:spPr>
          <a:xfrm rot="1177040">
            <a:off x="6725168" y="269439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Oval 6"/>
          <p:cNvSpPr/>
          <p:nvPr/>
        </p:nvSpPr>
        <p:spPr>
          <a:xfrm>
            <a:off x="7343825" y="372780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146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6146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23038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Rotate with Carry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95534" y="1340768"/>
          <a:ext cx="849694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846"/>
                <a:gridCol w="1379846"/>
                <a:gridCol w="1307222"/>
                <a:gridCol w="1307222"/>
                <a:gridCol w="1307222"/>
                <a:gridCol w="1815587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LEDD4</a:t>
                      </a:r>
                      <a:r>
                        <a:rPr lang="en-GB" baseline="0" dirty="0" smtClean="0"/>
                        <a:t> = C.4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LEDD0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CARRY</a:t>
                      </a:r>
                      <a:r>
                        <a:rPr lang="en-GB" baseline="0" dirty="0" smtClean="0"/>
                        <a:t> = SREG.0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Rotate(shift)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smtClean="0"/>
                        <a:t>1</a:t>
                      </a:r>
                      <a:endParaRPr lang="en-GB" b="1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/>
                        <a:t>Restart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smtClean="0"/>
                        <a:t>Rotate(shift)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1</a:t>
                      </a:r>
                      <a:endParaRPr lang="en-GB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0</a:t>
                      </a:r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Curved Down Arrow 4"/>
          <p:cNvSpPr/>
          <p:nvPr/>
        </p:nvSpPr>
        <p:spPr>
          <a:xfrm rot="1177040">
            <a:off x="2836735" y="161427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Curved Down Arrow 5"/>
          <p:cNvSpPr/>
          <p:nvPr/>
        </p:nvSpPr>
        <p:spPr>
          <a:xfrm rot="1177040">
            <a:off x="4132879" y="197431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Curved Down Arrow 6"/>
          <p:cNvSpPr/>
          <p:nvPr/>
        </p:nvSpPr>
        <p:spPr>
          <a:xfrm rot="1177040">
            <a:off x="5501030" y="2334357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Curved Down Arrow 7"/>
          <p:cNvSpPr/>
          <p:nvPr/>
        </p:nvSpPr>
        <p:spPr>
          <a:xfrm rot="1177040">
            <a:off x="6725168" y="2694396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Curved Down Arrow 8"/>
          <p:cNvSpPr/>
          <p:nvPr/>
        </p:nvSpPr>
        <p:spPr>
          <a:xfrm rot="1177040">
            <a:off x="2908742" y="3846525"/>
            <a:ext cx="864096" cy="53620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76256" y="0"/>
            <a:ext cx="2356123" cy="765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Oval 10"/>
          <p:cNvSpPr/>
          <p:nvPr/>
        </p:nvSpPr>
        <p:spPr>
          <a:xfrm>
            <a:off x="8081392" y="369952"/>
            <a:ext cx="72008" cy="7200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170" name="Ink 2"/>
              <p14:cNvContentPartPr>
                <a14:cpLocks xmlns:a14="http://schemas.microsoft.com/office/drawing/2010/main" noRot="1" noChangeAspect="1" noEditPoints="1" noChangeArrowheads="1" noChangeShapeType="1"/>
              </p14:cNvContentPartPr>
              <p14:nvPr/>
            </p14:nvContentPartPr>
            <p14:xfrm>
              <a:off x="43537188" y="43165713"/>
              <a:ext cx="0" cy="0"/>
            </p14:xfrm>
          </p:contentPart>
        </mc:Choice>
        <mc:Fallback xmlns="">
          <p:pic>
            <p:nvPicPr>
              <p:cNvPr id="7170" name="Ink 2"/>
              <p:cNvPicPr>
                <a:picLocks noRot="1" noChangeAspect="1" noEditPoint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537188" y="43165713"/>
                <a:ext cx="0" cy="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50441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367258" y="51470"/>
            <a:ext cx="3406003" cy="49685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Carry Test</a:t>
            </a:r>
            <a:endParaRPr lang="en-GB" dirty="0"/>
          </a:p>
        </p:txBody>
      </p:sp>
      <p:sp>
        <p:nvSpPr>
          <p:cNvPr id="4" name="Flowchart: Alternate Process 3"/>
          <p:cNvSpPr/>
          <p:nvPr/>
        </p:nvSpPr>
        <p:spPr>
          <a:xfrm>
            <a:off x="5508104" y="33950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Initialise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Flowchart: Alternate Process 4"/>
          <p:cNvSpPr/>
          <p:nvPr/>
        </p:nvSpPr>
        <p:spPr>
          <a:xfrm>
            <a:off x="5508104" y="98757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Flowchart: Alternate Process 5"/>
          <p:cNvSpPr/>
          <p:nvPr/>
        </p:nvSpPr>
        <p:spPr>
          <a:xfrm>
            <a:off x="5508104" y="2283718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Wait for a Delay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7" name="Flowchart: Alternate Process 6"/>
          <p:cNvSpPr/>
          <p:nvPr/>
        </p:nvSpPr>
        <p:spPr>
          <a:xfrm>
            <a:off x="5508104" y="429994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</a:p>
        </p:txBody>
      </p:sp>
      <p:sp>
        <p:nvSpPr>
          <p:cNvPr id="8" name="Flowchart: Decision 7"/>
          <p:cNvSpPr/>
          <p:nvPr/>
        </p:nvSpPr>
        <p:spPr>
          <a:xfrm>
            <a:off x="5621260" y="3507854"/>
            <a:ext cx="1357865" cy="576064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b="1" dirty="0" smtClean="0">
                <a:solidFill>
                  <a:schemeClr val="tx1"/>
                </a:solidFill>
              </a:rPr>
              <a:t>Did it overflow ?</a:t>
            </a:r>
            <a:endParaRPr lang="en-GB" sz="1000" b="1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6300192" y="699542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6300192" y="1347614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6300192" y="4083918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23"/>
          <p:cNvCxnSpPr>
            <a:stCxn id="7" idx="2"/>
            <a:endCxn id="21" idx="3"/>
          </p:cNvCxnSpPr>
          <p:nvPr/>
        </p:nvCxnSpPr>
        <p:spPr>
          <a:xfrm rot="5400000" flipH="1" flipV="1">
            <a:off x="5274078" y="2841780"/>
            <a:ext cx="2844316" cy="792088"/>
          </a:xfrm>
          <a:prstGeom prst="bentConnector4">
            <a:avLst>
              <a:gd name="adj1" fmla="val -8037"/>
              <a:gd name="adj2" fmla="val 12886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989986" y="3787899"/>
            <a:ext cx="323850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lowchart: Alternate Process 13"/>
          <p:cNvSpPr/>
          <p:nvPr/>
        </p:nvSpPr>
        <p:spPr>
          <a:xfrm>
            <a:off x="5508104" y="293179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Rotate the LEDs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>
            <a:off x="6300192" y="2643758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00192" y="3291830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86178" y="3530352"/>
            <a:ext cx="335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No</a:t>
            </a:r>
            <a:endParaRPr lang="en-GB"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6416774" y="4016499"/>
            <a:ext cx="3609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Yes</a:t>
            </a:r>
            <a:endParaRPr lang="en-GB" sz="1000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23528" y="1815666"/>
            <a:ext cx="4762870" cy="3394472"/>
          </a:xfrm>
        </p:spPr>
        <p:txBody>
          <a:bodyPr/>
          <a:lstStyle/>
          <a:p>
            <a:r>
              <a:rPr lang="en-GB" dirty="0" smtClean="0">
                <a:solidFill>
                  <a:schemeClr val="tx1"/>
                </a:solidFill>
              </a:rPr>
              <a:t>Did </a:t>
            </a:r>
            <a:r>
              <a:rPr lang="en-GB" dirty="0">
                <a:solidFill>
                  <a:schemeClr val="tx1"/>
                </a:solidFill>
              </a:rPr>
              <a:t>it overflow ?</a:t>
            </a:r>
          </a:p>
          <a:p>
            <a:endParaRPr lang="en-GB" dirty="0" smtClean="0"/>
          </a:p>
          <a:p>
            <a:r>
              <a:rPr lang="en-GB" dirty="0" smtClean="0"/>
              <a:t>If</a:t>
            </a:r>
            <a:r>
              <a:rPr lang="en-GB" b="1" dirty="0" smtClean="0"/>
              <a:t> </a:t>
            </a:r>
            <a:r>
              <a:rPr lang="en-GB" b="1" dirty="0"/>
              <a:t>C </a:t>
            </a:r>
            <a:r>
              <a:rPr lang="en-GB" dirty="0"/>
              <a:t>= 1 </a:t>
            </a:r>
            <a:r>
              <a:rPr lang="en-GB" dirty="0" smtClean="0"/>
              <a:t>then .. Or other test condition</a:t>
            </a:r>
            <a:endParaRPr lang="en-GB" dirty="0"/>
          </a:p>
          <a:p>
            <a:endParaRPr lang="en-GB" dirty="0"/>
          </a:p>
        </p:txBody>
      </p:sp>
      <p:sp>
        <p:nvSpPr>
          <p:cNvPr id="21" name="Flowchart: Alternate Process 20"/>
          <p:cNvSpPr/>
          <p:nvPr/>
        </p:nvSpPr>
        <p:spPr>
          <a:xfrm>
            <a:off x="5508104" y="163564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Read ADC 12 bit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300192" y="1995686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96336" y="1635646"/>
            <a:ext cx="1176925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( 0 – 4095 )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7900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5350850" y="0"/>
            <a:ext cx="3406003" cy="51485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Scale</a:t>
            </a:r>
            <a:endParaRPr lang="en-GB" dirty="0"/>
          </a:p>
        </p:txBody>
      </p:sp>
      <p:sp>
        <p:nvSpPr>
          <p:cNvPr id="6" name="Flowchart: Alternate Process 5"/>
          <p:cNvSpPr/>
          <p:nvPr/>
        </p:nvSpPr>
        <p:spPr>
          <a:xfrm>
            <a:off x="5519624" y="256032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b="1" dirty="0" smtClean="0">
                <a:solidFill>
                  <a:schemeClr val="tx1"/>
                </a:solidFill>
              </a:rPr>
              <a:t>Scale()</a:t>
            </a:r>
            <a:endParaRPr lang="en-GB" sz="1000" b="1" dirty="0">
              <a:solidFill>
                <a:schemeClr val="tx1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23528" y="1918630"/>
            <a:ext cx="4762870" cy="3394472"/>
          </a:xfrm>
        </p:spPr>
        <p:txBody>
          <a:bodyPr/>
          <a:lstStyle/>
          <a:p>
            <a:r>
              <a:rPr lang="en-GB" dirty="0" smtClean="0"/>
              <a:t>Scale transforms an existing value to a new value within a specified scale</a:t>
            </a:r>
            <a:endParaRPr lang="en-GB" dirty="0"/>
          </a:p>
        </p:txBody>
      </p:sp>
      <p:sp>
        <p:nvSpPr>
          <p:cNvPr id="23" name="Flowchart: Alternate Process 22"/>
          <p:cNvSpPr/>
          <p:nvPr/>
        </p:nvSpPr>
        <p:spPr>
          <a:xfrm>
            <a:off x="5508104" y="5147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Initialise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24" name="Flowchart: Alternate Process 23"/>
          <p:cNvSpPr/>
          <p:nvPr/>
        </p:nvSpPr>
        <p:spPr>
          <a:xfrm>
            <a:off x="5508104" y="69954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25" name="Flowchart: Alternate Process 24"/>
          <p:cNvSpPr/>
          <p:nvPr/>
        </p:nvSpPr>
        <p:spPr>
          <a:xfrm>
            <a:off x="5508104" y="199568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Wait for a Delay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26" name="Flowchart: Alternate Process 25"/>
          <p:cNvSpPr/>
          <p:nvPr/>
        </p:nvSpPr>
        <p:spPr>
          <a:xfrm>
            <a:off x="5508104" y="451596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Set  1</a:t>
            </a:r>
            <a:r>
              <a:rPr lang="en-GB" sz="1000" baseline="30000" dirty="0" smtClean="0">
                <a:solidFill>
                  <a:schemeClr val="tx1"/>
                </a:solidFill>
              </a:rPr>
              <a:t>st</a:t>
            </a:r>
            <a:r>
              <a:rPr lang="en-GB" sz="1000" dirty="0" smtClean="0">
                <a:solidFill>
                  <a:schemeClr val="tx1"/>
                </a:solidFill>
              </a:rPr>
              <a:t> LED</a:t>
            </a:r>
          </a:p>
        </p:txBody>
      </p:sp>
      <p:sp>
        <p:nvSpPr>
          <p:cNvPr id="27" name="Flowchart: Decision 26"/>
          <p:cNvSpPr/>
          <p:nvPr/>
        </p:nvSpPr>
        <p:spPr>
          <a:xfrm>
            <a:off x="5621260" y="3723878"/>
            <a:ext cx="1357865" cy="576064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Did it overflow ?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6300192" y="411510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6300192" y="1059582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6300192" y="4299942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23"/>
          <p:cNvCxnSpPr>
            <a:stCxn id="26" idx="2"/>
            <a:endCxn id="38" idx="3"/>
          </p:cNvCxnSpPr>
          <p:nvPr/>
        </p:nvCxnSpPr>
        <p:spPr>
          <a:xfrm rot="5400000" flipH="1" flipV="1">
            <a:off x="5022050" y="2805776"/>
            <a:ext cx="3348372" cy="792088"/>
          </a:xfrm>
          <a:prstGeom prst="bentConnector4">
            <a:avLst>
              <a:gd name="adj1" fmla="val -6827"/>
              <a:gd name="adj2" fmla="val 12886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989986" y="4003923"/>
            <a:ext cx="323850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lowchart: Alternate Process 32"/>
          <p:cNvSpPr/>
          <p:nvPr/>
        </p:nvSpPr>
        <p:spPr>
          <a:xfrm>
            <a:off x="5508104" y="314781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Rotate the LEDs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/>
          <p:cNvCxnSpPr/>
          <p:nvPr/>
        </p:nvCxnSpPr>
        <p:spPr>
          <a:xfrm flipH="1">
            <a:off x="6300192" y="2362200"/>
            <a:ext cx="1548" cy="2095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6300192" y="3507854"/>
            <a:ext cx="1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86178" y="3746376"/>
            <a:ext cx="335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No</a:t>
            </a:r>
            <a:endParaRPr lang="en-GB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6416774" y="4232523"/>
            <a:ext cx="3609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Yes</a:t>
            </a:r>
            <a:endParaRPr lang="en-GB" sz="1000" dirty="0"/>
          </a:p>
        </p:txBody>
      </p:sp>
      <p:sp>
        <p:nvSpPr>
          <p:cNvPr id="38" name="Flowchart: Alternate Process 37"/>
          <p:cNvSpPr/>
          <p:nvPr/>
        </p:nvSpPr>
        <p:spPr>
          <a:xfrm>
            <a:off x="5508104" y="1347614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 smtClean="0">
                <a:solidFill>
                  <a:schemeClr val="tx1"/>
                </a:solidFill>
              </a:rPr>
              <a:t>Read ADC</a:t>
            </a:r>
            <a:endParaRPr lang="en-GB" sz="1000" dirty="0">
              <a:solidFill>
                <a:schemeClr val="tx1"/>
              </a:solidFill>
            </a:endParaRPr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6300192" y="1707654"/>
            <a:ext cx="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 flipH="1">
            <a:off x="6300192" y="2931790"/>
            <a:ext cx="1548" cy="2095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96336" y="2571750"/>
            <a:ext cx="1198341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( </a:t>
            </a:r>
            <a:r>
              <a:rPr lang="en-GB" dirty="0" smtClean="0"/>
              <a:t>50 </a:t>
            </a:r>
            <a:r>
              <a:rPr lang="en-GB" dirty="0" smtClean="0"/>
              <a:t>– </a:t>
            </a:r>
            <a:r>
              <a:rPr lang="en-GB" dirty="0" smtClean="0"/>
              <a:t>1000)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9446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Workshop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771" y="1786855"/>
            <a:ext cx="6447501" cy="2744167"/>
          </a:xfrm>
        </p:spPr>
        <p:txBody>
          <a:bodyPr/>
          <a:lstStyle/>
          <a:p>
            <a:r>
              <a:rPr lang="en-GB" dirty="0" smtClean="0"/>
              <a:t>Read the ADC to set the LEDs</a:t>
            </a:r>
          </a:p>
          <a:p>
            <a:endParaRPr lang="en-GB" dirty="0"/>
          </a:p>
          <a:p>
            <a:r>
              <a:rPr lang="en-GB" dirty="0" smtClean="0"/>
              <a:t>Uses</a:t>
            </a:r>
          </a:p>
          <a:p>
            <a:pPr lvl="1"/>
            <a:r>
              <a:rPr lang="en-GB" dirty="0" smtClean="0"/>
              <a:t>A Word variable</a:t>
            </a:r>
          </a:p>
          <a:p>
            <a:pPr lvl="1"/>
            <a:r>
              <a:rPr lang="en-GB" dirty="0" smtClean="0"/>
              <a:t>Simple logic</a:t>
            </a:r>
          </a:p>
          <a:p>
            <a:pPr lvl="1"/>
            <a:r>
              <a:rPr lang="en-GB" dirty="0" smtClean="0"/>
              <a:t>Rotate</a:t>
            </a:r>
          </a:p>
          <a:p>
            <a:pPr lvl="1"/>
            <a:r>
              <a:rPr lang="en-GB" dirty="0" smtClean="0"/>
              <a:t>Bitwise mask</a:t>
            </a:r>
          </a:p>
          <a:p>
            <a:pPr lvl="1"/>
            <a:r>
              <a:rPr lang="en-GB" dirty="0" smtClean="0"/>
              <a:t>Scale()</a:t>
            </a:r>
          </a:p>
          <a:p>
            <a:pPr lvl="2"/>
            <a:endParaRPr lang="en-GB" dirty="0" smtClean="0"/>
          </a:p>
          <a:p>
            <a:pPr lvl="2"/>
            <a:endParaRPr lang="en-GB" dirty="0" smtClean="0"/>
          </a:p>
          <a:p>
            <a:pPr lvl="1"/>
            <a:endParaRPr lang="en-GB" dirty="0" smtClean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</a:t>
            </a:r>
            <a:r>
              <a:rPr lang="en-GB" sz="1100" dirty="0" err="1"/>
              <a:t>EEProm</a:t>
            </a:r>
            <a:r>
              <a:rPr lang="en-GB" sz="1100" dirty="0"/>
              <a:t>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7  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</a:t>
            </a:r>
            <a:r>
              <a:rPr lang="en-GB" sz="1100" dirty="0" err="1"/>
              <a:t>Progmem</a:t>
            </a:r>
            <a:r>
              <a:rPr lang="en-GB" sz="1100" dirty="0"/>
              <a:t>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039989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</a:p>
          <a:p>
            <a:r>
              <a:rPr lang="en-GB" dirty="0"/>
              <a:t>Part 4 – sequence the LEDs</a:t>
            </a:r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0302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59964"/>
            <a:ext cx="3816424" cy="49409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70912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CstudioThemeLigh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GC Basic Fonts">
      <a:majorFont>
        <a:latin typeface="Microsoft YaHei"/>
        <a:ea typeface=""/>
        <a:cs typeface=""/>
      </a:majorFont>
      <a:minorFont>
        <a:latin typeface="Corbel"/>
        <a:ea typeface="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GCstudioThemeLight" id="{4C740F94-33C0-4EEC-9234-F56C348A0987}" vid="{A43F8B96-90D8-489D-B80F-92F9D6F351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lue">
    <a:dk1>
      <a:sysClr val="windowText" lastClr="000000"/>
    </a:dk1>
    <a:lt1>
      <a:sysClr val="window" lastClr="FFFFFF"/>
    </a:lt1>
    <a:dk2>
      <a:srgbClr val="17406D"/>
    </a:dk2>
    <a:lt2>
      <a:srgbClr val="DBEFF9"/>
    </a:lt2>
    <a:accent1>
      <a:srgbClr val="0F6FC6"/>
    </a:accent1>
    <a:accent2>
      <a:srgbClr val="009DD9"/>
    </a:accent2>
    <a:accent3>
      <a:srgbClr val="0BD0D9"/>
    </a:accent3>
    <a:accent4>
      <a:srgbClr val="10CF9B"/>
    </a:accent4>
    <a:accent5>
      <a:srgbClr val="7CCA62"/>
    </a:accent5>
    <a:accent6>
      <a:srgbClr val="A5C249"/>
    </a:accent6>
    <a:hlink>
      <a:srgbClr val="F49100"/>
    </a:hlink>
    <a:folHlink>
      <a:srgbClr val="85DFD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13232</TotalTime>
  <Words>1136</Words>
  <Application>Microsoft Office PowerPoint</Application>
  <PresentationFormat>On-screen Show (16:9)</PresentationFormat>
  <Paragraphs>517</Paragraphs>
  <Slides>26</Slides>
  <Notes>0</Notes>
  <HiddenSlides>2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GCstudioThemeLight</vt:lpstr>
      <vt:lpstr>GCBASIC</vt:lpstr>
      <vt:lpstr>GCBASIC</vt:lpstr>
      <vt:lpstr>GCBASIC</vt:lpstr>
      <vt:lpstr>PIC16F175xx</vt:lpstr>
      <vt:lpstr>Videos...</vt:lpstr>
      <vt:lpstr>GCBASIC Compiler</vt:lpstr>
      <vt:lpstr>Prerequisites </vt:lpstr>
      <vt:lpstr>Hardware</vt:lpstr>
      <vt:lpstr>Hardware</vt:lpstr>
      <vt:lpstr>Time</vt:lpstr>
      <vt:lpstr>Analog-to-Digital</vt:lpstr>
      <vt:lpstr>Wait</vt:lpstr>
      <vt:lpstr>Rotate with Carry</vt:lpstr>
      <vt:lpstr>Rotate with Carry</vt:lpstr>
      <vt:lpstr>Rotate with Carry</vt:lpstr>
      <vt:lpstr>Rotate with Carry</vt:lpstr>
      <vt:lpstr>Rotate with Carry</vt:lpstr>
      <vt:lpstr>Rotate with Carry</vt:lpstr>
      <vt:lpstr>Rotate with Carry</vt:lpstr>
      <vt:lpstr>Carry Test</vt:lpstr>
      <vt:lpstr>Scale</vt:lpstr>
      <vt:lpstr>Workshop</vt:lpstr>
      <vt:lpstr>PowerPoint Presentation</vt:lpstr>
      <vt:lpstr>Videos...</vt:lpstr>
      <vt:lpstr>GCBASIC</vt:lpstr>
      <vt:lpstr>PowerPoint Presentation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Cow BASIC</dc:title>
  <dc:creator>admin</dc:creator>
  <cp:lastModifiedBy>Evan R. Venn</cp:lastModifiedBy>
  <cp:revision>737</cp:revision>
  <dcterms:created xsi:type="dcterms:W3CDTF">2019-01-08T20:03:06Z</dcterms:created>
  <dcterms:modified xsi:type="dcterms:W3CDTF">2025-11-18T17:40:32Z</dcterms:modified>
</cp:coreProperties>
</file>