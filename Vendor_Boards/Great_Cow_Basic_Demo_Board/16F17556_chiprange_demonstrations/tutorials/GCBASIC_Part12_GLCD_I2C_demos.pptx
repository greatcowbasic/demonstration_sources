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94" r:id="rId2"/>
    <p:sldId id="256" r:id="rId3"/>
    <p:sldId id="295" r:id="rId4"/>
    <p:sldId id="352" r:id="rId5"/>
    <p:sldId id="296" r:id="rId6"/>
    <p:sldId id="282" r:id="rId7"/>
    <p:sldId id="291" r:id="rId8"/>
    <p:sldId id="342" r:id="rId9"/>
    <p:sldId id="353" r:id="rId10"/>
    <p:sldId id="354" r:id="rId11"/>
    <p:sldId id="345" r:id="rId12"/>
    <p:sldId id="349" r:id="rId13"/>
    <p:sldId id="346" r:id="rId14"/>
    <p:sldId id="351" r:id="rId15"/>
    <p:sldId id="347" r:id="rId16"/>
    <p:sldId id="288" r:id="rId17"/>
    <p:sldId id="330" r:id="rId18"/>
    <p:sldId id="327" r:id="rId19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09/12/2025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Open_drain" TargetMode="External"/><Relationship Id="rId2" Type="http://schemas.openxmlformats.org/officeDocument/2006/relationships/hyperlink" Target="https://en.wikipedia.org/wiki/Open_collecto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Resistor" TargetMode="External"/><Relationship Id="rId4" Type="http://schemas.openxmlformats.org/officeDocument/2006/relationships/hyperlink" Target="https://en.wikipedia.org/wiki/Pull-up_resistor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52372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12 - GLCD Operations using I2C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12 - GLCD Operations using I2C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12/9/2025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PIC16165xx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336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smtClean="0"/>
              <a:t>I2C </a:t>
            </a:r>
            <a:r>
              <a:rPr lang="en-GB" sz="1100" b="1" dirty="0"/>
              <a:t>GCLD </a:t>
            </a:r>
            <a:r>
              <a:rPr lang="en-GB" sz="1100" b="1" dirty="0" smtClean="0"/>
              <a:t>display solutions</a:t>
            </a:r>
            <a:endParaRPr lang="en-GB" sz="1100" b="1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PWM</a:t>
            </a:r>
            <a:r>
              <a:rPr lang="en-GB" sz="1100" dirty="0"/>
              <a:t> </a:t>
            </a:r>
            <a:r>
              <a:rPr lang="en-GB" sz="1100" dirty="0" smtClean="0"/>
              <a:t>many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3528392" cy="139394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 and AVR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16F175xx chip family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07654"/>
            <a:ext cx="6447501" cy="2744167"/>
          </a:xfrm>
        </p:spPr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16F175xx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778521" lvl="1" indent="-478483"/>
            <a:r>
              <a:rPr lang="en-GB" dirty="0" smtClean="0"/>
              <a:t>You have </a:t>
            </a:r>
            <a:r>
              <a:rPr lang="en-GB" dirty="0" err="1" smtClean="0"/>
              <a:t>SWITCHes</a:t>
            </a:r>
            <a:r>
              <a:rPr lang="en-GB" dirty="0" smtClean="0"/>
              <a:t> connected</a:t>
            </a:r>
          </a:p>
          <a:p>
            <a:pPr marL="778521" lvl="1" indent="-478483"/>
            <a:r>
              <a:rPr lang="en-GB" dirty="0" smtClean="0"/>
              <a:t>You have a USB/TTL converter</a:t>
            </a:r>
          </a:p>
          <a:p>
            <a:pPr marL="778521" lvl="1" indent="-478483"/>
            <a:r>
              <a:rPr lang="en-GB" b="1" dirty="0" smtClean="0"/>
              <a:t>GLCD i2C </a:t>
            </a:r>
            <a:r>
              <a:rPr lang="en-GB" b="1" dirty="0" smtClean="0"/>
              <a:t>device and i2c discovery has worked!</a:t>
            </a:r>
            <a:endParaRPr lang="en-GB" b="1" dirty="0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 uses two bidirectional </a:t>
            </a:r>
            <a:r>
              <a:rPr lang="en-GB" dirty="0" smtClean="0">
                <a:hlinkClick r:id="rId2" tooltip="Open collector"/>
              </a:rPr>
              <a:t>open collector</a:t>
            </a:r>
            <a:r>
              <a:rPr lang="en-GB" dirty="0" smtClean="0"/>
              <a:t> or </a:t>
            </a:r>
            <a:r>
              <a:rPr lang="en-GB" dirty="0" smtClean="0">
                <a:hlinkClick r:id="rId3" tooltip="Open drain"/>
              </a:rPr>
              <a:t>open drain</a:t>
            </a:r>
            <a:r>
              <a:rPr lang="en-GB" dirty="0" smtClean="0"/>
              <a:t> lines </a:t>
            </a:r>
            <a:r>
              <a:rPr lang="en-GB" dirty="0" smtClean="0">
                <a:hlinkClick r:id="rId4" tooltip="Pull-up resistor"/>
              </a:rPr>
              <a:t>pulled up</a:t>
            </a:r>
            <a:r>
              <a:rPr lang="en-GB" dirty="0" smtClean="0"/>
              <a:t> with </a:t>
            </a:r>
            <a:r>
              <a:rPr lang="en-GB" dirty="0" smtClean="0">
                <a:hlinkClick r:id="rId5" tooltip="Resistor"/>
              </a:rPr>
              <a:t>resistors</a:t>
            </a:r>
            <a:endParaRPr lang="en-GB" dirty="0" smtClean="0"/>
          </a:p>
          <a:p>
            <a:pPr lvl="1"/>
            <a:r>
              <a:rPr lang="en-GB" dirty="0" smtClean="0"/>
              <a:t>Serial Data Line (SDA) </a:t>
            </a:r>
          </a:p>
          <a:p>
            <a:pPr lvl="1"/>
            <a:r>
              <a:rPr lang="en-GB" dirty="0" smtClean="0"/>
              <a:t>Serial Clock Line (SCL)</a:t>
            </a:r>
          </a:p>
          <a:p>
            <a:endParaRPr lang="en-GB" dirty="0" smtClean="0"/>
          </a:p>
          <a:p>
            <a:r>
              <a:rPr lang="en-GB" dirty="0" smtClean="0"/>
              <a:t>Typical voltages used are +5 V or +3.3 V, although systems with other voltages are permitted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707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r>
              <a:rPr lang="en-GB" dirty="0" smtClean="0"/>
              <a:t>Switches &amp; resistors</a:t>
            </a:r>
          </a:p>
          <a:p>
            <a:r>
              <a:rPr lang="en-GB" b="1" dirty="0" smtClean="0"/>
              <a:t>GCLD Device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483768" y="1275606"/>
            <a:ext cx="4320480" cy="378565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    Hardware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-------------------PORTA----------------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-----------------SW----------ADC--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-------------------PORTB----------------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</a:t>
            </a:r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PORTC-----------------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TX1-SDA-SCL-LED-LED-LED-LED-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------------------PORTE-----------------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Bit#:  -7---6---5---4---3---2---1---0---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IO:    ----------------MCLR-------------</a:t>
            </a:r>
          </a:p>
          <a:p>
            <a:r>
              <a:rPr lang="en-GB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// ------------------------SW-</a:t>
            </a:r>
            <a:r>
              <a:rPr lang="en-GB" sz="12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-------------</a:t>
            </a:r>
            <a:endParaRPr lang="en-GB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31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501030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25" name="Group 24"/>
          <p:cNvGrpSpPr/>
          <p:nvPr/>
        </p:nvGrpSpPr>
        <p:grpSpPr>
          <a:xfrm>
            <a:off x="547911" y="1563638"/>
            <a:ext cx="4384129" cy="2952328"/>
            <a:chOff x="1043608" y="1563638"/>
            <a:chExt cx="4384129" cy="2952328"/>
          </a:xfrm>
        </p:grpSpPr>
        <p:pic>
          <p:nvPicPr>
            <p:cNvPr id="1036" name="Picture 1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3608" y="1563638"/>
              <a:ext cx="1476375" cy="292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912" y="1565118"/>
              <a:ext cx="1647825" cy="29508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4" name="Rectangle 23"/>
            <p:cNvSpPr/>
            <p:nvPr/>
          </p:nvSpPr>
          <p:spPr>
            <a:xfrm>
              <a:off x="2555776" y="1563638"/>
              <a:ext cx="1152128" cy="289406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/>
          <p:cNvSpPr/>
          <p:nvPr/>
        </p:nvSpPr>
        <p:spPr>
          <a:xfrm>
            <a:off x="515615" y="180441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ADC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0375" y="3435846"/>
            <a:ext cx="2120528" cy="8640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LED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19448" y="2355726"/>
            <a:ext cx="2120528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SW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2240" y="3651870"/>
            <a:ext cx="432048" cy="3182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6660232" y="3867894"/>
            <a:ext cx="6480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19448" y="1566672"/>
            <a:ext cx="2120528" cy="2004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SW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305320" y="37578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TX1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05320" y="39102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SCL</a:t>
            </a:r>
            <a:endParaRPr lang="en-GB" sz="11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05320" y="4062606"/>
            <a:ext cx="2202784" cy="18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100" dirty="0" smtClean="0">
                <a:solidFill>
                  <a:schemeClr val="tx1"/>
                </a:solidFill>
              </a:rPr>
              <a:t>SDA</a:t>
            </a:r>
            <a:endParaRPr lang="en-GB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44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Setup</a:t>
            </a:r>
            <a:endParaRPr lang="en-GB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555526"/>
            <a:ext cx="1910822" cy="2160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6" name="Straight Connector 15"/>
          <p:cNvCxnSpPr/>
          <p:nvPr/>
        </p:nvCxnSpPr>
        <p:spPr>
          <a:xfrm flipV="1">
            <a:off x="4893568" y="651922"/>
            <a:ext cx="0" cy="43204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900816" y="662206"/>
            <a:ext cx="1265292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 flipV="1">
            <a:off x="6158488" y="669826"/>
            <a:ext cx="52144" cy="3249538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5015488" y="906046"/>
            <a:ext cx="11440" cy="16761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 flipV="1">
            <a:off x="5940152" y="895028"/>
            <a:ext cx="35476" cy="297933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004048" y="895028"/>
            <a:ext cx="9361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28184" y="1903140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CLOCK</a:t>
            </a:r>
          </a:p>
          <a:p>
            <a:pPr algn="ctr"/>
            <a:r>
              <a:rPr lang="en-GB" i="1" dirty="0" smtClean="0"/>
              <a:t>---------</a:t>
            </a:r>
          </a:p>
          <a:p>
            <a:pPr algn="ctr"/>
            <a:r>
              <a:rPr lang="en-GB" i="1" dirty="0" smtClean="0"/>
              <a:t>SCL</a:t>
            </a:r>
            <a:endParaRPr lang="en-GB" i="1" dirty="0"/>
          </a:p>
        </p:txBody>
      </p:sp>
      <p:sp>
        <p:nvSpPr>
          <p:cNvPr id="40" name="TextBox 39"/>
          <p:cNvSpPr txBox="1"/>
          <p:nvPr/>
        </p:nvSpPr>
        <p:spPr>
          <a:xfrm>
            <a:off x="5148064" y="2640742"/>
            <a:ext cx="790601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DATA</a:t>
            </a:r>
          </a:p>
          <a:p>
            <a:r>
              <a:rPr lang="en-GB" i="1" dirty="0" smtClean="0"/>
              <a:t>---------</a:t>
            </a:r>
            <a:endParaRPr lang="en-GB" dirty="0" smtClean="0"/>
          </a:p>
          <a:p>
            <a:pPr algn="ctr"/>
            <a:r>
              <a:rPr lang="en-GB" i="1" dirty="0" smtClean="0"/>
              <a:t>SDA</a:t>
            </a:r>
            <a:endParaRPr lang="en-GB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t="12335"/>
          <a:stretch>
            <a:fillRect/>
          </a:stretch>
        </p:blipFill>
        <p:spPr bwMode="auto">
          <a:xfrm>
            <a:off x="827584" y="1997561"/>
            <a:ext cx="2047875" cy="12942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1" name="TextBox 40"/>
          <p:cNvSpPr txBox="1"/>
          <p:nvPr/>
        </p:nvSpPr>
        <p:spPr>
          <a:xfrm>
            <a:off x="1244352" y="1691987"/>
            <a:ext cx="54021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VCC</a:t>
            </a:r>
            <a:endParaRPr lang="en-GB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1280840" y="3024723"/>
            <a:ext cx="1656184" cy="0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123728" y="2848957"/>
            <a:ext cx="0" cy="163066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395413" y="2552095"/>
            <a:ext cx="0" cy="481012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585912" y="2544952"/>
            <a:ext cx="2382" cy="635793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2271712" y="2835465"/>
            <a:ext cx="0" cy="345280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1259632" y="3175982"/>
            <a:ext cx="1626443" cy="14288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4" descr="PIC16F17556 | Microchip Technolog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331" y="3965243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55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79512" y="1131590"/>
            <a:ext cx="6048672" cy="7920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I2C sequence</a:t>
            </a:r>
            <a:endParaRPr lang="en-GB" dirty="0"/>
          </a:p>
        </p:txBody>
      </p:sp>
      <p:grpSp>
        <p:nvGrpSpPr>
          <p:cNvPr id="11" name="Group 10"/>
          <p:cNvGrpSpPr/>
          <p:nvPr/>
        </p:nvGrpSpPr>
        <p:grpSpPr>
          <a:xfrm>
            <a:off x="323528" y="1275606"/>
            <a:ext cx="5760640" cy="456216"/>
            <a:chOff x="179512" y="2643758"/>
            <a:chExt cx="5760640" cy="456216"/>
          </a:xfrm>
        </p:grpSpPr>
        <p:sp>
          <p:nvSpPr>
            <p:cNvPr id="6" name="Rectangle 5"/>
            <p:cNvSpPr/>
            <p:nvPr/>
          </p:nvSpPr>
          <p:spPr>
            <a:xfrm>
              <a:off x="179512" y="2667926"/>
              <a:ext cx="1224136" cy="43204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i2cStart</a:t>
              </a:r>
              <a:endParaRPr lang="en-GB" sz="1600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691680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 Address</a:t>
              </a:r>
              <a:endParaRPr lang="en-GB" sz="1600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203848" y="2667926"/>
              <a:ext cx="1224136" cy="432048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i2cSend</a:t>
              </a:r>
            </a:p>
            <a:p>
              <a:pPr algn="ctr"/>
              <a:r>
                <a:rPr lang="en-GB" sz="1600" dirty="0" smtClean="0"/>
                <a:t>Data</a:t>
              </a:r>
              <a:endParaRPr lang="en-GB" sz="16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716016" y="2643758"/>
              <a:ext cx="1224136" cy="432048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600" dirty="0" smtClean="0"/>
                <a:t>i2cStop</a:t>
              </a:r>
              <a:endParaRPr lang="en-GB" sz="1600" dirty="0"/>
            </a:p>
          </p:txBody>
        </p:sp>
      </p:grpSp>
      <p:sp>
        <p:nvSpPr>
          <p:cNvPr id="10" name="Rectangle 9"/>
          <p:cNvSpPr/>
          <p:nvPr/>
        </p:nvSpPr>
        <p:spPr>
          <a:xfrm>
            <a:off x="971600" y="1995686"/>
            <a:ext cx="5040560" cy="3096344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>
            <a:normAutofit/>
          </a:bodyPr>
          <a:lstStyle/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Start </a:t>
            </a: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high-to-low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beginning of communication.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(Address):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the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address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 the slave </a:t>
            </a:r>
            <a:r>
              <a:rPr lang="en-GB" sz="10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device including </a:t>
            </a: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by the Read/Write bit.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Slave responds with an Acknowledgment (ACK) bit.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Send (Data):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Master sends or receives data bytes.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Each byte is followed by an Acknowledgment (ACK) from the receiver.</a:t>
            </a:r>
          </a:p>
          <a:p>
            <a:pPr marL="257175" indent="-257175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Stop Condition: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Indicated by a low-to-high transition on the SDA line while SCL is high.</a:t>
            </a:r>
          </a:p>
          <a:p>
            <a:pPr marL="557213" lvl="1" indent="-214313" defTabSz="342900">
              <a:spcBef>
                <a:spcPts val="750"/>
              </a:spcBef>
              <a:buClr>
                <a:schemeClr val="accent1"/>
              </a:buClr>
              <a:buSzPct val="80000"/>
              <a:buFont typeface="Wingdings 3" charset="2"/>
              <a:buChar char=""/>
            </a:pPr>
            <a:r>
              <a:rPr lang="en-GB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signals the end of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37513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I</a:t>
            </a:r>
            <a:r>
              <a:rPr lang="en-GB" baseline="30000" dirty="0" smtClean="0"/>
              <a:t>2</a:t>
            </a:r>
            <a:r>
              <a:rPr lang="en-GB" dirty="0" smtClean="0"/>
              <a:t>C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504" y="699542"/>
            <a:ext cx="4953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1920" y="1419622"/>
            <a:ext cx="4896544" cy="3569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56176" y="51470"/>
            <a:ext cx="2088282" cy="1215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02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1560" y="123478"/>
            <a:ext cx="7308304" cy="47319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" name="Group 1"/>
          <p:cNvGrpSpPr/>
          <p:nvPr/>
        </p:nvGrpSpPr>
        <p:grpSpPr>
          <a:xfrm>
            <a:off x="1118297" y="450715"/>
            <a:ext cx="6370491" cy="4196450"/>
            <a:chOff x="506737" y="738747"/>
            <a:chExt cx="6370491" cy="4196450"/>
          </a:xfrm>
        </p:grpSpPr>
        <p:cxnSp>
          <p:nvCxnSpPr>
            <p:cNvPr id="43" name="Straight Connector 42"/>
            <p:cNvCxnSpPr/>
            <p:nvPr/>
          </p:nvCxnSpPr>
          <p:spPr>
            <a:xfrm flipH="1">
              <a:off x="805441" y="1222581"/>
              <a:ext cx="7213" cy="3209482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838272" y="1267982"/>
              <a:ext cx="0" cy="166749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506737" y="1468273"/>
              <a:ext cx="6370490" cy="1246085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r</a:t>
              </a:r>
              <a:endParaRPr lang="en-GB" sz="1200" dirty="0"/>
            </a:p>
          </p:txBody>
        </p:sp>
        <p:cxnSp>
          <p:nvCxnSpPr>
            <p:cNvPr id="39" name="Straight Connector 38"/>
            <p:cNvCxnSpPr>
              <a:stCxn id="11" idx="2"/>
            </p:cNvCxnSpPr>
            <p:nvPr/>
          </p:nvCxnSpPr>
          <p:spPr>
            <a:xfrm flipH="1">
              <a:off x="1929213" y="1262641"/>
              <a:ext cx="6944" cy="3159808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506738" y="2935481"/>
              <a:ext cx="6370490" cy="1144068"/>
            </a:xfrm>
            <a:prstGeom prst="rect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r</a:t>
              </a:r>
              <a:endParaRPr lang="en-GB" sz="12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76841" y="762713"/>
              <a:ext cx="2718632" cy="4999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User Program</a:t>
              </a:r>
              <a:endParaRPr lang="en-GB" sz="12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76841" y="15115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91141" y="16258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05441" y="17401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19741" y="18544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034041" y="19687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148341" y="2083039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Libraries </a:t>
              </a:r>
              <a:r>
                <a:rPr lang="en-GB" sz="1200" dirty="0" smtClean="0"/>
                <a:t>– 125+</a:t>
              </a:r>
              <a:endParaRPr lang="en-GB" sz="120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76841" y="29985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91141" y="31128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05441" y="32271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919741" y="33414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n-GB" sz="1200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34041" y="3455707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err="1" smtClean="0"/>
                <a:t>Lowlevel</a:t>
              </a:r>
              <a:r>
                <a:rPr lang="en-GB" sz="1200" dirty="0" smtClean="0"/>
                <a:t> </a:t>
              </a:r>
              <a:r>
                <a:rPr lang="en-GB" sz="1200" dirty="0" smtClean="0"/>
                <a:t>– 25+</a:t>
              </a:r>
              <a:endParaRPr lang="en-GB" sz="1200" dirty="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069812" y="738747"/>
              <a:ext cx="980897" cy="20723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User Functions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76841" y="4422449"/>
              <a:ext cx="2880734" cy="512748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>
                  <a:solidFill>
                    <a:schemeClr val="tx1"/>
                  </a:solidFill>
                </a:rPr>
                <a:t>Microcontroller specific solution (.HEX)</a:t>
              </a:r>
              <a:endParaRPr lang="en-GB" sz="1200" dirty="0">
                <a:solidFill>
                  <a:schemeClr val="tx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3081830" y="1081845"/>
              <a:ext cx="980897" cy="2285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/>
                <a:t>Converters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4601910" y="768054"/>
              <a:ext cx="2147132" cy="49992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External Sources </a:t>
              </a:r>
            </a:p>
            <a:p>
              <a:pPr algn="ctr"/>
              <a:r>
                <a:rPr lang="en-GB" sz="1200" dirty="0" smtClean="0"/>
                <a:t>DB, BMP, Version control…</a:t>
              </a:r>
              <a:endParaRPr lang="en-GB" sz="1200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601910" y="1790343"/>
              <a:ext cx="2147132" cy="499928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7 segment, GLCD, Maths…</a:t>
              </a:r>
              <a:endParaRPr lang="en-GB" sz="1200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4601910" y="3257551"/>
              <a:ext cx="2147132" cy="499928"/>
            </a:xfrm>
            <a:prstGeom prst="rect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r>
                <a:rPr lang="en-GB" sz="1200" dirty="0" smtClean="0"/>
                <a:t>USART, I2C, SPI….</a:t>
              </a:r>
              <a:endParaRPr lang="en-GB" sz="1200" dirty="0"/>
            </a:p>
          </p:txBody>
        </p:sp>
        <p:cxnSp>
          <p:nvCxnSpPr>
            <p:cNvPr id="51" name="Straight Connector 50"/>
            <p:cNvCxnSpPr/>
            <p:nvPr/>
          </p:nvCxnSpPr>
          <p:spPr>
            <a:xfrm>
              <a:off x="1084047" y="2468667"/>
              <a:ext cx="0" cy="64414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4069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Lab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Examine the sample code</a:t>
            </a:r>
          </a:p>
          <a:p>
            <a:pPr lvl="1"/>
            <a:r>
              <a:rPr lang="en-GB" dirty="0" smtClean="0"/>
              <a:t>Using PPS select the I</a:t>
            </a:r>
            <a:r>
              <a:rPr lang="en-GB" baseline="30000" dirty="0" smtClean="0"/>
              <a:t>2</a:t>
            </a:r>
            <a:r>
              <a:rPr lang="en-GB" dirty="0" smtClean="0"/>
              <a:t>C ports</a:t>
            </a:r>
          </a:p>
          <a:p>
            <a:pPr lvl="1"/>
            <a:r>
              <a:rPr lang="en-GB" dirty="0" smtClean="0"/>
              <a:t>Using PPS select the serial USART port</a:t>
            </a:r>
          </a:p>
          <a:p>
            <a:pPr lvl="1"/>
            <a:r>
              <a:rPr lang="en-GB" dirty="0" smtClean="0"/>
              <a:t>Set up the I</a:t>
            </a:r>
            <a:r>
              <a:rPr lang="en-GB" baseline="30000" dirty="0" smtClean="0"/>
              <a:t>2</a:t>
            </a:r>
            <a:r>
              <a:rPr lang="en-GB" dirty="0" smtClean="0"/>
              <a:t>C </a:t>
            </a:r>
          </a:p>
          <a:p>
            <a:pPr lvl="1"/>
            <a:r>
              <a:rPr lang="en-GB" dirty="0" smtClean="0"/>
              <a:t>Review demonstrations and see the results</a:t>
            </a:r>
            <a:endParaRPr lang="en-GB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469482"/>
              </p:ext>
            </p:extLst>
          </p:nvPr>
        </p:nvGraphicFramePr>
        <p:xfrm>
          <a:off x="1259632" y="3291830"/>
          <a:ext cx="4069729" cy="1510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/>
                <a:gridCol w="2413545"/>
              </a:tblGrid>
              <a:tr h="144016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Focus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Shows</a:t>
                      </a:r>
                      <a:r>
                        <a:rPr lang="en-GB" sz="1000" baseline="0" dirty="0" smtClean="0"/>
                        <a:t> </a:t>
                      </a:r>
                      <a:endParaRPr lang="en-GB" sz="1000" dirty="0"/>
                    </a:p>
                  </a:txBody>
                  <a:tcPr/>
                </a:tc>
              </a:tr>
              <a:tr h="376557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128x32 &amp; 128x64</a:t>
                      </a:r>
                      <a:r>
                        <a:rPr lang="en-GB" sz="1000" baseline="0" dirty="0" smtClean="0"/>
                        <a:t> capability demos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Primitives</a:t>
                      </a:r>
                    </a:p>
                    <a:p>
                      <a:r>
                        <a:rPr lang="en-GB" sz="1000" dirty="0" smtClean="0"/>
                        <a:t>Memory</a:t>
                      </a:r>
                      <a:r>
                        <a:rPr lang="en-GB" sz="1000" baseline="0" dirty="0" smtClean="0"/>
                        <a:t> usage &amp; Transactions</a:t>
                      </a:r>
                      <a:endParaRPr lang="en-GB" sz="1000" dirty="0"/>
                    </a:p>
                  </a:txBody>
                  <a:tcPr/>
                </a:tc>
              </a:tr>
              <a:tr h="239322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BMP</a:t>
                      </a:r>
                      <a:r>
                        <a:rPr lang="en-GB" sz="1000" baseline="0" dirty="0" smtClean="0"/>
                        <a:t> converter 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Converter</a:t>
                      </a:r>
                      <a:endParaRPr lang="en-GB" sz="1000" dirty="0"/>
                    </a:p>
                  </a:txBody>
                  <a:tcPr/>
                </a:tc>
              </a:tr>
              <a:tr h="273724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Sprite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Expose</a:t>
                      </a:r>
                      <a:r>
                        <a:rPr lang="en-GB" sz="1000" baseline="0" dirty="0" smtClean="0"/>
                        <a:t> buffer and custom I2C subroutine</a:t>
                      </a:r>
                      <a:endParaRPr lang="en-GB" sz="1000" dirty="0"/>
                    </a:p>
                  </a:txBody>
                  <a:tcPr/>
                </a:tc>
              </a:tr>
              <a:tr h="352418">
                <a:tc>
                  <a:txBody>
                    <a:bodyPr/>
                    <a:lstStyle/>
                    <a:p>
                      <a:r>
                        <a:rPr lang="en-GB" sz="1000" dirty="0" smtClean="0"/>
                        <a:t>Voltmeter</a:t>
                      </a:r>
                      <a:endParaRPr lang="en-GB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3429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Trig2places</a:t>
                      </a:r>
                      <a:r>
                        <a:rPr lang="en-GB" sz="1000" b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Low level GLCD commands</a:t>
                      </a:r>
                      <a:endParaRPr lang="en-GB" sz="1000" b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4226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the timer0 overflow, 8bit timer, 16bit timer to flash the LEDs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Using </a:t>
            </a:r>
            <a:r>
              <a:rPr lang="en-GB" sz="1100" b="1" dirty="0" smtClean="0"/>
              <a:t>SPI </a:t>
            </a:r>
            <a:r>
              <a:rPr lang="en-GB" sz="1100" b="1" dirty="0"/>
              <a:t>GCLD </a:t>
            </a:r>
            <a:r>
              <a:rPr lang="en-GB" sz="1100" b="1" dirty="0" smtClean="0"/>
              <a:t>display </a:t>
            </a:r>
            <a:r>
              <a:rPr lang="en-GB" sz="1100" b="1" dirty="0"/>
              <a:t>solutions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PWM</a:t>
            </a:r>
            <a:r>
              <a:rPr lang="en-GB" sz="1100" smtClean="0"/>
              <a:t>, many ways</a:t>
            </a:r>
            <a:r>
              <a:rPr lang="en-GB" sz="1100" dirty="0"/>
              <a:t>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Progmem,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074978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</a:p>
          <a:p>
            <a:r>
              <a:rPr lang="en-GB" dirty="0" smtClean="0"/>
              <a:t>Part 12 - GLCD Operations using I2C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629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14865</TotalTime>
  <Words>782</Words>
  <Application>Microsoft Office PowerPoint</Application>
  <PresentationFormat>On-screen Show (16:9)</PresentationFormat>
  <Paragraphs>186</Paragraphs>
  <Slides>18</Slides>
  <Notes>1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GCstudioThemeLight</vt:lpstr>
      <vt:lpstr>GCBASIC</vt:lpstr>
      <vt:lpstr>GCBASIC</vt:lpstr>
      <vt:lpstr>GCBASIC</vt:lpstr>
      <vt:lpstr>PIC16F175xx</vt:lpstr>
      <vt:lpstr>Videos...</vt:lpstr>
      <vt:lpstr>GCBASIC Compiler</vt:lpstr>
      <vt:lpstr>Prerequisites </vt:lpstr>
      <vt:lpstr>I2C</vt:lpstr>
      <vt:lpstr>Hardware</vt:lpstr>
      <vt:lpstr>Hardware</vt:lpstr>
      <vt:lpstr>Setup</vt:lpstr>
      <vt:lpstr>I2C sequence</vt:lpstr>
      <vt:lpstr>I2C</vt:lpstr>
      <vt:lpstr>PowerPoint Presentation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764</cp:revision>
  <dcterms:created xsi:type="dcterms:W3CDTF">2019-01-08T20:03:06Z</dcterms:created>
  <dcterms:modified xsi:type="dcterms:W3CDTF">2025-12-09T08:03:50Z</dcterms:modified>
</cp:coreProperties>
</file>