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handoutMasterIdLst>
    <p:handoutMasterId r:id="rId42"/>
  </p:handoutMasterIdLst>
  <p:sldIdLst>
    <p:sldId id="294" r:id="rId2"/>
    <p:sldId id="256" r:id="rId3"/>
    <p:sldId id="295" r:id="rId4"/>
    <p:sldId id="364" r:id="rId5"/>
    <p:sldId id="296" r:id="rId6"/>
    <p:sldId id="282" r:id="rId7"/>
    <p:sldId id="291" r:id="rId8"/>
    <p:sldId id="365" r:id="rId9"/>
    <p:sldId id="366" r:id="rId10"/>
    <p:sldId id="361" r:id="rId11"/>
    <p:sldId id="338" r:id="rId12"/>
    <p:sldId id="339" r:id="rId13"/>
    <p:sldId id="340" r:id="rId14"/>
    <p:sldId id="362" r:id="rId15"/>
    <p:sldId id="363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49" r:id="rId25"/>
    <p:sldId id="350" r:id="rId26"/>
    <p:sldId id="351" r:id="rId27"/>
    <p:sldId id="352" r:id="rId28"/>
    <p:sldId id="353" r:id="rId29"/>
    <p:sldId id="354" r:id="rId30"/>
    <p:sldId id="355" r:id="rId31"/>
    <p:sldId id="356" r:id="rId32"/>
    <p:sldId id="357" r:id="rId33"/>
    <p:sldId id="358" r:id="rId34"/>
    <p:sldId id="359" r:id="rId35"/>
    <p:sldId id="360" r:id="rId36"/>
    <p:sldId id="335" r:id="rId37"/>
    <p:sldId id="288" r:id="rId38"/>
    <p:sldId id="330" r:id="rId39"/>
    <p:sldId id="327" r:id="rId40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>
      <p:cViewPr>
        <p:scale>
          <a:sx n="130" d="100"/>
          <a:sy n="130" d="100"/>
        </p:scale>
        <p:origin x="-1080" y="-35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02/12/2025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02/12/2025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="" xmlns:a16="http://schemas.microsoft.com/office/drawing/2014/main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02/12/2025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02/12/2025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02/12/2025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02/12/2025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02/12/2025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02/12/2025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02/12/2025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144617" y="2776047"/>
            <a:ext cx="3523727" cy="645300"/>
          </a:xfrm>
        </p:spPr>
        <p:txBody>
          <a:bodyPr>
            <a:normAutofit/>
          </a:bodyPr>
          <a:lstStyle/>
          <a:p>
            <a:r>
              <a:rPr lang="en-GB" dirty="0" smtClean="0"/>
              <a:t>PIC16F175xx</a:t>
            </a:r>
            <a:endParaRPr lang="en-GB" dirty="0" smtClean="0"/>
          </a:p>
          <a:p>
            <a:r>
              <a:rPr lang="en-GB" dirty="0" smtClean="0"/>
              <a:t>Part 9 - Timers and Timer Interrupts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404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  <a:endParaRPr lang="en-GB" dirty="0" smtClean="0"/>
          </a:p>
          <a:p>
            <a:r>
              <a:rPr lang="en-GB" dirty="0" smtClean="0"/>
              <a:t>Part 9 - Timers and Timer Interrupts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880" y="397499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127004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</a:t>
            </a:r>
            <a:r>
              <a:rPr lang="en-US" sz="40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!</a:t>
            </a:r>
            <a:endParaRPr lang="en-US" sz="40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113182" y="4384422"/>
            <a:ext cx="354882" cy="305233"/>
          </a:xfrm>
        </p:spPr>
        <p:txBody>
          <a:bodyPr/>
          <a:lstStyle/>
          <a:p>
            <a:fld id="{1E700B27-DE4C-4B9E-BB11-B9027034A00F}" type="datetimeFigureOut">
              <a:rPr lang="en-US" smtClean="0"/>
              <a:pPr/>
              <a:t>12/2/2025</a:t>
            </a:fld>
            <a:endParaRPr lang="en-US" dirty="0"/>
          </a:p>
        </p:txBody>
      </p:sp>
      <p:pic>
        <p:nvPicPr>
          <p:cNvPr id="9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880" y="397499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127004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57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PIC16F175xx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PIC16165xx  is a high performance PIC16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PIC16175xx offers 14, 20,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7438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the </a:t>
            </a:r>
            <a:r>
              <a:rPr lang="en-GB" sz="1100" b="1" dirty="0" smtClean="0"/>
              <a:t>timer0:  16bit timer, 8bit </a:t>
            </a:r>
            <a:r>
              <a:rPr lang="en-GB" sz="1100" b="1" dirty="0"/>
              <a:t>timer and overflow </a:t>
            </a:r>
            <a:r>
              <a:rPr lang="en-GB" sz="1100" b="1" dirty="0" smtClean="0"/>
              <a:t> to </a:t>
            </a:r>
            <a:r>
              <a:rPr lang="en-GB" sz="1100" b="1" dirty="0"/>
              <a:t>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94786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3528392" cy="139394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</a:t>
            </a:r>
            <a:r>
              <a:rPr lang="en-GB" dirty="0" smtClean="0"/>
              <a:t>PIC,AVR and LGT microcontrollers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GCBASIC now supports the </a:t>
            </a:r>
            <a:r>
              <a:rPr lang="en-GB" dirty="0" smtClean="0"/>
              <a:t>16F175xx </a:t>
            </a:r>
            <a:r>
              <a:rPr lang="en-GB" dirty="0" smtClean="0"/>
              <a:t>chip family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Prerequisites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Assumes you have </a:t>
            </a:r>
          </a:p>
          <a:p>
            <a:pPr marL="778521" lvl="1" indent="-478483"/>
            <a:r>
              <a:rPr lang="en-GB" dirty="0" smtClean="0"/>
              <a:t>Installed the GCBASIC software</a:t>
            </a:r>
          </a:p>
          <a:p>
            <a:pPr marL="778521" lvl="1" indent="-478483"/>
            <a:r>
              <a:rPr lang="en-GB" dirty="0" smtClean="0"/>
              <a:t>Installed your programmer software</a:t>
            </a:r>
          </a:p>
          <a:p>
            <a:pPr marL="778521" lvl="1" indent="-478483"/>
            <a:r>
              <a:rPr lang="en-GB" dirty="0" smtClean="0"/>
              <a:t>Test that you have the </a:t>
            </a:r>
            <a:r>
              <a:rPr lang="en-GB" dirty="0" smtClean="0"/>
              <a:t>16F175xx </a:t>
            </a:r>
            <a:r>
              <a:rPr lang="en-GB" dirty="0" smtClean="0"/>
              <a:t>attached</a:t>
            </a:r>
          </a:p>
          <a:p>
            <a:pPr marL="778521" lvl="1" indent="-478483"/>
            <a:r>
              <a:rPr lang="en-GB" dirty="0" smtClean="0"/>
              <a:t>You have the 4 LEDs operating</a:t>
            </a:r>
          </a:p>
          <a:p>
            <a:pPr marL="778521" lvl="1" indent="-478483"/>
            <a:r>
              <a:rPr lang="en-GB" dirty="0" smtClean="0"/>
              <a:t>You have a POT connected</a:t>
            </a:r>
          </a:p>
          <a:p>
            <a:pPr marL="778521" lvl="1" indent="-478483"/>
            <a:r>
              <a:rPr lang="en-GB" dirty="0" smtClean="0"/>
              <a:t>You have </a:t>
            </a:r>
            <a:r>
              <a:rPr lang="en-GB" dirty="0" err="1" smtClean="0"/>
              <a:t>SWITCHes</a:t>
            </a:r>
            <a:r>
              <a:rPr lang="en-GB" dirty="0" smtClean="0"/>
              <a:t> connected</a:t>
            </a:r>
          </a:p>
          <a:p>
            <a:pPr marL="778521" lvl="1" indent="-478483"/>
            <a:r>
              <a:rPr lang="en-GB" dirty="0" smtClean="0"/>
              <a:t>You have a USB/TTL converter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Hardware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Prototype Board</a:t>
            </a:r>
            <a:endParaRPr lang="en-GB" dirty="0"/>
          </a:p>
          <a:p>
            <a:r>
              <a:rPr lang="en-GB" dirty="0" smtClean="0"/>
              <a:t>Power 5v0</a:t>
            </a:r>
          </a:p>
          <a:p>
            <a:r>
              <a:rPr lang="en-GB" dirty="0" smtClean="0"/>
              <a:t>Programmer</a:t>
            </a:r>
          </a:p>
          <a:p>
            <a:r>
              <a:rPr lang="en-GB" dirty="0" smtClean="0"/>
              <a:t>LEDs &amp; resistors</a:t>
            </a:r>
          </a:p>
          <a:p>
            <a:r>
              <a:rPr lang="en-GB" dirty="0" smtClean="0"/>
              <a:t>Switches &amp; resistors</a:t>
            </a:r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483768" y="1275606"/>
            <a:ext cx="4320480" cy="37856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   Hardware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-------------------PORTA----------------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-----------------SW----------ADC--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----------------------------------------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-------------------PORTB----------------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----------------------------------------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PORTC-----------------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----TX1-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-------LED-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-LED-LED LED--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------------------PORTE-----------------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----------------MCLR-------------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------------------------SW-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42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501030"/>
            <a:ext cx="5400600" cy="990600"/>
          </a:xfrm>
        </p:spPr>
        <p:txBody>
          <a:bodyPr vert="horz" lIns="85064" tIns="42531" rIns="85064" bIns="42531" rtlCol="0" anchor="t">
            <a:normAutofit/>
          </a:bodyPr>
          <a:lstStyle/>
          <a:p>
            <a:r>
              <a:rPr lang="en-GB" dirty="0"/>
              <a:t>Digital input</a:t>
            </a:r>
          </a:p>
        </p:txBody>
      </p:sp>
      <p:sp>
        <p:nvSpPr>
          <p:cNvPr id="5" name="AutoShape 4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Upload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8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pSp>
        <p:nvGrpSpPr>
          <p:cNvPr id="25" name="Group 24"/>
          <p:cNvGrpSpPr/>
          <p:nvPr/>
        </p:nvGrpSpPr>
        <p:grpSpPr>
          <a:xfrm>
            <a:off x="547911" y="1563638"/>
            <a:ext cx="4384129" cy="2952328"/>
            <a:chOff x="1043608" y="1563638"/>
            <a:chExt cx="4384129" cy="2952328"/>
          </a:xfrm>
        </p:grpSpPr>
        <p:pic>
          <p:nvPicPr>
            <p:cNvPr id="1036" name="Picture 1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3608" y="1563638"/>
              <a:ext cx="1476375" cy="2924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7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9912" y="1565118"/>
              <a:ext cx="1647825" cy="29508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" name="Rectangle 23"/>
            <p:cNvSpPr/>
            <p:nvPr/>
          </p:nvSpPr>
          <p:spPr>
            <a:xfrm>
              <a:off x="2555776" y="1563638"/>
              <a:ext cx="1152128" cy="289406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Rectangle 25"/>
          <p:cNvSpPr/>
          <p:nvPr/>
        </p:nvSpPr>
        <p:spPr>
          <a:xfrm>
            <a:off x="515615" y="1804416"/>
            <a:ext cx="2120528" cy="1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 smtClean="0">
                <a:solidFill>
                  <a:schemeClr val="tx1"/>
                </a:solidFill>
              </a:rPr>
              <a:t>ADC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0375" y="3435846"/>
            <a:ext cx="2120528" cy="8640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 smtClean="0">
                <a:solidFill>
                  <a:schemeClr val="tx1"/>
                </a:solidFill>
              </a:rPr>
              <a:t>LED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9448" y="2355726"/>
            <a:ext cx="2120528" cy="1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 smtClean="0">
                <a:solidFill>
                  <a:schemeClr val="tx1"/>
                </a:solidFill>
              </a:rPr>
              <a:t>SW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32240" y="3651870"/>
            <a:ext cx="432048" cy="3182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660232" y="3867894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19448" y="1566672"/>
            <a:ext cx="2120528" cy="2004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 smtClean="0">
                <a:solidFill>
                  <a:schemeClr val="tx1"/>
                </a:solidFill>
              </a:rPr>
              <a:t>SW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305320" y="3757806"/>
            <a:ext cx="2202784" cy="1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 smtClean="0">
                <a:solidFill>
                  <a:schemeClr val="tx1"/>
                </a:solidFill>
              </a:rPr>
              <a:t>TX1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728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Timer Primer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6592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199"/>
          <p:cNvSpPr/>
          <p:nvPr/>
        </p:nvSpPr>
        <p:spPr>
          <a:xfrm>
            <a:off x="683568" y="1794178"/>
            <a:ext cx="610242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 smtClean="0"/>
              <a:t>Timers generate the accurate time delays.  The microcontroller can also generate/measure the required time delays by running loops, in your program, but the timer/counter relieves the CPU from that operation by using the </a:t>
            </a:r>
            <a:r>
              <a:rPr lang="en-GB" sz="1200" dirty="0" err="1" smtClean="0"/>
              <a:t>prescalar</a:t>
            </a:r>
            <a:r>
              <a:rPr lang="en-GB" sz="1200" dirty="0" smtClean="0"/>
              <a:t> and </a:t>
            </a:r>
            <a:r>
              <a:rPr lang="en-GB" sz="1200" dirty="0" err="1" smtClean="0"/>
              <a:t>postscalar</a:t>
            </a:r>
            <a:r>
              <a:rPr lang="en-GB" sz="1200" dirty="0" smtClean="0"/>
              <a:t/>
            </a:r>
            <a:br>
              <a:rPr lang="en-GB" sz="1200" dirty="0" smtClean="0"/>
            </a:br>
            <a:r>
              <a:rPr lang="en-GB" sz="1200" dirty="0" smtClean="0"/>
              <a:t/>
            </a:r>
            <a:br>
              <a:rPr lang="en-GB" sz="1200" dirty="0" smtClean="0"/>
            </a:br>
            <a:r>
              <a:rPr lang="en-GB" sz="1200" dirty="0" smtClean="0"/>
              <a:t>A timer is nothing but a simple binary counter that can be configured to count clock pulses(Internal/External). A register increments from a specific value.  Once it reaches the maximum value, it will roll back to zero setting up an </a:t>
            </a:r>
            <a:r>
              <a:rPr lang="en-GB" sz="1200" b="1" dirty="0" err="1" smtClean="0"/>
              <a:t>OverFlow</a:t>
            </a:r>
            <a:r>
              <a:rPr lang="en-GB" sz="1200" dirty="0" smtClean="0"/>
              <a:t> flag and generates the interrupt ... if enabled.</a:t>
            </a:r>
            <a:endParaRPr lang="en-GB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3559463"/>
            <a:ext cx="5880844" cy="1028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Timer Block Diagram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527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1" y="2931790"/>
            <a:ext cx="8282037" cy="1963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 l="1429" r="11396"/>
          <a:stretch>
            <a:fillRect/>
          </a:stretch>
        </p:blipFill>
        <p:spPr bwMode="auto">
          <a:xfrm>
            <a:off x="304105" y="1567911"/>
            <a:ext cx="4392488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58258" y="850724"/>
            <a:ext cx="4062214" cy="2119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Timer </a:t>
            </a:r>
            <a:r>
              <a:rPr lang="en-GB" dirty="0" smtClean="0"/>
              <a:t>Overview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810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331640" y="1948060"/>
            <a:ext cx="6439799" cy="2495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2411760" y="2213744"/>
            <a:ext cx="378966" cy="19201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32012" y="1633364"/>
            <a:ext cx="1150612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6660232" y="1995686"/>
            <a:ext cx="648072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6588224" y="2715766"/>
            <a:ext cx="64807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3205361" y="2570039"/>
            <a:ext cx="64807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5261370" y="2715766"/>
            <a:ext cx="64807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1711276" y="3189933"/>
            <a:ext cx="64807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Timer0 block diagram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4481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Timer0 block diagram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576" y="1347614"/>
            <a:ext cx="4567640" cy="3723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/>
          <p:nvPr/>
        </p:nvCxnSpPr>
        <p:spPr>
          <a:xfrm flipV="1">
            <a:off x="2555776" y="2282342"/>
            <a:ext cx="1891866" cy="9272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3995936" y="2282342"/>
            <a:ext cx="766259" cy="10796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72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Timer0 block diagram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576" y="1347614"/>
            <a:ext cx="4567640" cy="3723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/>
          <p:nvPr/>
        </p:nvCxnSpPr>
        <p:spPr>
          <a:xfrm flipH="1" flipV="1">
            <a:off x="4447642" y="2282342"/>
            <a:ext cx="124358" cy="106070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 flipV="1">
            <a:off x="4762195" y="2282342"/>
            <a:ext cx="1537997" cy="10796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225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Clock Select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>
                <a:solidFill>
                  <a:schemeClr val="tx1"/>
                </a:solidFill>
              </a:rPr>
              <a:t>Prescalar</a:t>
            </a:r>
            <a:endParaRPr lang="en-GB" sz="1000" dirty="0" smtClean="0">
              <a:solidFill>
                <a:schemeClr val="tx1"/>
              </a:solidFill>
            </a:endParaRPr>
          </a:p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1..32768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tx1"/>
              </a:solidFill>
            </a:endParaRPr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>
                <a:solidFill>
                  <a:schemeClr val="tx1"/>
                </a:solidFill>
              </a:rPr>
              <a:t>Postscalar</a:t>
            </a:r>
            <a:endParaRPr lang="en-GB" sz="1000" dirty="0" smtClean="0">
              <a:solidFill>
                <a:schemeClr val="tx1"/>
              </a:solidFill>
            </a:endParaRPr>
          </a:p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1..16</a:t>
            </a:r>
            <a:endParaRPr lang="en-GB" sz="1000" dirty="0">
              <a:solidFill>
                <a:schemeClr val="tx1"/>
              </a:solidFill>
            </a:endParaRPr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Timer Counter  </a:t>
            </a:r>
            <a:r>
              <a:rPr lang="en-GB" sz="1000" dirty="0" err="1" smtClean="0">
                <a:solidFill>
                  <a:schemeClr val="tx1"/>
                </a:solidFill>
              </a:rPr>
              <a:t>nn</a:t>
            </a:r>
            <a:r>
              <a:rPr lang="en-GB" sz="1000" dirty="0" smtClean="0">
                <a:solidFill>
                  <a:schemeClr val="tx1"/>
                </a:solidFill>
              </a:rPr>
              <a:t>..FF.00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185" name="Rounded Rectangle 184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Timer Overflow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186" name="Flowchart: Delay 185"/>
          <p:cNvSpPr/>
          <p:nvPr/>
        </p:nvSpPr>
        <p:spPr>
          <a:xfrm>
            <a:off x="8136669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IE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188" name="Elbow Connector 187"/>
          <p:cNvCxnSpPr/>
          <p:nvPr/>
        </p:nvCxnSpPr>
        <p:spPr>
          <a:xfrm rot="5400000" flipH="1" flipV="1">
            <a:off x="7815773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/>
          <p:cNvCxnSpPr/>
          <p:nvPr/>
        </p:nvCxnSpPr>
        <p:spPr>
          <a:xfrm flipV="1">
            <a:off x="7812362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/>
          <p:cNvCxnSpPr/>
          <p:nvPr/>
        </p:nvCxnSpPr>
        <p:spPr>
          <a:xfrm flipV="1">
            <a:off x="8629361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5580112" y="2427734"/>
            <a:ext cx="114005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/>
              <a:t>Counter Resets to Zero</a:t>
            </a:r>
            <a:endParaRPr lang="en-GB" sz="800" dirty="0"/>
          </a:p>
        </p:txBody>
      </p:sp>
      <p:sp>
        <p:nvSpPr>
          <p:cNvPr id="196" name="TextBox 195"/>
          <p:cNvSpPr txBox="1"/>
          <p:nvPr/>
        </p:nvSpPr>
        <p:spPr>
          <a:xfrm>
            <a:off x="6493006" y="1866900"/>
            <a:ext cx="569387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/>
              <a:t>Overflow</a:t>
            </a:r>
            <a:endParaRPr lang="en-GB" sz="800" dirty="0"/>
          </a:p>
        </p:txBody>
      </p:sp>
      <p:sp>
        <p:nvSpPr>
          <p:cNvPr id="198" name="TextBox 197"/>
          <p:cNvSpPr txBox="1"/>
          <p:nvPr/>
        </p:nvSpPr>
        <p:spPr>
          <a:xfrm>
            <a:off x="8594107" y="1760220"/>
            <a:ext cx="562975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/>
              <a:t>Interrupt</a:t>
            </a:r>
            <a:endParaRPr lang="en-GB" sz="800" dirty="0"/>
          </a:p>
        </p:txBody>
      </p: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200" name="Rectangle 199"/>
          <p:cNvSpPr/>
          <p:nvPr/>
        </p:nvSpPr>
        <p:spPr>
          <a:xfrm>
            <a:off x="1763688" y="3363838"/>
            <a:ext cx="6102424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100" dirty="0" smtClean="0"/>
              <a:t>Timers generate the accurate time delays.  The microcontroller can also generate/measure the required time delays by running loops, in your program, but the timer/counter relieves the CPU from that operation by using the </a:t>
            </a:r>
            <a:r>
              <a:rPr lang="en-GB" sz="1100" dirty="0" err="1" smtClean="0"/>
              <a:t>prescalar</a:t>
            </a:r>
            <a:r>
              <a:rPr lang="en-GB" sz="1100" dirty="0" smtClean="0"/>
              <a:t> and </a:t>
            </a:r>
            <a:r>
              <a:rPr lang="en-GB" sz="1100" dirty="0" err="1" smtClean="0"/>
              <a:t>postscalar</a:t>
            </a:r>
            <a:r>
              <a:rPr lang="en-GB" sz="1100" dirty="0" smtClean="0"/>
              <a:t/>
            </a:r>
            <a:br>
              <a:rPr lang="en-GB" sz="1100" dirty="0" smtClean="0"/>
            </a:br>
            <a:r>
              <a:rPr lang="en-GB" sz="1100" dirty="0" smtClean="0"/>
              <a:t/>
            </a:r>
            <a:br>
              <a:rPr lang="en-GB" sz="1100" dirty="0" smtClean="0"/>
            </a:br>
            <a:r>
              <a:rPr lang="en-GB" sz="1100" dirty="0" smtClean="0"/>
              <a:t>A timer is nothing but a simple binary counter that can be configured to count clock pulses(Internal/External). A register increments from a specific value.  Once it reaches the maximum value, it will roll back to zero setting up an </a:t>
            </a:r>
            <a:r>
              <a:rPr lang="en-GB" sz="1100" b="1" dirty="0" err="1" smtClean="0"/>
              <a:t>OverFlow</a:t>
            </a:r>
            <a:r>
              <a:rPr lang="en-GB" sz="1100" dirty="0" smtClean="0"/>
              <a:t> flag and generates the interrupt ... if enabled.</a:t>
            </a:r>
            <a:endParaRPr lang="en-GB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  <p:sp>
        <p:nvSpPr>
          <p:cNvPr id="187" name="TextBox 186"/>
          <p:cNvSpPr txBox="1"/>
          <p:nvPr/>
        </p:nvSpPr>
        <p:spPr>
          <a:xfrm>
            <a:off x="7586051" y="2725513"/>
            <a:ext cx="1039067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Interrupt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439700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539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3389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5203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9003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8196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536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30" name="TextBox 29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58837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B1</a:t>
            </a:r>
            <a:endParaRPr lang="en-GB" sz="1000" dirty="0"/>
          </a:p>
        </p:txBody>
      </p: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17" name="Rounded Rectangle 116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0</a:t>
            </a:r>
            <a:endParaRPr lang="en-GB" sz="1000" dirty="0"/>
          </a:p>
        </p:txBody>
      </p:sp>
      <p:cxnSp>
        <p:nvCxnSpPr>
          <p:cNvPr id="123" name="Straight Arrow Connector 122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sp>
        <p:nvSpPr>
          <p:cNvPr id="124" name="TextBox 123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  <p:sp>
        <p:nvSpPr>
          <p:cNvPr id="122" name="TextBox 121"/>
          <p:cNvSpPr txBox="1"/>
          <p:nvPr/>
        </p:nvSpPr>
        <p:spPr>
          <a:xfrm>
            <a:off x="5382604" y="2474450"/>
            <a:ext cx="151881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Set timer value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020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B1</a:t>
            </a:r>
            <a:endParaRPr lang="en-GB" sz="1000" dirty="0"/>
          </a:p>
        </p:txBody>
      </p: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17" name="Rounded Rectangle 116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0</a:t>
            </a:r>
            <a:endParaRPr lang="en-GB" sz="1000" dirty="0"/>
          </a:p>
        </p:txBody>
      </p:sp>
      <p:cxnSp>
        <p:nvCxnSpPr>
          <p:cNvPr id="123" name="Straight Arrow Connector 122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sp>
        <p:nvSpPr>
          <p:cNvPr id="124" name="TextBox 123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425289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B2</a:t>
            </a:r>
            <a:endParaRPr lang="en-GB" sz="1000" dirty="0"/>
          </a:p>
        </p:txBody>
      </p: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03" name="Rounded Rectangle 102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0</a:t>
            </a:r>
            <a:endParaRPr lang="en-GB" sz="1000" dirty="0"/>
          </a:p>
        </p:txBody>
      </p:sp>
      <p:cxnSp>
        <p:nvCxnSpPr>
          <p:cNvPr id="117" name="Straight Arrow Connector 116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18698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B3</a:t>
            </a:r>
            <a:endParaRPr lang="en-GB" sz="1000" dirty="0"/>
          </a:p>
        </p:txBody>
      </p: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03" name="Rounded Rectangle 102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0</a:t>
            </a:r>
            <a:endParaRPr lang="en-GB" sz="1000" dirty="0"/>
          </a:p>
        </p:txBody>
      </p:sp>
      <p:cxnSp>
        <p:nvCxnSpPr>
          <p:cNvPr id="117" name="Straight Arrow Connector 116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428420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</a:t>
            </a:r>
          </a:p>
          <a:p>
            <a:pPr algn="ctr"/>
            <a:r>
              <a:rPr lang="en-GB" sz="1000" dirty="0" smtClean="0"/>
              <a:t>..</a:t>
            </a:r>
            <a:endParaRPr lang="en-GB" sz="1000" dirty="0"/>
          </a:p>
        </p:txBody>
      </p: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03" name="Rounded Rectangle 102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0</a:t>
            </a:r>
            <a:endParaRPr lang="en-GB" sz="1000" dirty="0"/>
          </a:p>
        </p:txBody>
      </p:sp>
      <p:cxnSp>
        <p:nvCxnSpPr>
          <p:cNvPr id="117" name="Straight Arrow Connector 116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309563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FE</a:t>
            </a:r>
            <a:endParaRPr lang="en-GB" sz="1000" dirty="0"/>
          </a:p>
        </p:txBody>
      </p: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03" name="Rounded Rectangle 102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0</a:t>
            </a:r>
            <a:endParaRPr lang="en-GB" sz="1000" dirty="0"/>
          </a:p>
        </p:txBody>
      </p:sp>
      <p:cxnSp>
        <p:nvCxnSpPr>
          <p:cNvPr id="117" name="Straight Arrow Connector 116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81068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FF</a:t>
            </a:r>
            <a:endParaRPr lang="en-GB" sz="1000" dirty="0"/>
          </a:p>
        </p:txBody>
      </p: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03" name="Rounded Rectangle 102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0</a:t>
            </a:r>
            <a:endParaRPr lang="en-GB" sz="1000" dirty="0"/>
          </a:p>
        </p:txBody>
      </p:sp>
      <p:cxnSp>
        <p:nvCxnSpPr>
          <p:cNvPr id="117" name="Straight Arrow Connector 116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29217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00</a:t>
            </a:r>
            <a:endParaRPr lang="en-GB" sz="1000" dirty="0"/>
          </a:p>
        </p:txBody>
      </p: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03" name="TextBox 102"/>
          <p:cNvSpPr txBox="1"/>
          <p:nvPr/>
        </p:nvSpPr>
        <p:spPr>
          <a:xfrm>
            <a:off x="5580112" y="2427734"/>
            <a:ext cx="114005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>
                <a:solidFill>
                  <a:srgbClr val="FF0000"/>
                </a:solidFill>
              </a:rPr>
              <a:t>Counter Resets to Zero</a:t>
            </a:r>
            <a:endParaRPr lang="en-GB" sz="800" dirty="0">
              <a:solidFill>
                <a:srgbClr val="FF0000"/>
              </a:solidFill>
            </a:endParaRPr>
          </a:p>
        </p:txBody>
      </p:sp>
      <p:sp>
        <p:nvSpPr>
          <p:cNvPr id="117" name="Rounded Rectangle 116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0</a:t>
            </a:r>
            <a:endParaRPr lang="en-GB" sz="1000" dirty="0"/>
          </a:p>
        </p:txBody>
      </p:sp>
      <p:cxnSp>
        <p:nvCxnSpPr>
          <p:cNvPr id="122" name="Straight Arrow Connector 121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334331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00</a:t>
            </a:r>
            <a:endParaRPr lang="en-GB" sz="1000" dirty="0"/>
          </a:p>
        </p:txBody>
      </p:sp>
      <p:sp>
        <p:nvSpPr>
          <p:cNvPr id="185" name="Rounded Rectangle 184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b="1" dirty="0" smtClean="0"/>
              <a:t>1</a:t>
            </a:r>
            <a:endParaRPr lang="en-GB" sz="1000" b="1" dirty="0"/>
          </a:p>
        </p:txBody>
      </p: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5580112" y="2427734"/>
            <a:ext cx="114005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/>
              <a:t>Counter Resets to Zero</a:t>
            </a:r>
            <a:endParaRPr lang="en-GB" sz="800" dirty="0"/>
          </a:p>
        </p:txBody>
      </p:sp>
      <p:sp>
        <p:nvSpPr>
          <p:cNvPr id="196" name="TextBox 195"/>
          <p:cNvSpPr txBox="1"/>
          <p:nvPr/>
        </p:nvSpPr>
        <p:spPr>
          <a:xfrm>
            <a:off x="6493006" y="1866900"/>
            <a:ext cx="569387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>
                <a:solidFill>
                  <a:srgbClr val="FF0000"/>
                </a:solidFill>
              </a:rPr>
              <a:t>Overflow</a:t>
            </a:r>
            <a:endParaRPr lang="en-GB" sz="800" dirty="0">
              <a:solidFill>
                <a:srgbClr val="FF0000"/>
              </a:solidFill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23" name="TextBox 122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428739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00</a:t>
            </a:r>
            <a:endParaRPr lang="en-GB" sz="1000" dirty="0"/>
          </a:p>
        </p:txBody>
      </p:sp>
      <p:sp>
        <p:nvSpPr>
          <p:cNvPr id="185" name="Rounded Rectangle 184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1</a:t>
            </a:r>
            <a:endParaRPr lang="en-GB" sz="1000" dirty="0"/>
          </a:p>
        </p:txBody>
      </p: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5580112" y="2427734"/>
            <a:ext cx="114005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/>
              <a:t>Counter Resets to Zero</a:t>
            </a:r>
            <a:endParaRPr lang="en-GB" sz="800" dirty="0"/>
          </a:p>
        </p:txBody>
      </p:sp>
      <p:sp>
        <p:nvSpPr>
          <p:cNvPr id="196" name="TextBox 195"/>
          <p:cNvSpPr txBox="1"/>
          <p:nvPr/>
        </p:nvSpPr>
        <p:spPr>
          <a:xfrm>
            <a:off x="6493006" y="1866900"/>
            <a:ext cx="569387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/>
              <a:t>Overflow</a:t>
            </a:r>
            <a:endParaRPr lang="en-GB" sz="800" dirty="0"/>
          </a:p>
        </p:txBody>
      </p: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17" name="TextBox 116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833581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00</a:t>
            </a:r>
            <a:endParaRPr lang="en-GB" sz="1000" dirty="0"/>
          </a:p>
        </p:txBody>
      </p:sp>
      <p:sp>
        <p:nvSpPr>
          <p:cNvPr id="185" name="Rounded Rectangle 184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1</a:t>
            </a:r>
            <a:endParaRPr lang="en-GB" sz="1000" dirty="0"/>
          </a:p>
        </p:txBody>
      </p:sp>
      <p:sp>
        <p:nvSpPr>
          <p:cNvPr id="186" name="Flowchart: Delay 185"/>
          <p:cNvSpPr/>
          <p:nvPr/>
        </p:nvSpPr>
        <p:spPr>
          <a:xfrm>
            <a:off x="8136669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IE</a:t>
            </a:r>
            <a:endParaRPr lang="en-GB" sz="1000" dirty="0"/>
          </a:p>
        </p:txBody>
      </p:sp>
      <p:cxnSp>
        <p:nvCxnSpPr>
          <p:cNvPr id="188" name="Elbow Connector 187"/>
          <p:cNvCxnSpPr/>
          <p:nvPr/>
        </p:nvCxnSpPr>
        <p:spPr>
          <a:xfrm rot="5400000" flipH="1" flipV="1">
            <a:off x="7815773" y="2439211"/>
            <a:ext cx="511001" cy="122359"/>
          </a:xfrm>
          <a:prstGeom prst="bentConnector3">
            <a:avLst>
              <a:gd name="adj1" fmla="val 100024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/>
          <p:cNvCxnSpPr/>
          <p:nvPr/>
        </p:nvCxnSpPr>
        <p:spPr>
          <a:xfrm flipV="1">
            <a:off x="7812362" y="2067695"/>
            <a:ext cx="335129" cy="4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/>
          <p:cNvCxnSpPr/>
          <p:nvPr/>
        </p:nvCxnSpPr>
        <p:spPr>
          <a:xfrm flipV="1">
            <a:off x="8629361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5580112" y="2427734"/>
            <a:ext cx="114005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/>
              <a:t>Counter Resets to Zero</a:t>
            </a:r>
            <a:endParaRPr lang="en-GB" sz="800" dirty="0"/>
          </a:p>
        </p:txBody>
      </p:sp>
      <p:sp>
        <p:nvSpPr>
          <p:cNvPr id="196" name="TextBox 195"/>
          <p:cNvSpPr txBox="1"/>
          <p:nvPr/>
        </p:nvSpPr>
        <p:spPr>
          <a:xfrm>
            <a:off x="6493006" y="1866900"/>
            <a:ext cx="569387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/>
              <a:t>Overflow</a:t>
            </a:r>
            <a:endParaRPr lang="en-GB" sz="800" dirty="0"/>
          </a:p>
        </p:txBody>
      </p: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87" name="TextBox 186"/>
          <p:cNvSpPr txBox="1"/>
          <p:nvPr/>
        </p:nvSpPr>
        <p:spPr>
          <a:xfrm>
            <a:off x="7586051" y="2725513"/>
            <a:ext cx="1039067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Interrupt Enable</a:t>
            </a:r>
            <a:endParaRPr lang="en-GB" sz="1000" dirty="0"/>
          </a:p>
        </p:txBody>
      </p:sp>
      <p:sp>
        <p:nvSpPr>
          <p:cNvPr id="117" name="TextBox 116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35238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00</a:t>
            </a:r>
            <a:endParaRPr lang="en-GB" sz="1000" dirty="0"/>
          </a:p>
        </p:txBody>
      </p:sp>
      <p:sp>
        <p:nvSpPr>
          <p:cNvPr id="185" name="Rounded Rectangle 184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1</a:t>
            </a:r>
            <a:endParaRPr lang="en-GB" sz="1000" dirty="0"/>
          </a:p>
        </p:txBody>
      </p:sp>
      <p:sp>
        <p:nvSpPr>
          <p:cNvPr id="187" name="TextBox 186"/>
          <p:cNvSpPr txBox="1"/>
          <p:nvPr/>
        </p:nvSpPr>
        <p:spPr>
          <a:xfrm>
            <a:off x="7586051" y="2725513"/>
            <a:ext cx="103906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Interrupt Enable</a:t>
            </a:r>
            <a:endParaRPr lang="en-GB" sz="1000" dirty="0"/>
          </a:p>
        </p:txBody>
      </p:sp>
      <p:cxnSp>
        <p:nvCxnSpPr>
          <p:cNvPr id="188" name="Elbow Connector 187"/>
          <p:cNvCxnSpPr/>
          <p:nvPr/>
        </p:nvCxnSpPr>
        <p:spPr>
          <a:xfrm rot="5400000" flipH="1" flipV="1">
            <a:off x="7815773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/>
          <p:cNvCxnSpPr/>
          <p:nvPr/>
        </p:nvCxnSpPr>
        <p:spPr>
          <a:xfrm flipV="1">
            <a:off x="7812362" y="2067695"/>
            <a:ext cx="335129" cy="4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/>
          <p:cNvCxnSpPr/>
          <p:nvPr/>
        </p:nvCxnSpPr>
        <p:spPr>
          <a:xfrm flipV="1">
            <a:off x="8629361" y="2067695"/>
            <a:ext cx="335129" cy="440"/>
          </a:xfrm>
          <a:prstGeom prst="straightConnector1">
            <a:avLst/>
          </a:prstGeom>
          <a:ln>
            <a:solidFill>
              <a:srgbClr val="FF0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5580112" y="2427734"/>
            <a:ext cx="114005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/>
              <a:t>Counter Resets to Zero</a:t>
            </a:r>
            <a:endParaRPr lang="en-GB" sz="800" dirty="0"/>
          </a:p>
        </p:txBody>
      </p:sp>
      <p:sp>
        <p:nvSpPr>
          <p:cNvPr id="196" name="TextBox 195"/>
          <p:cNvSpPr txBox="1"/>
          <p:nvPr/>
        </p:nvSpPr>
        <p:spPr>
          <a:xfrm>
            <a:off x="6493006" y="1866900"/>
            <a:ext cx="569387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/>
              <a:t>Overflow</a:t>
            </a:r>
            <a:endParaRPr lang="en-GB" sz="800" dirty="0"/>
          </a:p>
        </p:txBody>
      </p:sp>
      <p:sp>
        <p:nvSpPr>
          <p:cNvPr id="198" name="TextBox 197"/>
          <p:cNvSpPr txBox="1"/>
          <p:nvPr/>
        </p:nvSpPr>
        <p:spPr>
          <a:xfrm>
            <a:off x="8594105" y="1760220"/>
            <a:ext cx="570990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b="1" dirty="0" smtClean="0">
                <a:solidFill>
                  <a:srgbClr val="FF0000"/>
                </a:solidFill>
              </a:rPr>
              <a:t>Interrupt</a:t>
            </a:r>
            <a:endParaRPr lang="en-GB" sz="800" b="1" dirty="0">
              <a:solidFill>
                <a:srgbClr val="FF0000"/>
              </a:solidFill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86" name="Flowchart: Delay 185"/>
          <p:cNvSpPr/>
          <p:nvPr/>
        </p:nvSpPr>
        <p:spPr>
          <a:xfrm>
            <a:off x="8136669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IE</a:t>
            </a:r>
            <a:endParaRPr lang="en-GB" sz="1000" dirty="0"/>
          </a:p>
        </p:txBody>
      </p:sp>
      <p:sp>
        <p:nvSpPr>
          <p:cNvPr id="117" name="TextBox 116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4244344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r>
              <a:rPr lang="en-GB" dirty="0"/>
              <a:t>Lab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Examine the sample code</a:t>
            </a:r>
          </a:p>
          <a:p>
            <a:r>
              <a:rPr lang="en-GB" dirty="0"/>
              <a:t>Review the results</a:t>
            </a:r>
          </a:p>
          <a:p>
            <a:endParaRPr lang="en-GB" dirty="0"/>
          </a:p>
          <a:p>
            <a:pPr lvl="1"/>
            <a:r>
              <a:rPr lang="en-GB" dirty="0"/>
              <a:t>Timer0 Overflow</a:t>
            </a:r>
          </a:p>
          <a:p>
            <a:pPr lvl="1"/>
            <a:r>
              <a:rPr lang="en-GB" dirty="0"/>
              <a:t>8 Bit timer</a:t>
            </a:r>
          </a:p>
          <a:p>
            <a:pPr lvl="1"/>
            <a:r>
              <a:rPr lang="en-GB" dirty="0"/>
              <a:t>16 Bit timer</a:t>
            </a:r>
          </a:p>
        </p:txBody>
      </p:sp>
    </p:spTree>
    <p:extLst>
      <p:ext uri="{BB962C8B-B14F-4D97-AF65-F5344CB8AC3E}">
        <p14:creationId xmlns:p14="http://schemas.microsoft.com/office/powerpoint/2010/main" val="22282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timer0:  16bit timer, 8bit timer and overflow 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 smtClean="0"/>
              <a:t>Using </a:t>
            </a:r>
            <a:r>
              <a:rPr lang="en-GB" sz="1100" b="1" dirty="0"/>
              <a:t>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07497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  <a:endParaRPr lang="en-GB" dirty="0" smtClean="0"/>
          </a:p>
          <a:p>
            <a:r>
              <a:rPr lang="en-GB" dirty="0" smtClean="0"/>
              <a:t>Part 9 - Timers and Timer Interrupts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880" y="397499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127004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629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14419</TotalTime>
  <Words>1104</Words>
  <Application>Microsoft Office PowerPoint</Application>
  <PresentationFormat>On-screen Show (16:9)</PresentationFormat>
  <Paragraphs>355</Paragraphs>
  <Slides>39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GCstudioThemeLight</vt:lpstr>
      <vt:lpstr>GCBASIC</vt:lpstr>
      <vt:lpstr>GCBASIC</vt:lpstr>
      <vt:lpstr>GCBASIC</vt:lpstr>
      <vt:lpstr>PIC16F175xx</vt:lpstr>
      <vt:lpstr>Videos...</vt:lpstr>
      <vt:lpstr>GCBASIC Compiler</vt:lpstr>
      <vt:lpstr>Prerequisites </vt:lpstr>
      <vt:lpstr>Hardware</vt:lpstr>
      <vt:lpstr>Digital input</vt:lpstr>
      <vt:lpstr>Timer Primer</vt:lpstr>
      <vt:lpstr>Timer Block Diagram </vt:lpstr>
      <vt:lpstr>Timer Overview</vt:lpstr>
      <vt:lpstr>Timer0 block diagram</vt:lpstr>
      <vt:lpstr>Timer0 block diagram</vt:lpstr>
      <vt:lpstr>Timer0 block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Evan R. Venn</cp:lastModifiedBy>
  <cp:revision>751</cp:revision>
  <dcterms:created xsi:type="dcterms:W3CDTF">2019-01-08T20:03:06Z</dcterms:created>
  <dcterms:modified xsi:type="dcterms:W3CDTF">2025-12-02T11:07:31Z</dcterms:modified>
</cp:coreProperties>
</file>