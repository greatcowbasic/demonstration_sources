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94" r:id="rId2"/>
    <p:sldId id="256" r:id="rId3"/>
    <p:sldId id="295" r:id="rId4"/>
    <p:sldId id="296" r:id="rId5"/>
    <p:sldId id="366" r:id="rId6"/>
    <p:sldId id="282" r:id="rId7"/>
    <p:sldId id="291" r:id="rId8"/>
    <p:sldId id="348" r:id="rId9"/>
    <p:sldId id="361" r:id="rId10"/>
    <p:sldId id="362" r:id="rId11"/>
    <p:sldId id="363" r:id="rId12"/>
    <p:sldId id="364" r:id="rId13"/>
    <p:sldId id="365" r:id="rId14"/>
    <p:sldId id="358" r:id="rId15"/>
    <p:sldId id="288" r:id="rId16"/>
    <p:sldId id="353" r:id="rId17"/>
    <p:sldId id="352" r:id="rId18"/>
  </p:sldIdLst>
  <p:sldSz cx="9144000" cy="5143500" type="screen16x9"/>
  <p:notesSz cx="6858000" cy="9144000"/>
  <p:defaultTextStyle>
    <a:defPPr>
      <a:defRPr lang="en-US"/>
    </a:defPPr>
    <a:lvl1pPr marL="0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4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>
      <p:cViewPr varScale="1">
        <p:scale>
          <a:sx n="146" d="100"/>
          <a:sy n="146" d="100"/>
        </p:scale>
        <p:origin x="-630" y="-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7" d="100"/>
          <a:sy n="97" d="100"/>
        </p:scale>
        <p:origin x="-3582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545A-AB39-44F0-B5A6-04A90C6C9399}" type="datetimeFigureOut">
              <a:rPr lang="en-GB" smtClean="0"/>
              <a:pPr/>
              <a:t>12/12/2025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31C5-F37A-4CF6-BFE3-A572240BD62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0428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00B3C-2E11-428B-8555-A77018253716}" type="datetimeFigureOut">
              <a:rPr lang="en-GB" smtClean="0"/>
              <a:pPr/>
              <a:t>12/12/2025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3471A-AA0F-4CD3-BA89-C1C7FB68C6D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186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3471A-AA0F-4CD3-BA89-C1C7FB68C6DB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6735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C757326-0232-4CDF-81FF-302CA676961B}"/>
              </a:ext>
            </a:extLst>
          </p:cNvPr>
          <p:cNvSpPr/>
          <p:nvPr/>
        </p:nvSpPr>
        <p:spPr>
          <a:xfrm>
            <a:off x="1" y="0"/>
            <a:ext cx="9143999" cy="5143500"/>
          </a:xfrm>
          <a:prstGeom prst="rect">
            <a:avLst/>
          </a:prstGeom>
          <a:solidFill>
            <a:srgbClr val="0A0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987E008-68E6-4A43-85BC-1A6ACDF91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1F8C892-C868-4DF6-91AB-B18CE632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4900613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44618" y="1406112"/>
            <a:ext cx="3342860" cy="1369936"/>
          </a:xfrm>
        </p:spPr>
        <p:txBody>
          <a:bodyPr anchor="b">
            <a:normAutofit/>
          </a:bodyPr>
          <a:lstStyle>
            <a:lvl1pPr algn="l">
              <a:defRPr sz="4100" b="0" cap="none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App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144617" y="2776047"/>
            <a:ext cx="334286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D547E580-E6D6-4D97-BB04-05795A83014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374553" y="158920"/>
            <a:ext cx="1677709" cy="323789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web page</a:t>
            </a:r>
          </a:p>
        </p:txBody>
      </p:sp>
    </p:spTree>
    <p:extLst>
      <p:ext uri="{BB962C8B-B14F-4D97-AF65-F5344CB8AC3E}">
        <p14:creationId xmlns:p14="http://schemas.microsoft.com/office/powerpoint/2010/main" val="365668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B5B8CA2-02D4-408C-B548-182D4F5F5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99060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86855"/>
            <a:ext cx="6447501" cy="274416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12/12/2025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92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2" y="-6350"/>
            <a:ext cx="9209330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803400"/>
            <a:ext cx="4124707" cy="1234727"/>
          </a:xfrm>
        </p:spPr>
        <p:txBody>
          <a:bodyPr anchor="b">
            <a:noAutofit/>
          </a:bodyPr>
          <a:lstStyle>
            <a:lvl1pPr algn="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5494" y="3038125"/>
            <a:ext cx="4124707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12/12/2025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49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493" y="1803400"/>
            <a:ext cx="6134709" cy="1234727"/>
          </a:xfrm>
        </p:spPr>
        <p:txBody>
          <a:bodyPr anchor="b">
            <a:noAutofit/>
          </a:bodyPr>
          <a:lstStyle>
            <a:lvl1pPr algn="ct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492" y="3038125"/>
            <a:ext cx="6134709" cy="822674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12/12/2025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77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12/12/2025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331EFED-43C1-4CBA-8BE3-308E3AA1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1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12/12/2025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034EA63-4BE3-4A73-A7E6-4A75BE4C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204DC1E6-B5F4-4160-90F3-351FB324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4639034" cy="990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12/12/2025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51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7897C67-3827-4595-8E3A-71E9F2EA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4624895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12/12/2025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8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12/12/2025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1825398-026A-4668-BB48-C16AD1C9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7CE2C968-D10A-4226-8FDC-CBC4C7ED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8897" y="495300"/>
            <a:ext cx="3385156" cy="40357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  <a:lvl2pPr marL="342797" indent="0">
              <a:buNone/>
              <a:defRPr sz="1100"/>
            </a:lvl2pPr>
            <a:lvl3pPr marL="685595" indent="0">
              <a:buNone/>
              <a:defRPr sz="900"/>
            </a:lvl3pPr>
            <a:lvl4pPr marL="1028392" indent="0">
              <a:buNone/>
              <a:defRPr sz="800"/>
            </a:lvl4pPr>
            <a:lvl5pPr marL="1371188" indent="0">
              <a:buNone/>
              <a:defRPr sz="800"/>
            </a:lvl5pPr>
            <a:lvl6pPr marL="1713986" indent="0">
              <a:buNone/>
              <a:defRPr sz="800"/>
            </a:lvl6pPr>
            <a:lvl7pPr marL="2056783" indent="0">
              <a:buNone/>
              <a:defRPr sz="800"/>
            </a:lvl7pPr>
            <a:lvl8pPr marL="2399580" indent="0">
              <a:buNone/>
              <a:defRPr sz="800"/>
            </a:lvl8pPr>
            <a:lvl9pPr marL="274237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12/12/2025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986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AB5D66D-00C1-40EA-BFC8-305566F1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706966"/>
            <a:ext cx="6447501" cy="2893484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12/12/2025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502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12/12/2025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D4D4CB4-D965-4BB6-B218-086244C13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25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12/12/2025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3B58C4E-0EF0-466C-9740-EC9F485C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87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12/12/2025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D0B9223-1250-44AA-A6C3-F2013B8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94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12/12/2025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D49E1C7C-7E53-49A2-B2C9-5230787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29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12/12/2025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3082AB0-2BB5-46FE-9A17-15E1ACC0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2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862E859-E5AF-4D76-9FC9-2355B24F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5402469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12/12/2025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670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91908D0E-7544-4687-965B-72EF64AA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934278"/>
            <a:ext cx="978557" cy="3461510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12/12/2025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68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3AACB-D821-4991-9D88-46EB8D29E619}" type="datetimeFigureOut">
              <a:rPr lang="en-GB" smtClean="0"/>
              <a:pPr/>
              <a:t>12/12/2025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4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Volt" TargetMode="External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Electrical_load" TargetMode="External"/><Relationship Id="rId4" Type="http://schemas.openxmlformats.org/officeDocument/2006/relationships/hyperlink" Target="https://en.wikipedia.org/wiki/Electric_current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abotronics.com/development-boards/xmega-xminilab.htm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4144617" y="2776047"/>
            <a:ext cx="3523727" cy="645300"/>
          </a:xfrm>
        </p:spPr>
        <p:txBody>
          <a:bodyPr>
            <a:normAutofit/>
          </a:bodyPr>
          <a:lstStyle/>
          <a:p>
            <a:r>
              <a:rPr lang="en-GB" dirty="0" smtClean="0"/>
              <a:t>PIC16F175xx</a:t>
            </a:r>
          </a:p>
          <a:p>
            <a:r>
              <a:rPr lang="en-GB" dirty="0" smtClean="0"/>
              <a:t>Part 14 </a:t>
            </a:r>
            <a:r>
              <a:rPr lang="en-GB" dirty="0" smtClean="0"/>
              <a:t>- PWM many </a:t>
            </a:r>
            <a:r>
              <a:rPr lang="en-GB" dirty="0" smtClean="0"/>
              <a:t>ways</a:t>
            </a:r>
            <a:endParaRPr lang="en-GB" sz="16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4043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3805512" y="293179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PIC16F175xx</a:t>
            </a:r>
          </a:p>
          <a:p>
            <a:r>
              <a:rPr lang="en-GB" dirty="0" smtClean="0"/>
              <a:t>Part 14 - </a:t>
            </a:r>
            <a:r>
              <a:rPr lang="en-GB" dirty="0" smtClean="0"/>
              <a:t>PWM </a:t>
            </a:r>
            <a:r>
              <a:rPr lang="en-GB" dirty="0" smtClean="0"/>
              <a:t>many ways</a:t>
            </a:r>
            <a:endParaRPr lang="en-GB" dirty="0"/>
          </a:p>
        </p:txBody>
      </p:sp>
      <p:pic>
        <p:nvPicPr>
          <p:cNvPr id="7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6864" y="3922804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VQFN / 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1760" y="4074815"/>
            <a:ext cx="1142256" cy="102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39552" y="2067694"/>
            <a:ext cx="736788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Like and subscribe</a:t>
            </a:r>
            <a:r>
              <a:rPr lang="en-US" sz="40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!</a:t>
            </a:r>
            <a:endParaRPr lang="en-US" sz="4000" b="1" dirty="0" smtClean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rgbClr val="FF0000"/>
              </a:solidFill>
            </a:endParaRP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113182" y="4384422"/>
            <a:ext cx="354882" cy="305233"/>
          </a:xfrm>
        </p:spPr>
        <p:txBody>
          <a:bodyPr/>
          <a:lstStyle/>
          <a:p>
            <a:fld id="{1E700B27-DE4C-4B9E-BB11-B9027034A00F}" type="datetimeFigureOut">
              <a:rPr lang="en-US" smtClean="0"/>
              <a:pPr/>
              <a:t>12/12/2025</a:t>
            </a:fld>
            <a:endParaRPr lang="en-US" dirty="0"/>
          </a:p>
        </p:txBody>
      </p:sp>
      <p:pic>
        <p:nvPicPr>
          <p:cNvPr id="9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6864" y="3922804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VQFN / 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1760" y="4074815"/>
            <a:ext cx="1142256" cy="102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3573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</a:t>
            </a:r>
            <a:r>
              <a:rPr lang="en-GB" sz="1100" dirty="0" smtClean="0"/>
              <a:t>timer0 </a:t>
            </a:r>
            <a:r>
              <a:rPr lang="en-GB" sz="1100" dirty="0"/>
              <a:t>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EEProm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smtClean="0"/>
              <a:t>I2C </a:t>
            </a:r>
            <a:r>
              <a:rPr lang="en-GB" sz="1100" dirty="0"/>
              <a:t>GCLD </a:t>
            </a:r>
            <a:r>
              <a:rPr lang="en-GB" sz="1100" dirty="0" smtClean="0"/>
              <a:t>display solutions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</a:t>
            </a:r>
            <a:r>
              <a:rPr lang="en-GB" sz="1100" dirty="0" smtClean="0"/>
              <a:t>SPI GLCD  display solutions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Using PWM, </a:t>
            </a:r>
            <a:r>
              <a:rPr lang="en-GB" sz="1100" b="1" dirty="0" smtClean="0"/>
              <a:t>many </a:t>
            </a:r>
            <a:r>
              <a:rPr lang="en-GB" sz="1100" b="1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err="1" smtClean="0"/>
              <a:t>millis</a:t>
            </a:r>
            <a:r>
              <a:rPr lang="en-GB" sz="1100" dirty="0" smtClean="0"/>
              <a:t>()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Progmem,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1947865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PIC16F175xx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smtClean="0"/>
              <a:t>PIC16175xx  </a:t>
            </a:r>
            <a:r>
              <a:rPr lang="en-GB" dirty="0" smtClean="0"/>
              <a:t>is a high performance PIC16</a:t>
            </a:r>
          </a:p>
          <a:p>
            <a:pPr lvl="1"/>
            <a:r>
              <a:rPr lang="en-GB" b="1" dirty="0"/>
              <a:t>Digital and </a:t>
            </a:r>
            <a:r>
              <a:rPr lang="en-GB" b="1" dirty="0" err="1"/>
              <a:t>analog</a:t>
            </a:r>
            <a:r>
              <a:rPr lang="en-GB" b="1" dirty="0"/>
              <a:t> peripherals</a:t>
            </a:r>
            <a:r>
              <a:rPr lang="en-GB" dirty="0"/>
              <a:t> for flexible embedded control</a:t>
            </a:r>
          </a:p>
          <a:p>
            <a:pPr lvl="1"/>
            <a:r>
              <a:rPr lang="en-GB" b="1" dirty="0"/>
              <a:t>10-bit ADC</a:t>
            </a:r>
            <a:r>
              <a:rPr lang="en-GB" dirty="0"/>
              <a:t> for accurate </a:t>
            </a:r>
            <a:r>
              <a:rPr lang="en-GB" dirty="0" err="1"/>
              <a:t>analog</a:t>
            </a:r>
            <a:r>
              <a:rPr lang="en-GB" dirty="0"/>
              <a:t> signal conversion</a:t>
            </a:r>
          </a:p>
          <a:p>
            <a:pPr lvl="1"/>
            <a:r>
              <a:rPr lang="en-GB" b="1" dirty="0"/>
              <a:t>Multiple communication interfaces</a:t>
            </a:r>
            <a:r>
              <a:rPr lang="en-GB" dirty="0"/>
              <a:t> including UART (serial), I²C, and SPI</a:t>
            </a:r>
          </a:p>
          <a:p>
            <a:pPr lvl="1"/>
            <a:r>
              <a:rPr lang="en-GB" b="1" dirty="0"/>
              <a:t>PWM modules</a:t>
            </a:r>
            <a:r>
              <a:rPr lang="en-GB" dirty="0"/>
              <a:t> with CCP and 16-bit resolution for precise timing and motor control</a:t>
            </a:r>
          </a:p>
          <a:p>
            <a:pPr lvl="1"/>
            <a:r>
              <a:rPr lang="en-GB" b="1" dirty="0"/>
              <a:t>Configurable Logic Cells (CLCs)</a:t>
            </a:r>
            <a:r>
              <a:rPr lang="en-GB" dirty="0"/>
              <a:t> for custom hardware-level logic without external components</a:t>
            </a:r>
          </a:p>
          <a:p>
            <a:pPr lvl="1"/>
            <a:r>
              <a:rPr lang="en-GB" b="1" dirty="0"/>
              <a:t>Integrated op amps</a:t>
            </a:r>
            <a:r>
              <a:rPr lang="en-GB" dirty="0"/>
              <a:t> for </a:t>
            </a:r>
            <a:r>
              <a:rPr lang="en-GB" dirty="0" err="1"/>
              <a:t>onboard</a:t>
            </a:r>
            <a:r>
              <a:rPr lang="en-GB" dirty="0"/>
              <a:t> </a:t>
            </a:r>
            <a:r>
              <a:rPr lang="en-GB" dirty="0" err="1"/>
              <a:t>analog</a:t>
            </a:r>
            <a:r>
              <a:rPr lang="en-GB" dirty="0"/>
              <a:t> signal conditioning and amplification</a:t>
            </a:r>
          </a:p>
          <a:p>
            <a:endParaRPr lang="en-GB" dirty="0" smtClean="0"/>
          </a:p>
          <a:p>
            <a:r>
              <a:rPr lang="en-GB" dirty="0" smtClean="0"/>
              <a:t>The PIC16175xx offers 14, 20, 28, 40 and 44-pin products in small footprint packages to support customers in a wide variety of applications.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10032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835697" y="1707656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 smtClean="0"/>
              <a:t>GCBASIC </a:t>
            </a:r>
            <a:r>
              <a:rPr lang="en-GB" sz="1500" dirty="0" smtClean="0"/>
              <a:t>Compiler</a:t>
            </a:r>
            <a:endParaRPr lang="en-GB" sz="11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3563888" y="2643758"/>
            <a:ext cx="3528392" cy="1655553"/>
          </a:xfrm>
          <a:prstGeom prst="rect">
            <a:avLst/>
          </a:prstGeom>
          <a:noFill/>
        </p:spPr>
        <p:txBody>
          <a:bodyPr wrap="square" lIns="85064" tIns="42531" rIns="85064" bIns="42531" rtlCol="0">
            <a:spAutoFit/>
          </a:bodyPr>
          <a:lstStyle/>
          <a:p>
            <a:r>
              <a:rPr lang="en-GB" dirty="0" smtClean="0"/>
              <a:t>GCBASIC is an Open Source compiler for </a:t>
            </a:r>
            <a:r>
              <a:rPr lang="en-GB" dirty="0" smtClean="0"/>
              <a:t>PIC, AVR and LGT microcontrollers</a:t>
            </a:r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GCBASIC now supports the 16F175xx chip family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Prerequisites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07654"/>
            <a:ext cx="6447501" cy="2744167"/>
          </a:xfrm>
        </p:spPr>
        <p:txBody>
          <a:bodyPr/>
          <a:lstStyle/>
          <a:p>
            <a:r>
              <a:rPr lang="en-GB" dirty="0" smtClean="0"/>
              <a:t>Assumes you have </a:t>
            </a:r>
          </a:p>
          <a:p>
            <a:pPr marL="778521" lvl="1" indent="-478483"/>
            <a:r>
              <a:rPr lang="en-GB" dirty="0" smtClean="0"/>
              <a:t>Installed the GCBASIC software</a:t>
            </a:r>
          </a:p>
          <a:p>
            <a:pPr marL="778521" lvl="1" indent="-478483"/>
            <a:r>
              <a:rPr lang="en-GB" dirty="0" smtClean="0"/>
              <a:t>Installed your programmer software</a:t>
            </a:r>
          </a:p>
          <a:p>
            <a:pPr marL="778521" lvl="1" indent="-478483"/>
            <a:r>
              <a:rPr lang="en-GB" dirty="0" smtClean="0"/>
              <a:t>Test that you have the 16F175xx attached</a:t>
            </a:r>
          </a:p>
          <a:p>
            <a:pPr marL="778521" lvl="1" indent="-478483"/>
            <a:r>
              <a:rPr lang="en-GB" dirty="0" smtClean="0"/>
              <a:t>You have the 4 LEDs operating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Hardware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Prototype Board</a:t>
            </a:r>
            <a:endParaRPr lang="en-GB" dirty="0"/>
          </a:p>
          <a:p>
            <a:r>
              <a:rPr lang="en-GB" dirty="0" smtClean="0"/>
              <a:t>Power 5v0</a:t>
            </a:r>
          </a:p>
          <a:p>
            <a:r>
              <a:rPr lang="en-GB" dirty="0" smtClean="0"/>
              <a:t>Programmer</a:t>
            </a:r>
          </a:p>
          <a:p>
            <a:r>
              <a:rPr lang="en-GB" dirty="0" smtClean="0"/>
              <a:t>LEDs &amp; resistors</a:t>
            </a:r>
          </a:p>
          <a:p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2483768" y="1275606"/>
            <a:ext cx="4320480" cy="37856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    Hardware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-------------------PORTA----------------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Bit#:  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IO:   </a:t>
            </a:r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------------------------------ADC-</a:t>
            </a:r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----------------------------------</a:t>
            </a:r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-------------------PORTB----------------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Bit#:  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IO:    ---------------------------------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---------------------------------</a:t>
            </a:r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PORTC-----------------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Bit#:  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IO:    </a:t>
            </a:r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----------------LED-LED-LED-LED--</a:t>
            </a:r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---------------------------------</a:t>
            </a:r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------------------PORTE-----------------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Bit#:  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IO:    ----------------MCLR-------------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SW-</a:t>
            </a:r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-------------</a:t>
            </a:r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3168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8" name="Picture 4" descr="0 LPC1768 PWM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483518"/>
            <a:ext cx="7829550" cy="45148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978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Pulse Width Modulation</a:t>
            </a:r>
            <a:endParaRPr lang="en-GB" dirty="0"/>
          </a:p>
        </p:txBody>
      </p:sp>
      <p:grpSp>
        <p:nvGrpSpPr>
          <p:cNvPr id="3" name="Group 5"/>
          <p:cNvGrpSpPr/>
          <p:nvPr/>
        </p:nvGrpSpPr>
        <p:grpSpPr>
          <a:xfrm>
            <a:off x="3923928" y="3291830"/>
            <a:ext cx="5343525" cy="2000251"/>
            <a:chOff x="2123728" y="1779662"/>
            <a:chExt cx="5343525" cy="2000251"/>
          </a:xfrm>
        </p:grpSpPr>
        <p:pic>
          <p:nvPicPr>
            <p:cNvPr id="53250" name="Picture 2" descr="http://www.thebox.myzen.co.uk/Tutorial/Media/PWMan.gif"/>
            <p:cNvPicPr>
              <a:picLocks noChangeAspect="1" noChangeArrowheads="1" noCrop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123728" y="1779662"/>
              <a:ext cx="5343525" cy="2000251"/>
            </a:xfrm>
            <a:prstGeom prst="rect">
              <a:avLst/>
            </a:prstGeom>
            <a:noFill/>
          </p:spPr>
        </p:pic>
        <p:sp>
          <p:nvSpPr>
            <p:cNvPr id="5" name="Rectangle 4"/>
            <p:cNvSpPr/>
            <p:nvPr/>
          </p:nvSpPr>
          <p:spPr>
            <a:xfrm>
              <a:off x="3153544" y="2305049"/>
              <a:ext cx="713606" cy="2487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683568" y="1563638"/>
            <a:ext cx="6912768" cy="192360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dirty="0" smtClean="0"/>
              <a:t>Pulse Width Modulation ( PWM ) is simply a succession of pulses –  is a method of reducing the average power delivered by an electrical signal, by effectively chopping it up into discrete parts.</a:t>
            </a:r>
          </a:p>
          <a:p>
            <a:endParaRPr lang="en-GB" dirty="0" smtClean="0"/>
          </a:p>
          <a:p>
            <a:r>
              <a:rPr lang="en-GB" dirty="0" smtClean="0"/>
              <a:t>The average value of </a:t>
            </a:r>
            <a:r>
              <a:rPr lang="en-GB" dirty="0" smtClean="0">
                <a:hlinkClick r:id="rId3" tooltip="Volt"/>
              </a:rPr>
              <a:t>voltage</a:t>
            </a:r>
            <a:r>
              <a:rPr lang="en-GB" dirty="0" smtClean="0"/>
              <a:t> (and </a:t>
            </a:r>
            <a:r>
              <a:rPr lang="en-GB" dirty="0" smtClean="0">
                <a:hlinkClick r:id="rId4" tooltip="Electric current"/>
              </a:rPr>
              <a:t>current</a:t>
            </a:r>
            <a:r>
              <a:rPr lang="en-GB" dirty="0" smtClean="0"/>
              <a:t>) fed to the </a:t>
            </a:r>
            <a:r>
              <a:rPr lang="en-GB" dirty="0" smtClean="0">
                <a:hlinkClick r:id="rId5" tooltip="Electrical load"/>
              </a:rPr>
              <a:t>load</a:t>
            </a:r>
            <a:r>
              <a:rPr lang="en-GB" dirty="0" smtClean="0"/>
              <a:t> is controlled by turning on and off at a fast rate.   The longer the signal is  on compared to the off periods, the higher the total power supplied to the load.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2046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ctr">
            <a:normAutofit/>
          </a:bodyPr>
          <a:lstStyle/>
          <a:p>
            <a:pPr algn="l"/>
            <a:r>
              <a:rPr lang="en-GB" dirty="0" smtClean="0"/>
              <a:t>PWM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2715766"/>
            <a:ext cx="3919802" cy="93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20072" y="987574"/>
            <a:ext cx="3430192" cy="1443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9700" y="1498496"/>
            <a:ext cx="3042495" cy="10405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004048" y="2817642"/>
            <a:ext cx="2915107" cy="2002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236296" y="3507854"/>
            <a:ext cx="1547664" cy="909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313085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Setup</a:t>
            </a:r>
            <a:endParaRPr lang="en-GB" dirty="0"/>
          </a:p>
        </p:txBody>
      </p:sp>
      <p:pic>
        <p:nvPicPr>
          <p:cNvPr id="542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4084031" y="1998941"/>
            <a:ext cx="2740119" cy="175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Straight Connector 7"/>
          <p:cNvCxnSpPr/>
          <p:nvPr/>
        </p:nvCxnSpPr>
        <p:spPr>
          <a:xfrm>
            <a:off x="5549428" y="3778948"/>
            <a:ext cx="0" cy="9361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433663" y="3745437"/>
            <a:ext cx="4564" cy="51224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6324177" y="4243391"/>
            <a:ext cx="9327" cy="89210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4433663" y="4248154"/>
            <a:ext cx="1900039" cy="133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4957340" y="3785819"/>
            <a:ext cx="1166" cy="26231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5976515" y="4033841"/>
            <a:ext cx="4987" cy="108545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4945955" y="4045079"/>
            <a:ext cx="1016272" cy="781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249472" y="1635646"/>
            <a:ext cx="6482768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1600" dirty="0" smtClean="0">
                <a:hlinkClick r:id="rId3"/>
              </a:rPr>
              <a:t>http://www.gabotronics.com/development-boards/xmega-xminilab.htm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616193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ctr">
            <a:normAutofit/>
          </a:bodyPr>
          <a:lstStyle/>
          <a:p>
            <a:pPr algn="l"/>
            <a:r>
              <a:rPr lang="en-GB" dirty="0" smtClean="0"/>
              <a:t>PWM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2396064"/>
              </p:ext>
            </p:extLst>
          </p:nvPr>
        </p:nvGraphicFramePr>
        <p:xfrm>
          <a:off x="179512" y="1434336"/>
          <a:ext cx="8820470" cy="3211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191"/>
                <a:gridCol w="2053041"/>
                <a:gridCol w="2679334"/>
                <a:gridCol w="1943810"/>
                <a:gridCol w="1764094"/>
              </a:tblGrid>
              <a:tr h="442848"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PWM</a:t>
                      </a:r>
                      <a:r>
                        <a:rPr lang="en-GB" sz="1200" baseline="0" dirty="0" smtClean="0"/>
                        <a:t> type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Characteristics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PPS required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Comment</a:t>
                      </a:r>
                      <a:endParaRPr lang="en-GB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n-GB" sz="1200" dirty="0" smtClean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1200" dirty="0" smtClean="0"/>
                        <a:t>The simplest</a:t>
                      </a:r>
                      <a:r>
                        <a:rPr lang="en-GB" sz="1200" baseline="0" dirty="0" smtClean="0"/>
                        <a:t> way</a:t>
                      </a:r>
                      <a:endParaRPr lang="en-GB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50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 smtClean="0"/>
                        <a:t>Port</a:t>
                      </a:r>
                      <a:r>
                        <a:rPr lang="en-GB" sz="1200" baseline="0" dirty="0" smtClean="0"/>
                        <a:t> on and off</a:t>
                      </a:r>
                      <a:endParaRPr lang="en-GB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No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Any</a:t>
                      </a:r>
                      <a:r>
                        <a:rPr lang="en-GB" sz="1200" baseline="0" dirty="0" smtClean="0"/>
                        <a:t> port**</a:t>
                      </a:r>
                      <a:endParaRPr lang="en-GB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2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1200" dirty="0" smtClean="0"/>
                        <a:t>The </a:t>
                      </a:r>
                      <a:r>
                        <a:rPr lang="en-GB" sz="1200" dirty="0" err="1" smtClean="0"/>
                        <a:t>pulseout</a:t>
                      </a:r>
                      <a:r>
                        <a:rPr lang="en-GB" sz="1200" dirty="0" smtClean="0"/>
                        <a:t>() 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50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 err="1" smtClean="0"/>
                        <a:t>PulseOut</a:t>
                      </a:r>
                      <a:r>
                        <a:rPr lang="en-GB" sz="1200" dirty="0" smtClean="0"/>
                        <a:t>() </a:t>
                      </a:r>
                      <a:r>
                        <a:rPr lang="en-GB" sz="1200" baseline="0" dirty="0" smtClean="0"/>
                        <a:t> a port for a period</a:t>
                      </a:r>
                      <a:endParaRPr lang="en-GB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No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Any</a:t>
                      </a:r>
                      <a:r>
                        <a:rPr lang="en-GB" sz="1200" baseline="0" dirty="0" smtClean="0"/>
                        <a:t> port**</a:t>
                      </a:r>
                      <a:endParaRPr lang="en-GB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3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1200" dirty="0" smtClean="0"/>
                        <a:t>The </a:t>
                      </a:r>
                      <a:r>
                        <a:rPr lang="en-GB" sz="1200" dirty="0" err="1" smtClean="0"/>
                        <a:t>PWMOut</a:t>
                      </a:r>
                      <a:r>
                        <a:rPr lang="en-GB" sz="1200" dirty="0" smtClean="0"/>
                        <a:t>()</a:t>
                      </a:r>
                      <a:r>
                        <a:rPr lang="en-GB" sz="1200" baseline="0" dirty="0" smtClean="0"/>
                        <a:t> way</a:t>
                      </a:r>
                      <a:endParaRPr lang="en-GB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50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 smtClean="0"/>
                        <a:t>PWMOUT() </a:t>
                      </a:r>
                      <a:r>
                        <a:rPr lang="en-GB" sz="1200" baseline="0" dirty="0" smtClean="0"/>
                        <a:t> a</a:t>
                      </a:r>
                      <a:r>
                        <a:rPr lang="en-GB" sz="1200" dirty="0" smtClean="0"/>
                        <a:t> number of pulses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No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Any</a:t>
                      </a:r>
                      <a:r>
                        <a:rPr lang="en-GB" sz="1200" baseline="0" dirty="0" smtClean="0"/>
                        <a:t> port**</a:t>
                      </a:r>
                      <a:endParaRPr lang="en-GB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4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CCP/PWM way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Fixed frequency, fixed duty using timer2*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Yes</a:t>
                      </a:r>
                      <a:r>
                        <a:rPr lang="en-GB" sz="1200" baseline="0" dirty="0" smtClean="0"/>
                        <a:t> – CCP/</a:t>
                      </a:r>
                      <a:r>
                        <a:rPr lang="en-GB" sz="1200" baseline="0" dirty="0" err="1" smtClean="0"/>
                        <a:t>PWMx</a:t>
                      </a:r>
                      <a:r>
                        <a:rPr lang="en-GB" sz="1200" baseline="0" dirty="0" smtClean="0"/>
                        <a:t> module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Low</a:t>
                      </a:r>
                      <a:r>
                        <a:rPr lang="en-GB" sz="1200" baseline="0" dirty="0" smtClean="0"/>
                        <a:t> code impact, two constants</a:t>
                      </a:r>
                      <a:endParaRPr lang="en-GB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5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CCP/PWM way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Variable frequency, variable duty using timer2*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Yes</a:t>
                      </a:r>
                      <a:r>
                        <a:rPr lang="en-GB" sz="1200" baseline="0" dirty="0" smtClean="0"/>
                        <a:t> – CCP/</a:t>
                      </a:r>
                      <a:r>
                        <a:rPr lang="en-GB" sz="1200" baseline="0" dirty="0" err="1" smtClean="0"/>
                        <a:t>PWMx</a:t>
                      </a:r>
                      <a:r>
                        <a:rPr lang="en-GB" sz="1200" baseline="0" dirty="0" smtClean="0"/>
                        <a:t> module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dirty="0" smtClean="0"/>
                        <a:t>ASM</a:t>
                      </a:r>
                      <a:r>
                        <a:rPr lang="en-GB" sz="1200" b="0" baseline="0" dirty="0" smtClean="0"/>
                        <a:t> does the heavy lifting</a:t>
                      </a:r>
                      <a:endParaRPr lang="en-GB" sz="1200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6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PWM</a:t>
                      </a:r>
                      <a:r>
                        <a:rPr lang="en-GB" sz="1200" baseline="0" dirty="0" smtClean="0"/>
                        <a:t> 16 bit way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Wide</a:t>
                      </a:r>
                      <a:r>
                        <a:rPr lang="en-GB" sz="1200" baseline="0" dirty="0" smtClean="0"/>
                        <a:t> range of capabilities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Yes</a:t>
                      </a:r>
                      <a:r>
                        <a:rPr lang="en-GB" sz="1200" baseline="0" dirty="0" smtClean="0"/>
                        <a:t> - </a:t>
                      </a:r>
                      <a:r>
                        <a:rPr lang="en-GB" sz="1200" baseline="0" dirty="0" err="1" smtClean="0"/>
                        <a:t>PWMxx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Lots of</a:t>
                      </a:r>
                      <a:r>
                        <a:rPr lang="en-GB" sz="1200" baseline="0" dirty="0" smtClean="0"/>
                        <a:t> parameters</a:t>
                      </a:r>
                      <a:endParaRPr lang="en-GB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7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Timer interrupt way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Use</a:t>
                      </a:r>
                      <a:r>
                        <a:rPr lang="en-GB" sz="1200" baseline="0" dirty="0" smtClean="0"/>
                        <a:t> a timer1*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No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Any</a:t>
                      </a:r>
                      <a:r>
                        <a:rPr lang="en-GB" sz="1200" baseline="0" dirty="0" smtClean="0"/>
                        <a:t> port**</a:t>
                      </a:r>
                      <a:endParaRPr lang="en-GB" sz="1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7584" y="4659982"/>
            <a:ext cx="7344816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400" dirty="0" smtClean="0"/>
              <a:t>*   could use other timers</a:t>
            </a:r>
          </a:p>
          <a:p>
            <a:r>
              <a:rPr lang="en-GB" sz="1400" dirty="0" smtClean="0"/>
              <a:t>** any </a:t>
            </a:r>
            <a:r>
              <a:rPr lang="en-GB" sz="1400" b="1" dirty="0" smtClean="0"/>
              <a:t>valid</a:t>
            </a:r>
            <a:r>
              <a:rPr lang="en-GB" sz="1400" dirty="0" smtClean="0"/>
              <a:t> output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162361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Lab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Walk the examples </a:t>
            </a:r>
          </a:p>
          <a:p>
            <a:r>
              <a:rPr lang="en-GB" dirty="0" smtClean="0"/>
              <a:t>And, view the </a:t>
            </a:r>
            <a:r>
              <a:rPr lang="en-GB" b="1" dirty="0" err="1" smtClean="0"/>
              <a:t>Xminilab</a:t>
            </a:r>
            <a:r>
              <a:rPr lang="en-GB" dirty="0" smtClean="0"/>
              <a:t> </a:t>
            </a:r>
            <a:r>
              <a:rPr lang="en-GB" dirty="0"/>
              <a:t>scope</a:t>
            </a:r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9580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</a:t>
            </a:r>
            <a:r>
              <a:rPr lang="en-GB" sz="1100" dirty="0" smtClean="0"/>
              <a:t>timer0 </a:t>
            </a:r>
            <a:r>
              <a:rPr lang="en-GB" sz="1100" dirty="0"/>
              <a:t>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EEProm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smtClean="0"/>
              <a:t>I2C </a:t>
            </a:r>
            <a:r>
              <a:rPr lang="en-GB" sz="1100" dirty="0"/>
              <a:t>GCLD </a:t>
            </a:r>
            <a:r>
              <a:rPr lang="en-GB" sz="1100" dirty="0" smtClean="0"/>
              <a:t>display solutions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</a:t>
            </a:r>
            <a:r>
              <a:rPr lang="en-GB" sz="1100" dirty="0" smtClean="0"/>
              <a:t>SPI GLCD  display solutions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6 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Using </a:t>
            </a:r>
            <a:r>
              <a:rPr lang="en-GB" sz="1100" b="1" dirty="0" err="1" smtClean="0"/>
              <a:t>millis</a:t>
            </a:r>
            <a:r>
              <a:rPr lang="en-GB" sz="1100" b="1" dirty="0" smtClean="0"/>
              <a:t>()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Using storage within the chip – </a:t>
            </a:r>
            <a:r>
              <a:rPr lang="en-GB" sz="1100" dirty="0" err="1" smtClean="0"/>
              <a:t>Progmem</a:t>
            </a:r>
            <a:r>
              <a:rPr lang="en-GB" sz="1100" dirty="0" smtClean="0"/>
              <a:t>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Using </a:t>
            </a:r>
            <a:r>
              <a:rPr lang="en-GB" sz="1100" dirty="0"/>
              <a:t>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2157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3805512" y="293179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PIC16F175xx</a:t>
            </a:r>
          </a:p>
          <a:p>
            <a:r>
              <a:rPr lang="en-GB" dirty="0" smtClean="0"/>
              <a:t>Part 14 - </a:t>
            </a:r>
            <a:r>
              <a:rPr lang="en-GB" dirty="0" smtClean="0"/>
              <a:t>PWM </a:t>
            </a:r>
            <a:r>
              <a:rPr lang="en-GB" dirty="0" smtClean="0"/>
              <a:t>many ways</a:t>
            </a:r>
            <a:endParaRPr lang="en-GB" dirty="0"/>
          </a:p>
        </p:txBody>
      </p:sp>
      <p:pic>
        <p:nvPicPr>
          <p:cNvPr id="7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6864" y="3922804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VQFN / 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1760" y="4074815"/>
            <a:ext cx="1142256" cy="102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5653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CstudioThemeLigh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C Basic Fonts">
      <a:majorFont>
        <a:latin typeface="Microsoft YaHei"/>
        <a:ea typeface=""/>
        <a:cs typeface=""/>
      </a:majorFont>
      <a:minorFont>
        <a:latin typeface="Corbel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GCstudioThemeLight" id="{4C740F94-33C0-4EEC-9234-F56C348A0987}" vid="{A43F8B96-90D8-489D-B80F-92F9D6F351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15076</TotalTime>
  <Words>672</Words>
  <Application>Microsoft Office PowerPoint</Application>
  <PresentationFormat>On-screen Show (16:9)</PresentationFormat>
  <Paragraphs>162</Paragraphs>
  <Slides>17</Slides>
  <Notes>1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GCstudioThemeLight</vt:lpstr>
      <vt:lpstr>GCBASIC</vt:lpstr>
      <vt:lpstr>GCBASIC</vt:lpstr>
      <vt:lpstr>GCBASIC</vt:lpstr>
      <vt:lpstr>Videos...</vt:lpstr>
      <vt:lpstr>PIC16F175xx</vt:lpstr>
      <vt:lpstr>GCBASIC Compiler</vt:lpstr>
      <vt:lpstr>Prerequisites </vt:lpstr>
      <vt:lpstr>Hardware</vt:lpstr>
      <vt:lpstr>PowerPoint Presentation</vt:lpstr>
      <vt:lpstr>Pulse Width Modulation</vt:lpstr>
      <vt:lpstr>PWM</vt:lpstr>
      <vt:lpstr>Setup</vt:lpstr>
      <vt:lpstr>PWM</vt:lpstr>
      <vt:lpstr>Lab</vt:lpstr>
      <vt:lpstr>PowerPoint Presentation</vt:lpstr>
      <vt:lpstr>Videos...</vt:lpstr>
      <vt:lpstr>GCBASIC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Cow BASIC</dc:title>
  <dc:creator>admin</dc:creator>
  <cp:lastModifiedBy>Evan R. Venn</cp:lastModifiedBy>
  <cp:revision>776</cp:revision>
  <dcterms:created xsi:type="dcterms:W3CDTF">2019-01-08T20:03:06Z</dcterms:created>
  <dcterms:modified xsi:type="dcterms:W3CDTF">2025-12-12T11:53:34Z</dcterms:modified>
</cp:coreProperties>
</file>