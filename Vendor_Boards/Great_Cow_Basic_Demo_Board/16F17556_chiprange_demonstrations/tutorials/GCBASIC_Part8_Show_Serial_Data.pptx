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94" r:id="rId2"/>
    <p:sldId id="256" r:id="rId3"/>
    <p:sldId id="295" r:id="rId4"/>
    <p:sldId id="337" r:id="rId5"/>
    <p:sldId id="296" r:id="rId6"/>
    <p:sldId id="282" r:id="rId7"/>
    <p:sldId id="291" r:id="rId8"/>
    <p:sldId id="285" r:id="rId9"/>
    <p:sldId id="338" r:id="rId10"/>
    <p:sldId id="331" r:id="rId11"/>
    <p:sldId id="332" r:id="rId12"/>
    <p:sldId id="333" r:id="rId13"/>
    <p:sldId id="334" r:id="rId14"/>
    <p:sldId id="335" r:id="rId15"/>
    <p:sldId id="288" r:id="rId16"/>
    <p:sldId id="330" r:id="rId17"/>
    <p:sldId id="327" r:id="rId18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>
        <p:scale>
          <a:sx n="156" d="100"/>
          <a:sy n="156" d="100"/>
        </p:scale>
        <p:origin x="-330" y="-7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="" xmlns:a16="http://schemas.microsoft.com/office/drawing/2014/main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25/11/2025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4144617" y="2776047"/>
            <a:ext cx="3523727" cy="645300"/>
          </a:xfrm>
        </p:spPr>
        <p:txBody>
          <a:bodyPr>
            <a:normAutofit/>
          </a:bodyPr>
          <a:lstStyle/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8 - Show Serial Data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8 - Show Serial Data</a:t>
            </a:r>
            <a:endParaRPr lang="en-GB" dirty="0"/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VQFN / 2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4127004"/>
            <a:ext cx="1142256" cy="1026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</a:t>
            </a:r>
            <a:r>
              <a:rPr lang="en-US" sz="4000" b="1" dirty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!</a:t>
            </a:r>
            <a:endParaRPr lang="en-US" sz="4000" b="1" dirty="0" smtClean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solidFill>
                <a:srgbClr val="FF0000"/>
              </a:solidFill>
            </a:endParaRP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6113182" y="4384422"/>
            <a:ext cx="354882" cy="305233"/>
          </a:xfrm>
        </p:spPr>
        <p:txBody>
          <a:bodyPr/>
          <a:lstStyle/>
          <a:p>
            <a:fld id="{1E700B27-DE4C-4B9E-BB11-B9027034A00F}" type="datetimeFigureOut">
              <a:rPr lang="en-US" smtClean="0"/>
              <a:pPr/>
              <a:t>11/25/2025</a:t>
            </a:fld>
            <a:endParaRPr lang="en-US" dirty="0"/>
          </a:p>
        </p:txBody>
      </p:sp>
      <p:pic>
        <p:nvPicPr>
          <p:cNvPr id="9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VQFN / 2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4127004"/>
            <a:ext cx="1142256" cy="1026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PIC16F175xx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PIC16165xx  is a high performance PIC16</a:t>
            </a:r>
          </a:p>
          <a:p>
            <a:pPr lvl="1"/>
            <a:r>
              <a:rPr lang="en-GB" b="1" dirty="0"/>
              <a:t>Digital and </a:t>
            </a:r>
            <a:r>
              <a:rPr lang="en-GB" b="1" dirty="0" err="1"/>
              <a:t>analog</a:t>
            </a:r>
            <a:r>
              <a:rPr lang="en-GB" b="1" dirty="0"/>
              <a:t> peripherals</a:t>
            </a:r>
            <a:r>
              <a:rPr lang="en-GB" dirty="0"/>
              <a:t> for flexible embedded control</a:t>
            </a:r>
          </a:p>
          <a:p>
            <a:pPr lvl="1"/>
            <a:r>
              <a:rPr lang="en-GB" b="1" dirty="0"/>
              <a:t>10-bit ADC</a:t>
            </a:r>
            <a:r>
              <a:rPr lang="en-GB" dirty="0"/>
              <a:t> for accurate </a:t>
            </a:r>
            <a:r>
              <a:rPr lang="en-GB" dirty="0" err="1"/>
              <a:t>analog</a:t>
            </a:r>
            <a:r>
              <a:rPr lang="en-GB" dirty="0"/>
              <a:t> signal conversion</a:t>
            </a:r>
          </a:p>
          <a:p>
            <a:pPr lvl="1"/>
            <a:r>
              <a:rPr lang="en-GB" b="1" dirty="0"/>
              <a:t>Multiple communication interfaces</a:t>
            </a:r>
            <a:r>
              <a:rPr lang="en-GB" dirty="0"/>
              <a:t> including UART (serial), I²C, and SPI</a:t>
            </a:r>
          </a:p>
          <a:p>
            <a:pPr lvl="1"/>
            <a:r>
              <a:rPr lang="en-GB" b="1" dirty="0"/>
              <a:t>PWM modules</a:t>
            </a:r>
            <a:r>
              <a:rPr lang="en-GB" dirty="0"/>
              <a:t> with CCP and 16-bit resolution for precise timing and motor control</a:t>
            </a:r>
          </a:p>
          <a:p>
            <a:pPr lvl="1"/>
            <a:r>
              <a:rPr lang="en-GB" b="1" dirty="0"/>
              <a:t>Configurable Logic Cells (CLCs)</a:t>
            </a:r>
            <a:r>
              <a:rPr lang="en-GB" dirty="0"/>
              <a:t> for custom hardware-level logic without external components</a:t>
            </a:r>
          </a:p>
          <a:p>
            <a:pPr lvl="1"/>
            <a:r>
              <a:rPr lang="en-GB" b="1" dirty="0"/>
              <a:t>Integrated op amps</a:t>
            </a:r>
            <a:r>
              <a:rPr lang="en-GB" dirty="0"/>
              <a:t> for </a:t>
            </a:r>
            <a:r>
              <a:rPr lang="en-GB" dirty="0" err="1"/>
              <a:t>onboard</a:t>
            </a:r>
            <a:r>
              <a:rPr lang="en-GB" dirty="0"/>
              <a:t> </a:t>
            </a:r>
            <a:r>
              <a:rPr lang="en-GB" dirty="0" err="1"/>
              <a:t>analog</a:t>
            </a:r>
            <a:r>
              <a:rPr lang="en-GB" dirty="0"/>
              <a:t> signal conditioning and amplification</a:t>
            </a:r>
          </a:p>
          <a:p>
            <a:endParaRPr lang="en-GB" dirty="0" smtClean="0"/>
          </a:p>
          <a:p>
            <a:r>
              <a:rPr lang="en-GB" dirty="0" smtClean="0"/>
              <a:t>The PIC16175xx offers 14, 20, 28, 40 and 44-pin products in small footprint packages to support customers in a wide variety of applications.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143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</a:t>
            </a:r>
            <a:r>
              <a:rPr lang="en-GB" sz="1100" dirty="0" smtClean="0"/>
              <a:t>timer0 </a:t>
            </a:r>
            <a:r>
              <a:rPr lang="en-GB" sz="1100" dirty="0"/>
              <a:t>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EEProm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</a:t>
            </a:r>
            <a:r>
              <a:rPr lang="en-GB" sz="1100" dirty="0" smtClean="0"/>
              <a:t>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Progmem,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3528392" cy="165555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</a:t>
            </a:r>
            <a:r>
              <a:rPr lang="en-GB" dirty="0" smtClean="0"/>
              <a:t>PIC, AVR and LGT microcontrollers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GCBASIC now supports the </a:t>
            </a:r>
            <a:r>
              <a:rPr lang="en-GB" dirty="0" smtClean="0"/>
              <a:t>16F175xx </a:t>
            </a:r>
            <a:r>
              <a:rPr lang="en-GB" dirty="0" smtClean="0"/>
              <a:t>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Prerequisites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Assumes you have </a:t>
            </a:r>
          </a:p>
          <a:p>
            <a:pPr marL="778521" lvl="1" indent="-478483"/>
            <a:r>
              <a:rPr lang="en-GB" dirty="0" smtClean="0"/>
              <a:t>Installed the GCBASIC software</a:t>
            </a:r>
          </a:p>
          <a:p>
            <a:pPr marL="778521" lvl="1" indent="-478483"/>
            <a:r>
              <a:rPr lang="en-GB" dirty="0" smtClean="0"/>
              <a:t>Installed your programmer software</a:t>
            </a:r>
          </a:p>
          <a:p>
            <a:pPr marL="778521" lvl="1" indent="-478483"/>
            <a:r>
              <a:rPr lang="en-GB" dirty="0" smtClean="0"/>
              <a:t>Test that you have the </a:t>
            </a:r>
            <a:r>
              <a:rPr lang="en-GB" dirty="0" smtClean="0"/>
              <a:t>16F175xx </a:t>
            </a:r>
            <a:r>
              <a:rPr lang="en-GB" dirty="0" smtClean="0"/>
              <a:t>attached</a:t>
            </a:r>
          </a:p>
          <a:p>
            <a:pPr marL="778521" lvl="1" indent="-478483"/>
            <a:r>
              <a:rPr lang="en-GB" dirty="0" smtClean="0"/>
              <a:t>You have the 4 LEDs operating</a:t>
            </a:r>
          </a:p>
          <a:p>
            <a:pPr marL="778521" lvl="1" indent="-478483"/>
            <a:r>
              <a:rPr lang="en-GB" dirty="0" smtClean="0"/>
              <a:t>You have a POT connected</a:t>
            </a:r>
          </a:p>
          <a:p>
            <a:pPr marL="778521" lvl="1" indent="-478483"/>
            <a:r>
              <a:rPr lang="en-GB" dirty="0" smtClean="0"/>
              <a:t>You have </a:t>
            </a:r>
            <a:r>
              <a:rPr lang="en-GB" dirty="0" err="1" smtClean="0"/>
              <a:t>SWITCHes</a:t>
            </a:r>
            <a:r>
              <a:rPr lang="en-GB" dirty="0" smtClean="0"/>
              <a:t> connected</a:t>
            </a:r>
          </a:p>
          <a:p>
            <a:pPr marL="778521" lvl="1" indent="-478483"/>
            <a:r>
              <a:rPr lang="en-GB" dirty="0" smtClean="0"/>
              <a:t>You have a USB/TTL converter</a:t>
            </a:r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Prototype Board</a:t>
            </a:r>
            <a:endParaRPr lang="en-GB" dirty="0"/>
          </a:p>
          <a:p>
            <a:r>
              <a:rPr lang="en-GB" dirty="0" smtClean="0"/>
              <a:t>Power 5v0</a:t>
            </a:r>
          </a:p>
          <a:p>
            <a:r>
              <a:rPr lang="en-GB" dirty="0" smtClean="0"/>
              <a:t>Programmer</a:t>
            </a:r>
          </a:p>
          <a:p>
            <a:r>
              <a:rPr lang="en-GB" dirty="0" smtClean="0"/>
              <a:t>LEDs &amp; resistors</a:t>
            </a:r>
          </a:p>
          <a:p>
            <a:r>
              <a:rPr lang="en-GB" dirty="0" smtClean="0"/>
              <a:t>Switches &amp; resistors</a:t>
            </a:r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483768" y="1275606"/>
            <a:ext cx="4320480" cy="37856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    Hardware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-------------------PORTA----------------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IO:   -----------------SW----------ADC--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----------------------------------------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-------------------PORTB----------------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IO:    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----------------------------------------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PORTC-----------------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IO:    ----TX1-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-------LED-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-LED-LED LED--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------------------PORTE-----------------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IO:    ----------------MCLR-------------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------------------------SW-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501030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Digital input</a:t>
            </a:r>
          </a:p>
        </p:txBody>
      </p: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25" name="Group 24"/>
          <p:cNvGrpSpPr/>
          <p:nvPr/>
        </p:nvGrpSpPr>
        <p:grpSpPr>
          <a:xfrm>
            <a:off x="547911" y="1563638"/>
            <a:ext cx="4384129" cy="2952328"/>
            <a:chOff x="1043608" y="1563638"/>
            <a:chExt cx="4384129" cy="2952328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608" y="1563638"/>
              <a:ext cx="1476375" cy="292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7" name="Picture 1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1565118"/>
              <a:ext cx="1647825" cy="29508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Rectangle 23"/>
            <p:cNvSpPr/>
            <p:nvPr/>
          </p:nvSpPr>
          <p:spPr>
            <a:xfrm>
              <a:off x="2555776" y="1563638"/>
              <a:ext cx="1152128" cy="289406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515615" y="1804416"/>
            <a:ext cx="2120528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ADC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0375" y="3435846"/>
            <a:ext cx="2120528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LED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9448" y="2355726"/>
            <a:ext cx="2120528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SW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32240" y="3651870"/>
            <a:ext cx="432048" cy="318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660232" y="3867894"/>
            <a:ext cx="6480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9448" y="1566672"/>
            <a:ext cx="2120528" cy="2004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SW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305320" y="3757806"/>
            <a:ext cx="2202784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TX1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16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Serial output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Output</a:t>
            </a:r>
          </a:p>
          <a:p>
            <a:pPr lvl="1"/>
            <a:r>
              <a:rPr lang="en-GB" dirty="0" smtClean="0"/>
              <a:t>Using the built-in Universal Synchronous/Asynchronous Receiver Transmitter (USART) on the PIC</a:t>
            </a:r>
            <a:r>
              <a:rPr lang="en-GB" baseline="30000" dirty="0" smtClean="0"/>
              <a:t>®</a:t>
            </a:r>
            <a:r>
              <a:rPr lang="en-GB" dirty="0" smtClean="0"/>
              <a:t> Microcontroller  to communicate with serial terminal on a PC</a:t>
            </a:r>
          </a:p>
          <a:p>
            <a:r>
              <a:rPr lang="en-GB" dirty="0" smtClean="0"/>
              <a:t>Baseline is the tutorials so far, plus a TTL/USB serial converter</a:t>
            </a:r>
          </a:p>
          <a:p>
            <a:endParaRPr lang="en-GB" dirty="0" smtClean="0"/>
          </a:p>
          <a:p>
            <a:endParaRPr lang="en-GB" dirty="0" smtClean="0"/>
          </a:p>
          <a:p>
            <a:pPr lvl="2">
              <a:buNone/>
            </a:pPr>
            <a:endParaRPr lang="en-GB" i="1" dirty="0" smtClean="0"/>
          </a:p>
          <a:p>
            <a:pPr lvl="2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2652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Serial output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GND and RX (RXD)</a:t>
            </a:r>
          </a:p>
          <a:p>
            <a:endParaRPr lang="en-GB" dirty="0" smtClean="0"/>
          </a:p>
          <a:p>
            <a:endParaRPr lang="en-GB" dirty="0" smtClean="0"/>
          </a:p>
          <a:p>
            <a:pPr lvl="2">
              <a:buNone/>
            </a:pPr>
            <a:endParaRPr lang="en-GB" i="1" dirty="0" smtClean="0"/>
          </a:p>
          <a:p>
            <a:pPr lvl="2">
              <a:buNone/>
            </a:pPr>
            <a:endParaRPr lang="en-GB" dirty="0"/>
          </a:p>
        </p:txBody>
      </p:sp>
      <p:pic>
        <p:nvPicPr>
          <p:cNvPr id="12290" name="Picture 2" descr="PL2303 USB to TTL (Serial) Converter Modu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44" y="1707654"/>
            <a:ext cx="4623470" cy="277408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4863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Peripheral Pin Select (PPS)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PPS configuration provides the method to these choices set the functionality and their placement on a wide range of I/O pins. </a:t>
            </a:r>
          </a:p>
          <a:p>
            <a:r>
              <a:rPr lang="en-GB" dirty="0" smtClean="0"/>
              <a:t>By increasing the </a:t>
            </a:r>
            <a:r>
              <a:rPr lang="en-GB" dirty="0" err="1" smtClean="0"/>
              <a:t>pinout</a:t>
            </a:r>
            <a:r>
              <a:rPr lang="en-GB" dirty="0" smtClean="0"/>
              <a:t> options available on a particular device, users can tailor the device to their entire application.</a:t>
            </a:r>
          </a:p>
          <a:p>
            <a:r>
              <a:rPr lang="en-GB" dirty="0" smtClean="0"/>
              <a:t>For Serial operations we </a:t>
            </a:r>
            <a:r>
              <a:rPr lang="en-GB" b="1" dirty="0" smtClean="0"/>
              <a:t>must</a:t>
            </a:r>
            <a:r>
              <a:rPr lang="en-GB" dirty="0" smtClean="0"/>
              <a:t> set the TX using PPS</a:t>
            </a:r>
          </a:p>
          <a:p>
            <a:pPr lvl="1"/>
            <a:r>
              <a:rPr lang="en-GB" dirty="0" smtClean="0"/>
              <a:t>PICINFO/</a:t>
            </a:r>
            <a:r>
              <a:rPr lang="en-GB" b="1" dirty="0" smtClean="0"/>
              <a:t>PPSTOOL </a:t>
            </a:r>
            <a:r>
              <a:rPr lang="en-GB" dirty="0" smtClean="0"/>
              <a:t>or direct </a:t>
            </a:r>
            <a:r>
              <a:rPr lang="en-GB" b="1" dirty="0" smtClean="0"/>
              <a:t>F4</a:t>
            </a:r>
            <a:r>
              <a:rPr lang="en-GB" dirty="0" smtClean="0"/>
              <a:t>/</a:t>
            </a:r>
            <a:r>
              <a:rPr lang="en-GB" b="1" dirty="0" smtClean="0"/>
              <a:t>PPSTOOL</a:t>
            </a:r>
            <a:endParaRPr lang="en-GB" b="1" dirty="0" smtClean="0"/>
          </a:p>
          <a:p>
            <a:pPr lvl="1"/>
            <a:r>
              <a:rPr lang="en-GB" b="1" dirty="0" smtClean="0"/>
              <a:t>MCC Standalone</a:t>
            </a:r>
            <a:endParaRPr lang="en-GB" b="1" dirty="0" smtClean="0"/>
          </a:p>
          <a:p>
            <a:pPr lvl="1"/>
            <a:endParaRPr lang="en-GB" dirty="0" smtClean="0"/>
          </a:p>
          <a:p>
            <a:pPr lvl="2">
              <a:buNone/>
            </a:pPr>
            <a:endParaRPr lang="en-GB" i="1" dirty="0" smtClean="0"/>
          </a:p>
          <a:p>
            <a:pPr lvl="2">
              <a:buNone/>
            </a:pPr>
            <a:endParaRPr lang="en-GB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3579862"/>
            <a:ext cx="3343275" cy="1190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64359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076056" y="-20538"/>
            <a:ext cx="3168352" cy="5164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379110" y="1491630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Tutorial overview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smtClean="0"/>
              <a:t>Initialise</a:t>
            </a:r>
          </a:p>
          <a:p>
            <a:r>
              <a:rPr lang="en-GB" i="1" dirty="0" smtClean="0"/>
              <a:t>Setup the serial/USART</a:t>
            </a:r>
          </a:p>
          <a:p>
            <a:pPr lvl="1"/>
            <a:r>
              <a:rPr lang="en-GB" b="1" i="1" dirty="0" smtClean="0"/>
              <a:t>PPS</a:t>
            </a:r>
          </a:p>
          <a:p>
            <a:pPr lvl="1"/>
            <a:r>
              <a:rPr lang="en-GB" b="1" i="1" dirty="0" smtClean="0"/>
              <a:t>Baud Rate</a:t>
            </a:r>
          </a:p>
          <a:p>
            <a:pPr lvl="1"/>
            <a:endParaRPr lang="en-GB" dirty="0" smtClean="0"/>
          </a:p>
          <a:p>
            <a:r>
              <a:rPr lang="en-GB" dirty="0" smtClean="0"/>
              <a:t>Do forever</a:t>
            </a:r>
          </a:p>
          <a:p>
            <a:pPr lvl="1"/>
            <a:r>
              <a:rPr lang="en-GB" dirty="0" smtClean="0"/>
              <a:t>Read ADC</a:t>
            </a:r>
          </a:p>
          <a:p>
            <a:pPr lvl="1"/>
            <a:r>
              <a:rPr lang="en-GB" b="1" i="1" dirty="0" smtClean="0"/>
              <a:t>Send values to serial</a:t>
            </a:r>
          </a:p>
          <a:p>
            <a:pPr lvl="1"/>
            <a:r>
              <a:rPr lang="en-GB" dirty="0" smtClean="0"/>
              <a:t>Determine if switch state changed</a:t>
            </a:r>
          </a:p>
          <a:p>
            <a:pPr lvl="1"/>
            <a:r>
              <a:rPr lang="en-GB" dirty="0" smtClean="0"/>
              <a:t>Set state of LEDs</a:t>
            </a:r>
          </a:p>
          <a:p>
            <a:pPr lvl="1"/>
            <a:r>
              <a:rPr lang="en-GB" dirty="0" smtClean="0"/>
              <a:t>Wait</a:t>
            </a:r>
          </a:p>
          <a:p>
            <a:r>
              <a:rPr lang="en-GB" dirty="0" smtClean="0"/>
              <a:t>Loop</a:t>
            </a:r>
          </a:p>
          <a:p>
            <a:pPr lvl="1">
              <a:buNone/>
            </a:pPr>
            <a:endParaRPr lang="en-GB" dirty="0" smtClean="0"/>
          </a:p>
          <a:p>
            <a:pPr lvl="1">
              <a:buNone/>
            </a:pPr>
            <a:endParaRPr lang="en-GB" dirty="0" smtClean="0"/>
          </a:p>
        </p:txBody>
      </p:sp>
      <p:sp>
        <p:nvSpPr>
          <p:cNvPr id="4" name="Flowchart: Alternate Process 3"/>
          <p:cNvSpPr/>
          <p:nvPr/>
        </p:nvSpPr>
        <p:spPr>
          <a:xfrm>
            <a:off x="5573202" y="5147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Initialise</a:t>
            </a:r>
            <a:endParaRPr lang="en-GB" sz="9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73202" y="62753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b="1" dirty="0" smtClean="0">
                <a:solidFill>
                  <a:schemeClr val="tx1"/>
                </a:solidFill>
              </a:rPr>
              <a:t>Serial up the serial</a:t>
            </a:r>
            <a:endParaRPr lang="en-GB" sz="900" b="1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>
            <a:endCxn id="5" idx="0"/>
          </p:cNvCxnSpPr>
          <p:nvPr/>
        </p:nvCxnSpPr>
        <p:spPr>
          <a:xfrm>
            <a:off x="6365290" y="411510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endCxn id="8" idx="0"/>
          </p:cNvCxnSpPr>
          <p:nvPr/>
        </p:nvCxnSpPr>
        <p:spPr>
          <a:xfrm>
            <a:off x="6360820" y="2451224"/>
            <a:ext cx="4471" cy="26454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lowchart: Alternate Process 21"/>
          <p:cNvSpPr/>
          <p:nvPr/>
        </p:nvSpPr>
        <p:spPr>
          <a:xfrm>
            <a:off x="5573202" y="465998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Wait </a:t>
            </a:r>
            <a:endParaRPr lang="en-GB" sz="900" dirty="0">
              <a:solidFill>
                <a:schemeClr val="tx1"/>
              </a:solidFill>
            </a:endParaRPr>
          </a:p>
        </p:txBody>
      </p:sp>
      <p:sp>
        <p:nvSpPr>
          <p:cNvPr id="33" name="Flowchart: Alternate Process 32"/>
          <p:cNvSpPr/>
          <p:nvPr/>
        </p:nvSpPr>
        <p:spPr>
          <a:xfrm>
            <a:off x="7164288" y="4011910"/>
            <a:ext cx="1008112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Set State of LEDS</a:t>
            </a:r>
            <a:endParaRPr lang="en-GB" sz="9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6360236" y="2866380"/>
            <a:ext cx="10109" cy="178829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8" idx="3"/>
            <a:endCxn id="33" idx="0"/>
          </p:cNvCxnSpPr>
          <p:nvPr/>
        </p:nvCxnSpPr>
        <p:spPr>
          <a:xfrm>
            <a:off x="7044223" y="3003798"/>
            <a:ext cx="624121" cy="1008112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hape 38"/>
          <p:cNvCxnSpPr>
            <a:stCxn id="33" idx="2"/>
            <a:endCxn id="22" idx="3"/>
          </p:cNvCxnSpPr>
          <p:nvPr/>
        </p:nvCxnSpPr>
        <p:spPr>
          <a:xfrm rot="5400000">
            <a:off x="7178835" y="4350493"/>
            <a:ext cx="468052" cy="51096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170921" y="3435846"/>
            <a:ext cx="378630" cy="2308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900" dirty="0" smtClean="0"/>
              <a:t>Left</a:t>
            </a:r>
            <a:endParaRPr lang="en-GB" sz="900" dirty="0"/>
          </a:p>
        </p:txBody>
      </p:sp>
      <p:sp>
        <p:nvSpPr>
          <p:cNvPr id="50" name="TextBox 49"/>
          <p:cNvSpPr txBox="1"/>
          <p:nvPr/>
        </p:nvSpPr>
        <p:spPr>
          <a:xfrm>
            <a:off x="7438058" y="2616572"/>
            <a:ext cx="442750" cy="2308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900" dirty="0" smtClean="0"/>
              <a:t>Right</a:t>
            </a:r>
            <a:endParaRPr lang="en-GB" sz="900" dirty="0"/>
          </a:p>
        </p:txBody>
      </p:sp>
      <p:sp>
        <p:nvSpPr>
          <p:cNvPr id="32" name="Flowchart: Alternate Process 31"/>
          <p:cNvSpPr/>
          <p:nvPr/>
        </p:nvSpPr>
        <p:spPr>
          <a:xfrm>
            <a:off x="5573202" y="121247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Do Forever</a:t>
            </a:r>
            <a:endParaRPr lang="en-GB" sz="900" dirty="0">
              <a:solidFill>
                <a:schemeClr val="tx1"/>
              </a:solidFill>
            </a:endParaRPr>
          </a:p>
        </p:txBody>
      </p:sp>
      <p:cxnSp>
        <p:nvCxnSpPr>
          <p:cNvPr id="36" name="Elbow Connector 35"/>
          <p:cNvCxnSpPr>
            <a:stCxn id="22" idx="1"/>
            <a:endCxn id="32" idx="1"/>
          </p:cNvCxnSpPr>
          <p:nvPr/>
        </p:nvCxnSpPr>
        <p:spPr>
          <a:xfrm rot="10800000">
            <a:off x="5573202" y="1392498"/>
            <a:ext cx="12700" cy="3447504"/>
          </a:xfrm>
          <a:prstGeom prst="bentConnector3">
            <a:avLst>
              <a:gd name="adj1" fmla="val 180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6372200" y="987574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owchart: Alternate Process 19"/>
          <p:cNvSpPr/>
          <p:nvPr/>
        </p:nvSpPr>
        <p:spPr>
          <a:xfrm>
            <a:off x="5868144" y="4011910"/>
            <a:ext cx="1008112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Set State of LEDs</a:t>
            </a:r>
            <a:endParaRPr lang="en-GB" sz="900" dirty="0">
              <a:solidFill>
                <a:schemeClr val="tx1"/>
              </a:solidFill>
            </a:endParaRPr>
          </a:p>
        </p:txBody>
      </p:sp>
      <p:sp>
        <p:nvSpPr>
          <p:cNvPr id="8" name="Flowchart: Decision 7"/>
          <p:cNvSpPr/>
          <p:nvPr/>
        </p:nvSpPr>
        <p:spPr>
          <a:xfrm>
            <a:off x="5686358" y="2715766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900" dirty="0" smtClean="0">
                <a:solidFill>
                  <a:schemeClr val="tx1"/>
                </a:solidFill>
              </a:rPr>
              <a:t>Switch state changed</a:t>
            </a:r>
            <a:endParaRPr lang="en-GB" sz="900" dirty="0">
              <a:solidFill>
                <a:schemeClr val="tx1"/>
              </a:solidFill>
            </a:endParaRPr>
          </a:p>
        </p:txBody>
      </p:sp>
      <p:sp>
        <p:nvSpPr>
          <p:cNvPr id="27" name="Flowchart: Alternate Process 26"/>
          <p:cNvSpPr/>
          <p:nvPr/>
        </p:nvSpPr>
        <p:spPr>
          <a:xfrm>
            <a:off x="5580112" y="221171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b="1" dirty="0" smtClean="0">
                <a:solidFill>
                  <a:schemeClr val="tx1"/>
                </a:solidFill>
              </a:rPr>
              <a:t>Send Values to Serial</a:t>
            </a:r>
            <a:endParaRPr lang="en-GB" sz="900" b="1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6372200" y="1995686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owchart: Alternate Process 20"/>
          <p:cNvSpPr/>
          <p:nvPr/>
        </p:nvSpPr>
        <p:spPr>
          <a:xfrm>
            <a:off x="5580112" y="171653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 err="1" smtClean="0">
                <a:solidFill>
                  <a:schemeClr val="tx1"/>
                </a:solidFill>
              </a:rPr>
              <a:t>ReadADC</a:t>
            </a:r>
            <a:endParaRPr lang="en-GB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1462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Lab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Examine the sample code</a:t>
            </a:r>
          </a:p>
          <a:p>
            <a:pPr lvl="1"/>
            <a:r>
              <a:rPr lang="en-GB" dirty="0" smtClean="0"/>
              <a:t>Review the results</a:t>
            </a:r>
          </a:p>
          <a:p>
            <a:pPr marL="342900" lvl="1" indent="0">
              <a:buNone/>
            </a:pPr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222828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the </a:t>
            </a:r>
            <a:r>
              <a:rPr lang="en-GB" sz="1100" b="1" dirty="0" smtClean="0"/>
              <a:t>timer0 </a:t>
            </a:r>
            <a:r>
              <a:rPr lang="en-GB" sz="1100" b="1" dirty="0"/>
              <a:t>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EEProm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Progmem,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074978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8 - Show Serial Data</a:t>
            </a:r>
            <a:endParaRPr lang="en-GB" dirty="0"/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VQFN / 2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4127004"/>
            <a:ext cx="1142256" cy="1026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629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13506</TotalTime>
  <Words>697</Words>
  <Application>Microsoft Office PowerPoint</Application>
  <PresentationFormat>On-screen Show (16:9)</PresentationFormat>
  <Paragraphs>163</Paragraphs>
  <Slides>17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GCstudioThemeLight</vt:lpstr>
      <vt:lpstr>GCBASIC</vt:lpstr>
      <vt:lpstr>GCBASIC</vt:lpstr>
      <vt:lpstr>GCBASIC</vt:lpstr>
      <vt:lpstr>PIC16F175xx</vt:lpstr>
      <vt:lpstr>Videos...</vt:lpstr>
      <vt:lpstr>GCBASIC Compiler</vt:lpstr>
      <vt:lpstr>Prerequisites </vt:lpstr>
      <vt:lpstr>Hardware</vt:lpstr>
      <vt:lpstr>Digital input</vt:lpstr>
      <vt:lpstr>Serial output </vt:lpstr>
      <vt:lpstr>Serial output </vt:lpstr>
      <vt:lpstr>Peripheral Pin Select (PPS)</vt:lpstr>
      <vt:lpstr>Tutorial overview</vt:lpstr>
      <vt:lpstr>Lab</vt:lpstr>
      <vt:lpstr>PowerPoint Presentation</vt:lpstr>
      <vt:lpstr>Videos...</vt:lpstr>
      <vt:lpstr>GCBASIC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Evan R. Venn</cp:lastModifiedBy>
  <cp:revision>746</cp:revision>
  <dcterms:created xsi:type="dcterms:W3CDTF">2019-01-08T20:03:06Z</dcterms:created>
  <dcterms:modified xsi:type="dcterms:W3CDTF">2025-11-26T11:31:12Z</dcterms:modified>
</cp:coreProperties>
</file>