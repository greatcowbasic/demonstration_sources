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94" r:id="rId2"/>
    <p:sldId id="256" r:id="rId3"/>
    <p:sldId id="295" r:id="rId4"/>
    <p:sldId id="283" r:id="rId5"/>
    <p:sldId id="296" r:id="rId6"/>
    <p:sldId id="282" r:id="rId7"/>
    <p:sldId id="291" r:id="rId8"/>
    <p:sldId id="285" r:id="rId9"/>
    <p:sldId id="300" r:id="rId10"/>
    <p:sldId id="301" r:id="rId11"/>
    <p:sldId id="298" r:id="rId12"/>
    <p:sldId id="288" r:id="rId13"/>
    <p:sldId id="297" r:id="rId14"/>
    <p:sldId id="292" r:id="rId15"/>
    <p:sldId id="299" r:id="rId16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75" d="100"/>
          <a:sy n="75" d="100"/>
        </p:scale>
        <p:origin x="-2670" y="-12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yo5poUmnoA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PIC16F175xx </a:t>
            </a:r>
            <a:r>
              <a:rPr lang="en-GB" dirty="0"/>
              <a:t>chip </a:t>
            </a:r>
            <a:r>
              <a:rPr lang="en-GB" dirty="0" smtClean="0"/>
              <a:t>Family</a:t>
            </a:r>
          </a:p>
          <a:p>
            <a:r>
              <a:rPr lang="en-GB" dirty="0" smtClean="0"/>
              <a:t>Part 1 – the basics – turn on an LED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PIC16F175xx </a:t>
            </a:r>
            <a:r>
              <a:rPr lang="en-GB" dirty="0"/>
              <a:t>chip Family</a:t>
            </a:r>
          </a:p>
          <a:p>
            <a:r>
              <a:rPr lang="en-GB" dirty="0"/>
              <a:t>Part 1 – the basics – turn on an LED </a:t>
            </a:r>
          </a:p>
          <a:p>
            <a:endParaRPr lang="en-GB" dirty="0" smtClean="0"/>
          </a:p>
          <a:p>
            <a:endParaRPr lang="en-GB" dirty="0"/>
          </a:p>
          <a:p>
            <a:r>
              <a:rPr lang="en-GB" sz="1700" dirty="0" smtClean="0"/>
              <a:t>November 2025</a:t>
            </a:r>
            <a:endParaRPr lang="en-GB" sz="1700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225" y="386789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773" y="3845082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PIC16165xx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Install the hardware and make the board work </a:t>
            </a:r>
            <a:r>
              <a:rPr lang="en-GB" sz="1100" b="1" dirty="0" smtClean="0"/>
              <a:t>– make LEDs work</a:t>
            </a:r>
            <a:endParaRPr lang="en-GB" sz="1100" b="1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39394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 and AVR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Basic setup and flash the LED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8483" indent="-478483">
              <a:buFont typeface="+mj-lt"/>
              <a:buAutoNum type="arabicPeriod"/>
            </a:pPr>
            <a:r>
              <a:rPr lang="en-GB" dirty="0" smtClean="0"/>
              <a:t>Installed the GCBASIC </a:t>
            </a:r>
            <a:r>
              <a:rPr lang="en-GB" dirty="0" smtClean="0"/>
              <a:t>software</a:t>
            </a:r>
          </a:p>
          <a:p>
            <a:pPr marL="300038" lvl="1" indent="0">
              <a:buNone/>
            </a:pPr>
            <a:r>
              <a:rPr lang="en-GB" dirty="0" smtClean="0">
                <a:hlinkClick r:id="rId3"/>
              </a:rPr>
              <a:t>https://www.youtube.com/watch?v=5yo5poUmnoA</a:t>
            </a:r>
            <a:endParaRPr lang="en-GB" dirty="0" smtClean="0"/>
          </a:p>
          <a:p>
            <a:pPr marL="478483" indent="-478483">
              <a:buFont typeface="+mj-lt"/>
              <a:buAutoNum type="arabicPeriod"/>
            </a:pPr>
            <a:r>
              <a:rPr lang="en-GB" dirty="0" smtClean="0"/>
              <a:t>Installed your programmer software</a:t>
            </a:r>
          </a:p>
          <a:p>
            <a:pPr marL="478483" indent="-478483">
              <a:buFont typeface="+mj-lt"/>
              <a:buAutoNum type="arabicPeriod"/>
            </a:pPr>
            <a:r>
              <a:rPr lang="en-GB" dirty="0" smtClean="0"/>
              <a:t>Test that you have the 16F175xx attached</a:t>
            </a:r>
          </a:p>
          <a:p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123728" y="1635646"/>
            <a:ext cx="53285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Bit#:  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IO:    --------------------------------- 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Bit#:  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IO:    ----------------LED-LED-LED-LED--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------------------PORTC-----------------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Bit#:  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-7-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IO:    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 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You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must apply correct Voltage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19100"/>
            <a:ext cx="5029200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480050" y="2562225"/>
            <a:ext cx="964158" cy="174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4067944" y="3984352"/>
            <a:ext cx="216024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5810622" y="2825750"/>
            <a:ext cx="945778" cy="996950"/>
          </a:xfrm>
          <a:custGeom>
            <a:avLst/>
            <a:gdLst>
              <a:gd name="connsiteX0" fmla="*/ 101228 w 945778"/>
              <a:gd name="connsiteY0" fmla="*/ 0 h 996950"/>
              <a:gd name="connsiteX1" fmla="*/ 75828 w 945778"/>
              <a:gd name="connsiteY1" fmla="*/ 571500 h 996950"/>
              <a:gd name="connsiteX2" fmla="*/ 945778 w 945778"/>
              <a:gd name="connsiteY2" fmla="*/ 996950 h 99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5778" h="996950">
                <a:moveTo>
                  <a:pt x="101228" y="0"/>
                </a:moveTo>
                <a:cubicBezTo>
                  <a:pt x="18149" y="202671"/>
                  <a:pt x="-64930" y="405342"/>
                  <a:pt x="75828" y="571500"/>
                </a:cubicBezTo>
                <a:cubicBezTo>
                  <a:pt x="216586" y="737658"/>
                  <a:pt x="581182" y="867304"/>
                  <a:pt x="945778" y="9969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4197350" y="3635066"/>
            <a:ext cx="2654300" cy="340034"/>
          </a:xfrm>
          <a:custGeom>
            <a:avLst/>
            <a:gdLst>
              <a:gd name="connsiteX0" fmla="*/ 2654300 w 2654300"/>
              <a:gd name="connsiteY0" fmla="*/ 193984 h 340034"/>
              <a:gd name="connsiteX1" fmla="*/ 558800 w 2654300"/>
              <a:gd name="connsiteY1" fmla="*/ 3484 h 340034"/>
              <a:gd name="connsiteX2" fmla="*/ 0 w 2654300"/>
              <a:gd name="connsiteY2" fmla="*/ 340034 h 34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4300" h="340034">
                <a:moveTo>
                  <a:pt x="2654300" y="193984"/>
                </a:moveTo>
                <a:cubicBezTo>
                  <a:pt x="1827741" y="86563"/>
                  <a:pt x="1001183" y="-20858"/>
                  <a:pt x="558800" y="3484"/>
                </a:cubicBezTo>
                <a:cubicBezTo>
                  <a:pt x="116417" y="27826"/>
                  <a:pt x="0" y="340034"/>
                  <a:pt x="0" y="34003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88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80050" y="2562225"/>
            <a:ext cx="964158" cy="174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4067944" y="3984352"/>
            <a:ext cx="216024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5810622" y="2825750"/>
            <a:ext cx="945778" cy="996950"/>
          </a:xfrm>
          <a:custGeom>
            <a:avLst/>
            <a:gdLst>
              <a:gd name="connsiteX0" fmla="*/ 101228 w 945778"/>
              <a:gd name="connsiteY0" fmla="*/ 0 h 996950"/>
              <a:gd name="connsiteX1" fmla="*/ 75828 w 945778"/>
              <a:gd name="connsiteY1" fmla="*/ 571500 h 996950"/>
              <a:gd name="connsiteX2" fmla="*/ 945778 w 945778"/>
              <a:gd name="connsiteY2" fmla="*/ 996950 h 99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5778" h="996950">
                <a:moveTo>
                  <a:pt x="101228" y="0"/>
                </a:moveTo>
                <a:cubicBezTo>
                  <a:pt x="18149" y="202671"/>
                  <a:pt x="-64930" y="405342"/>
                  <a:pt x="75828" y="571500"/>
                </a:cubicBezTo>
                <a:cubicBezTo>
                  <a:pt x="216586" y="737658"/>
                  <a:pt x="581182" y="867304"/>
                  <a:pt x="945778" y="9969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4197350" y="3635066"/>
            <a:ext cx="2654300" cy="340034"/>
          </a:xfrm>
          <a:custGeom>
            <a:avLst/>
            <a:gdLst>
              <a:gd name="connsiteX0" fmla="*/ 2654300 w 2654300"/>
              <a:gd name="connsiteY0" fmla="*/ 193984 h 340034"/>
              <a:gd name="connsiteX1" fmla="*/ 558800 w 2654300"/>
              <a:gd name="connsiteY1" fmla="*/ 3484 h 340034"/>
              <a:gd name="connsiteX2" fmla="*/ 0 w 2654300"/>
              <a:gd name="connsiteY2" fmla="*/ 340034 h 34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4300" h="340034">
                <a:moveTo>
                  <a:pt x="2654300" y="193984"/>
                </a:moveTo>
                <a:cubicBezTo>
                  <a:pt x="1827741" y="86563"/>
                  <a:pt x="1001183" y="-20858"/>
                  <a:pt x="558800" y="3484"/>
                </a:cubicBezTo>
                <a:cubicBezTo>
                  <a:pt x="116417" y="27826"/>
                  <a:pt x="0" y="340034"/>
                  <a:pt x="0" y="34003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03148"/>
            <a:ext cx="6477347" cy="4892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522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Workshop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sz="1000" dirty="0"/>
              <a:t>C:\</a:t>
            </a:r>
            <a:r>
              <a:rPr lang="en-GB" sz="1000" dirty="0" smtClean="0"/>
              <a:t>GCSTUDIO\GCBASIC\DEMOS\Vendor_Boards\Great_Cow_Basic_Demo_Board\16F175xx_Chiprange_Demonstrations</a:t>
            </a:r>
            <a:endParaRPr lang="en-GB" sz="1000" dirty="0"/>
          </a:p>
          <a:p>
            <a:endParaRPr lang="en-GB" dirty="0" smtClean="0"/>
          </a:p>
          <a:p>
            <a:r>
              <a:rPr lang="en-GB" dirty="0" smtClean="0"/>
              <a:t>Blink the LED</a:t>
            </a:r>
          </a:p>
          <a:p>
            <a:pPr lvl="1"/>
            <a:r>
              <a:rPr lang="en-GB" dirty="0" smtClean="0"/>
              <a:t>Direct addressing of register</a:t>
            </a:r>
          </a:p>
          <a:p>
            <a:r>
              <a:rPr lang="en-GB" dirty="0" smtClean="0"/>
              <a:t>Blink the LED</a:t>
            </a:r>
          </a:p>
          <a:p>
            <a:pPr lvl="1"/>
            <a:r>
              <a:rPr lang="en-GB" dirty="0" smtClean="0"/>
              <a:t>Introduce CONSTANTS</a:t>
            </a:r>
          </a:p>
          <a:p>
            <a:pPr lvl="2"/>
            <a:r>
              <a:rPr lang="en-GB" dirty="0" smtClean="0"/>
              <a:t>#DEFINE</a:t>
            </a:r>
          </a:p>
          <a:p>
            <a:pPr lvl="1"/>
            <a:r>
              <a:rPr lang="en-GB" dirty="0" smtClean="0"/>
              <a:t>GCBASIC commands</a:t>
            </a:r>
          </a:p>
          <a:p>
            <a:pPr lvl="2"/>
            <a:r>
              <a:rPr lang="en-GB" dirty="0" smtClean="0"/>
              <a:t>DIR</a:t>
            </a:r>
          </a:p>
          <a:p>
            <a:pPr lvl="2"/>
            <a:r>
              <a:rPr lang="en-GB" dirty="0" smtClean="0"/>
              <a:t>WAIT</a:t>
            </a:r>
          </a:p>
          <a:p>
            <a:pPr lvl="2"/>
            <a:endParaRPr lang="en-GB" dirty="0" smtClean="0"/>
          </a:p>
          <a:p>
            <a:pPr lvl="2"/>
            <a:endParaRPr lang="en-GB" dirty="0" smtClean="0"/>
          </a:p>
          <a:p>
            <a:pPr lvl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851363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88887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840759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GCBASIC  for the PIC16F175xx chip Family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r>
              <a:rPr lang="en-GB" sz="1700" dirty="0" smtClean="0"/>
              <a:t>November </a:t>
            </a:r>
            <a:r>
              <a:rPr lang="en-GB" sz="1700" dirty="0" smtClean="0"/>
              <a:t>2025</a:t>
            </a:r>
            <a:endParaRPr lang="en-GB" sz="1700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pic>
        <p:nvPicPr>
          <p:cNvPr id="8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276" y="3890706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867894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64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81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14146</TotalTime>
  <Words>554</Words>
  <Application>Microsoft Office PowerPoint</Application>
  <PresentationFormat>On-screen Show (16:9)</PresentationFormat>
  <Paragraphs>121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Basic setup and flash the LED</vt:lpstr>
      <vt:lpstr>Hardware</vt:lpstr>
      <vt:lpstr>PowerPoint Presentation</vt:lpstr>
      <vt:lpstr>PowerPoint Presentation</vt:lpstr>
      <vt:lpstr>Workshop</vt:lpstr>
      <vt:lpstr>PowerPoint Presentation</vt:lpstr>
      <vt:lpstr>Videos...</vt:lpstr>
      <vt:lpstr>GCBASIC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730</cp:revision>
  <dcterms:created xsi:type="dcterms:W3CDTF">2019-01-08T20:03:06Z</dcterms:created>
  <dcterms:modified xsi:type="dcterms:W3CDTF">2025-11-14T10:43:36Z</dcterms:modified>
</cp:coreProperties>
</file>