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94" r:id="rId2"/>
    <p:sldId id="256" r:id="rId3"/>
    <p:sldId id="295" r:id="rId4"/>
    <p:sldId id="342" r:id="rId5"/>
    <p:sldId id="343" r:id="rId6"/>
    <p:sldId id="282" r:id="rId7"/>
    <p:sldId id="291" r:id="rId8"/>
    <p:sldId id="345" r:id="rId9"/>
    <p:sldId id="346" r:id="rId10"/>
    <p:sldId id="337" r:id="rId11"/>
    <p:sldId id="338" r:id="rId12"/>
    <p:sldId id="339" r:id="rId13"/>
    <p:sldId id="340" r:id="rId14"/>
    <p:sldId id="341" r:id="rId15"/>
    <p:sldId id="288" r:id="rId16"/>
    <p:sldId id="344" r:id="rId17"/>
    <p:sldId id="327" r:id="rId18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56" d="100"/>
          <a:sy n="156" d="100"/>
        </p:scale>
        <p:origin x="-330" y="-2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03/12/2025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52372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10 - EEPROM Operations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10 - EEPROM Operations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12/3/2025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20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timer0:  16bit timer, 8bit </a:t>
            </a:r>
            <a:r>
              <a:rPr lang="en-GB" sz="1100" dirty="0"/>
              <a:t>timer and overflow </a:t>
            </a:r>
            <a:r>
              <a:rPr lang="en-GB" sz="1100" dirty="0" smtClean="0"/>
              <a:t> to </a:t>
            </a:r>
            <a:r>
              <a:rPr lang="en-GB" sz="1100" dirty="0"/>
              <a:t>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68086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39394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 and AVR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</a:t>
            </a:r>
            <a:r>
              <a:rPr lang="en-GB" dirty="0" smtClean="0"/>
              <a:t>16F175xx </a:t>
            </a:r>
            <a:r>
              <a:rPr lang="en-GB" dirty="0" smtClean="0"/>
              <a:t>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</a:t>
            </a:r>
            <a:r>
              <a:rPr lang="en-GB" dirty="0" smtClean="0"/>
              <a:t>16F175xx </a:t>
            </a:r>
            <a:r>
              <a:rPr lang="en-GB" dirty="0" smtClean="0"/>
              <a:t>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r>
              <a:rPr lang="en-GB" dirty="0" smtClean="0"/>
              <a:t>Switches &amp; resistors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483768" y="1275606"/>
            <a:ext cx="4320480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-----------------SW----------ADC--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----TX1-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-------LED-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-LED-LED LED--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------------------PORTE-----------------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----------------MCLR-------------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------------------------SW-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85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501030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Digital input</a:t>
            </a:r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25" name="Group 24"/>
          <p:cNvGrpSpPr/>
          <p:nvPr/>
        </p:nvGrpSpPr>
        <p:grpSpPr>
          <a:xfrm>
            <a:off x="547911" y="1563638"/>
            <a:ext cx="4384129" cy="2952328"/>
            <a:chOff x="1043608" y="1563638"/>
            <a:chExt cx="4384129" cy="2952328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563638"/>
              <a:ext cx="1476375" cy="292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912" y="1565118"/>
              <a:ext cx="1647825" cy="2950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2555776" y="1563638"/>
              <a:ext cx="1152128" cy="2894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515615" y="180441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ADC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0375" y="3435846"/>
            <a:ext cx="2120528" cy="8640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LED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9448" y="235572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SW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32240" y="3651870"/>
            <a:ext cx="432048" cy="318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660232" y="3867894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19448" y="1566672"/>
            <a:ext cx="2120528" cy="200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SW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05320" y="3757806"/>
            <a:ext cx="2202784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TX1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49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Memory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1491630"/>
            <a:ext cx="3600400" cy="274947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57175" indent="-257175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78521" lvl="1" indent="-478483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572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2001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5430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8859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2288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25717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29146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GB" dirty="0" smtClean="0"/>
              <a:t>16 </a:t>
            </a:r>
            <a:r>
              <a:rPr lang="en-GB" dirty="0"/>
              <a:t>KB of Program Flash Memory </a:t>
            </a:r>
          </a:p>
          <a:p>
            <a:r>
              <a:rPr lang="en-GB" dirty="0"/>
              <a:t>4 KB of Data SRAM Memory</a:t>
            </a:r>
          </a:p>
          <a:p>
            <a:r>
              <a:rPr lang="en-GB" b="1" dirty="0" smtClean="0"/>
              <a:t>256 Bytes </a:t>
            </a:r>
            <a:r>
              <a:rPr lang="en-GB" b="1" dirty="0"/>
              <a:t>Data EEPROM</a:t>
            </a:r>
          </a:p>
          <a:p>
            <a:endParaRPr lang="en-GB" dirty="0"/>
          </a:p>
          <a:p>
            <a:r>
              <a:rPr lang="en-GB" dirty="0"/>
              <a:t>Memory Access Partition, the Program Flash Memory </a:t>
            </a:r>
            <a:r>
              <a:rPr lang="en-GB" dirty="0" smtClean="0"/>
              <a:t>Partitioned </a:t>
            </a:r>
            <a:r>
              <a:rPr lang="en-GB" dirty="0"/>
              <a:t>into: </a:t>
            </a:r>
          </a:p>
          <a:p>
            <a:pPr lvl="1"/>
            <a:r>
              <a:rPr lang="en-GB" dirty="0" smtClean="0"/>
              <a:t>Application </a:t>
            </a:r>
            <a:r>
              <a:rPr lang="en-GB" dirty="0"/>
              <a:t>Block </a:t>
            </a:r>
          </a:p>
          <a:p>
            <a:pPr lvl="1"/>
            <a:r>
              <a:rPr lang="en-GB" dirty="0" smtClean="0"/>
              <a:t>Boot </a:t>
            </a:r>
            <a:r>
              <a:rPr lang="en-GB" dirty="0"/>
              <a:t>Block </a:t>
            </a:r>
          </a:p>
          <a:p>
            <a:pPr lvl="1"/>
            <a:r>
              <a:rPr lang="en-GB" dirty="0" smtClean="0"/>
              <a:t>Storage </a:t>
            </a:r>
            <a:r>
              <a:rPr lang="en-GB" dirty="0"/>
              <a:t>Area Flash (SAF) Block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830" y="1419622"/>
            <a:ext cx="5464546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732240" y="3291830"/>
            <a:ext cx="100811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9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2005" y="346348"/>
            <a:ext cx="8229601" cy="85725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defTabSz="342900">
              <a:spcBef>
                <a:spcPct val="0"/>
              </a:spcBef>
              <a:buNone/>
              <a:defRPr sz="27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 err="1" smtClean="0"/>
              <a:t>EEProm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467544" y="2067694"/>
            <a:ext cx="5040560" cy="202106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n-US"/>
            </a:defPPr>
            <a:lvl1pPr marL="257175" indent="-257175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78521" lvl="1" indent="-478483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572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2001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5430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8859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2288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25717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2914650" indent="-171450" defTabSz="34290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GB" dirty="0"/>
              <a:t>Electrically Erasable Programmable Read-Only Memory </a:t>
            </a:r>
          </a:p>
          <a:p>
            <a:endParaRPr lang="en-GB" dirty="0"/>
          </a:p>
          <a:p>
            <a:r>
              <a:rPr lang="en-GB" dirty="0"/>
              <a:t>Non-volatile memory to store relatively small amounts of data but allowing individual bytes to be erased and reprogrammed.</a:t>
            </a:r>
          </a:p>
        </p:txBody>
      </p:sp>
    </p:spTree>
    <p:extLst>
      <p:ext uri="{BB962C8B-B14F-4D97-AF65-F5344CB8AC3E}">
        <p14:creationId xmlns:p14="http://schemas.microsoft.com/office/powerpoint/2010/main" val="165736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err="1" smtClean="0"/>
              <a:t>EEProm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99306" y="1779662"/>
            <a:ext cx="88924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Value          Explanation</a:t>
            </a:r>
          </a:p>
          <a:p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Prog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16384         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Prog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is exposed as 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ChipWORDS</a:t>
            </a: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SAFMemWords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128            </a:t>
            </a:r>
            <a:r>
              <a:rPr lang="en-GB" sz="1400" dirty="0" err="1">
                <a:latin typeface="Courier New" pitchFamily="49" charset="0"/>
                <a:cs typeface="Courier New" pitchFamily="49" charset="0"/>
              </a:rPr>
              <a:t>SAFMemWords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exposed 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ChipSAFMemWords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		</a:t>
            </a: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EEPROM          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256            </a:t>
            </a:r>
            <a:r>
              <a:rPr lang="en-GB" sz="1400" b="1" dirty="0" smtClean="0">
                <a:latin typeface="Courier New" pitchFamily="49" charset="0"/>
                <a:cs typeface="Courier New" pitchFamily="49" charset="0"/>
              </a:rPr>
              <a:t>EEPROM is exposed as  </a:t>
            </a:r>
            <a:r>
              <a:rPr lang="en-GB" sz="1400" b="1" dirty="0" err="1" smtClean="0">
                <a:latin typeface="Courier New" pitchFamily="49" charset="0"/>
                <a:cs typeface="Courier New" pitchFamily="49" charset="0"/>
              </a:rPr>
              <a:t>ChipEEPROM</a:t>
            </a:r>
            <a:endParaRPr lang="en-GB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RAM            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2048           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RAM is exposed as    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ChipRAM</a:t>
            </a: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1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EEProm</a:t>
            </a:r>
            <a:r>
              <a:rPr lang="en-GB" dirty="0" smtClean="0"/>
              <a:t> – 3 ways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87574"/>
            <a:ext cx="465772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 b="21569"/>
          <a:stretch>
            <a:fillRect/>
          </a:stretch>
        </p:blipFill>
        <p:spPr bwMode="auto">
          <a:xfrm>
            <a:off x="1259632" y="2321074"/>
            <a:ext cx="334010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6056" y="0"/>
            <a:ext cx="42386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64230" y="1081087"/>
            <a:ext cx="2879770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898153"/>
            <a:ext cx="3820096" cy="222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867894"/>
            <a:ext cx="2598542" cy="861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624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72771" y="1563638"/>
            <a:ext cx="6447501" cy="3384376"/>
          </a:xfr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/>
          <a:p>
            <a:r>
              <a:rPr lang="en-GB" sz="1200" dirty="0"/>
              <a:t>Sample code – write and read via terminal</a:t>
            </a:r>
          </a:p>
          <a:p>
            <a:pPr marL="778521" lvl="1" indent="-478483"/>
            <a:r>
              <a:rPr lang="en-GB" sz="1100" dirty="0"/>
              <a:t>Using PPS select the serial USART port</a:t>
            </a:r>
          </a:p>
          <a:p>
            <a:pPr marL="778521" lvl="1" indent="-478483"/>
            <a:r>
              <a:rPr lang="en-GB" sz="1100" dirty="0"/>
              <a:t>Write values to </a:t>
            </a:r>
            <a:r>
              <a:rPr lang="en-GB" sz="1100" dirty="0" err="1"/>
              <a:t>EEProm</a:t>
            </a:r>
            <a:endParaRPr lang="en-GB" sz="1100" dirty="0"/>
          </a:p>
          <a:p>
            <a:pPr marL="778521" lvl="1" indent="-478483"/>
            <a:r>
              <a:rPr lang="en-GB" sz="1100" dirty="0"/>
              <a:t>Read values to </a:t>
            </a:r>
            <a:r>
              <a:rPr lang="en-GB" sz="1100" dirty="0" err="1"/>
              <a:t>EEProm</a:t>
            </a:r>
            <a:endParaRPr lang="en-GB" sz="1100" dirty="0"/>
          </a:p>
          <a:p>
            <a:pPr marL="778521" lvl="1" indent="-478483"/>
            <a:r>
              <a:rPr lang="en-GB" sz="1100" dirty="0"/>
              <a:t>See the results on </a:t>
            </a:r>
            <a:r>
              <a:rPr lang="en-GB" sz="1100" dirty="0" smtClean="0"/>
              <a:t>terminal</a:t>
            </a:r>
          </a:p>
          <a:p>
            <a:pPr marL="778521" lvl="1" indent="-478483"/>
            <a:endParaRPr lang="en-GB" sz="1100" dirty="0"/>
          </a:p>
          <a:p>
            <a:r>
              <a:rPr lang="en-GB" sz="1200" dirty="0"/>
              <a:t>Sample code – write with read via programmer</a:t>
            </a:r>
          </a:p>
          <a:p>
            <a:pPr marL="778521" lvl="1" indent="-478483"/>
            <a:r>
              <a:rPr lang="en-GB" sz="1100" dirty="0"/>
              <a:t>Write values to </a:t>
            </a:r>
            <a:r>
              <a:rPr lang="en-GB" sz="1100" dirty="0" err="1"/>
              <a:t>EEProm</a:t>
            </a:r>
            <a:endParaRPr lang="en-GB" sz="1100" dirty="0"/>
          </a:p>
          <a:p>
            <a:pPr marL="778521" lvl="1" indent="-478483"/>
            <a:r>
              <a:rPr lang="en-GB" sz="1100" dirty="0"/>
              <a:t>See the results within </a:t>
            </a:r>
            <a:r>
              <a:rPr lang="en-GB" sz="1100" dirty="0" err="1" smtClean="0"/>
              <a:t>PICKitPlus</a:t>
            </a:r>
            <a:endParaRPr lang="en-GB" sz="1100" dirty="0" smtClean="0"/>
          </a:p>
          <a:p>
            <a:pPr marL="778521" lvl="1" indent="-478483"/>
            <a:endParaRPr lang="en-GB" sz="1100" dirty="0"/>
          </a:p>
          <a:p>
            <a:pPr marL="478483" indent="-478483"/>
            <a:r>
              <a:rPr lang="en-GB" sz="1200" dirty="0" smtClean="0"/>
              <a:t>Sample code – check the chip specific constant</a:t>
            </a:r>
          </a:p>
          <a:p>
            <a:pPr marL="478483" lvl="1" indent="-478483"/>
            <a:r>
              <a:rPr lang="en-GB" sz="1100" dirty="0"/>
              <a:t>See the results on </a:t>
            </a:r>
            <a:r>
              <a:rPr lang="en-GB" sz="1100" dirty="0" smtClean="0"/>
              <a:t>terminal</a:t>
            </a:r>
            <a:endParaRPr lang="en-GB" sz="11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64481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timer0:  16bit timer, 8bit </a:t>
            </a:r>
            <a:r>
              <a:rPr lang="en-GB" sz="1100" dirty="0"/>
              <a:t>timer and overflow </a:t>
            </a:r>
            <a:r>
              <a:rPr lang="en-GB" sz="1100" dirty="0" smtClean="0"/>
              <a:t> to </a:t>
            </a:r>
            <a:r>
              <a:rPr lang="en-GB" sz="1100" dirty="0"/>
              <a:t>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42141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10 - EEPROM Operations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27004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2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14416</TotalTime>
  <Words>652</Words>
  <Application>Microsoft Office PowerPoint</Application>
  <PresentationFormat>On-screen Show (16:9)</PresentationFormat>
  <Paragraphs>153</Paragraphs>
  <Slides>17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Hardware</vt:lpstr>
      <vt:lpstr>Digital input</vt:lpstr>
      <vt:lpstr>Memory</vt:lpstr>
      <vt:lpstr>PowerPoint Presentation</vt:lpstr>
      <vt:lpstr>EEProm</vt:lpstr>
      <vt:lpstr>EEProm – 3 ways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755</cp:revision>
  <dcterms:created xsi:type="dcterms:W3CDTF">2019-01-08T20:03:06Z</dcterms:created>
  <dcterms:modified xsi:type="dcterms:W3CDTF">2025-12-03T14:14:26Z</dcterms:modified>
</cp:coreProperties>
</file>